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knapsack problem is an optimization problem: among many valid choices, find the best one. Each item has a weight and a value; the bag has a capacity W. We want maximum total value without exceeding W. Colors used in the whole deck: weight is blue, value is amber, capacity purple, selected items green.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each symbol. xi is the decision: 1 means take item i, 0 means leave it. We maximize the sum of values subject to the weight sum not exceeding W. The small example shows that grabbing the single most valuable item (60) is worse than taking two cheaper items (80).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types differ only in what you may do with an item. 0/1: whole, once. Fractional: you may take part of an item. Unbounded: you may take as many copies as you like. This decides which algorithm is appropriate.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seven steps. Greedy works for the fractional problem because we can always fill leftover space with a part of the next best item. For 0/1 the leftover space cannot be filled with a fraction, so greedy can fail: with capacity 50, greedy takes A and B for 160, but B and C give 220.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Compute each ratio, sort, then fill. After A and B the bag has 20 kg left. Only 20 of the 30 kg of C fits, so we take two thirds of it, worth 80. Total = 60 + 100 + 80 = 240. The bars show the bag filling: teal A, blue B, purple C, gray is remaining capacity.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DP is used because the problem has optimal substructure and overlapping subproblems. dp[i][w] is the best value using the first i items with capacity w. For each cell, either skip item i, or take it and add its value to the best result for the remaining capacity. Base cases are zeros: no items or no capacity gives value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Row 0 and column 0 are zeros. Row 1: item 1 (w2, v12) fits from capacity 2 onward. Row 2: item 2 (w1, v10). Row 3: item 3 (w3, v20). Row 4: item 4 (w2, v15). Final cell dp[4][5] = 37. Traceback shows items 1, 2 and 4 are chosen, total weight 5 and value 12+10+15 = 37. Note: items 2 and 4 alone give only 25; adding item 1 fills the bag exactly and reaches 37, which is the true maximum.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Unbounded knapsack: because we loop capacities upward, dp[w - wi] may already include item i, so the item can be reused. Example: items P (2,3) and Q (3,5), capacity 8: unbounded gives 13 using Q, Q and P. With each item only once, 0/1 gives only 8. Alternatives: brute force, backtracking and branch and bound are exact but exponential in the worst case; pruning helps in practice depending on the instance.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the approaches. Greedy: O(n log n) because of sorting; selection afterwards is O(n). Brute force: O(2^n). 0/1 DP: O(nW) time; 2D table uses O(nW) space, the 1D version uses O(W) if capacities are processed in descending order. Unbounded DP: O(nW), O(W) space, ascending order. Backtracking and branch and bound are exponential in the worst case. O(nW) is pseudo-polynomial.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Applications: loading cargo, budgeting, choosing projects or investments, fitting files into limited storage, and capacity planning. Advantages: a clear model with matching algorithms. Limitations: 0/1 knapsack is NP-hard, brute force and large-W dynamic programming become expensive, and greedy can be wrong for 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type of knapsack tells you the method. Fractional: greedy. 0/1 and unbounded: dynamic programming, with loop direction deciding whether items repeat. Thank the audience and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7315200" y="45720"/>
            <a:ext cx="1554480" cy="1005840"/>
          </a:xfrm>
          <a:prstGeom prst="rect">
            <a:avLst/>
          </a:prstGeom>
          <a:noFill/>
          <a:ln/>
        </p:spPr>
        <p:txBody>
          <a:bodyPr wrap="square" lIns="0" tIns="0" rIns="0" bIns="0" rtlCol="0" anchor="ctr"/>
          <a:lstStyle/>
          <a:p>
            <a:pPr algn="r" indent="0" marL="0">
              <a:buNone/>
            </a:pPr>
            <a:r>
              <a:rPr lang="en-US" sz="6600" b="1" dirty="0">
                <a:solidFill>
                  <a:srgbClr val="16233D"/>
                </a:solidFill>
                <a:latin typeface="Cambria" pitchFamily="34" charset="0"/>
                <a:ea typeface="Cambria" pitchFamily="34" charset="-122"/>
                <a:cs typeface="Cambria" pitchFamily="34" charset="-120"/>
              </a:rPr>
              <a:t>01</a:t>
            </a:r>
            <a:endParaRPr lang="en-US" sz="6600" dirty="0"/>
          </a:p>
        </p:txBody>
      </p:sp>
      <p:sp>
        <p:nvSpPr>
          <p:cNvPr id="3" name="Text 1"/>
          <p:cNvSpPr/>
          <p:nvPr/>
        </p:nvSpPr>
        <p:spPr>
          <a:xfrm>
            <a:off x="365760" y="228600"/>
            <a:ext cx="5486400" cy="228600"/>
          </a:xfrm>
          <a:prstGeom prst="rect">
            <a:avLst/>
          </a:prstGeom>
          <a:noFill/>
          <a:ln/>
        </p:spPr>
        <p:txBody>
          <a:bodyPr wrap="square" lIns="0" tIns="0" rIns="0" bIns="0" rtlCol="0" anchor="ctr"/>
          <a:lstStyle/>
          <a:p>
            <a:pPr indent="0" marL="0">
              <a:buNone/>
            </a:pPr>
            <a:r>
              <a:rPr lang="en-US" sz="1200" b="1" spc="400" kern="0" dirty="0">
                <a:solidFill>
                  <a:srgbClr val="2DD4BF"/>
                </a:solidFill>
                <a:latin typeface="Calibri" pitchFamily="34" charset="0"/>
                <a:ea typeface="Calibri" pitchFamily="34" charset="-122"/>
                <a:cs typeface="Calibri" pitchFamily="34" charset="-120"/>
              </a:rPr>
              <a:t>THE BASICS</a:t>
            </a:r>
            <a:endParaRPr lang="en-US" sz="1200" dirty="0"/>
          </a:p>
        </p:txBody>
      </p:sp>
      <p:sp>
        <p:nvSpPr>
          <p:cNvPr id="4" name="Text 2"/>
          <p:cNvSpPr/>
          <p:nvPr/>
        </p:nvSpPr>
        <p:spPr>
          <a:xfrm>
            <a:off x="365760" y="457200"/>
            <a:ext cx="7498080" cy="594360"/>
          </a:xfrm>
          <a:prstGeom prst="rect">
            <a:avLst/>
          </a:prstGeom>
          <a:noFill/>
          <a:ln/>
        </p:spPr>
        <p:txBody>
          <a:bodyPr wrap="square" lIns="0" tIns="0" rIns="0" bIns="0" rtlCol="0" anchor="ctr"/>
          <a:lstStyle/>
          <a:p>
            <a:pPr indent="0" marL="0">
              <a:buNone/>
            </a:pPr>
            <a:r>
              <a:rPr lang="en-US" sz="2800" b="1" dirty="0">
                <a:solidFill>
                  <a:srgbClr val="F1F5F9"/>
                </a:solidFill>
                <a:latin typeface="Cambria" pitchFamily="34" charset="0"/>
                <a:ea typeface="Cambria" pitchFamily="34" charset="-122"/>
                <a:cs typeface="Cambria" pitchFamily="34" charset="-120"/>
              </a:rPr>
              <a:t>Introduction to the Knapsack Problem</a:t>
            </a:r>
            <a:endParaRPr lang="en-US" sz="2800" dirty="0"/>
          </a:p>
        </p:txBody>
      </p:sp>
      <p:sp>
        <p:nvSpPr>
          <p:cNvPr id="5" name="Shape 3"/>
          <p:cNvSpPr/>
          <p:nvPr/>
        </p:nvSpPr>
        <p:spPr>
          <a:xfrm>
            <a:off x="365760" y="1188720"/>
            <a:ext cx="4297680" cy="2011680"/>
          </a:xfrm>
          <a:prstGeom prst="roundRect">
            <a:avLst>
              <a:gd name="adj" fmla="val 4545"/>
            </a:avLst>
          </a:prstGeom>
          <a:solidFill>
            <a:srgbClr val="15233B"/>
          </a:solidFill>
          <a:ln w="12700">
            <a:solidFill>
              <a:srgbClr val="24365A"/>
            </a:solidFill>
            <a:prstDash val="solid"/>
          </a:ln>
        </p:spPr>
      </p:sp>
      <p:sp>
        <p:nvSpPr>
          <p:cNvPr id="6" name="Text 4"/>
          <p:cNvSpPr/>
          <p:nvPr/>
        </p:nvSpPr>
        <p:spPr>
          <a:xfrm>
            <a:off x="548640" y="1280160"/>
            <a:ext cx="3931920" cy="1828800"/>
          </a:xfrm>
          <a:prstGeom prst="rect">
            <a:avLst/>
          </a:prstGeom>
          <a:noFill/>
          <a:ln/>
        </p:spPr>
        <p:txBody>
          <a:bodyPr wrap="square" lIns="0" tIns="0" rIns="0" bIns="0" rtlCol="0" anchor="t"/>
          <a:lstStyle/>
          <a:p>
            <a:pPr indent="0" marL="0">
              <a:spcAft>
                <a:spcPts val="600"/>
              </a:spcAft>
              <a:buNone/>
            </a:pPr>
            <a:r>
              <a:rPr lang="en-US" sz="1300" b="1" dirty="0">
                <a:solidFill>
                  <a:srgbClr val="2DD4BF"/>
                </a:solidFill>
                <a:latin typeface="Calibri" pitchFamily="34" charset="0"/>
                <a:ea typeface="Calibri" pitchFamily="34" charset="-122"/>
                <a:cs typeface="Calibri" pitchFamily="34" charset="-120"/>
              </a:rPr>
              <a:t>Optimization problem: </a:t>
            </a:r>
            <a:pPr indent="0" marL="0">
              <a:spcAft>
                <a:spcPts val="600"/>
              </a:spcAft>
              <a:buNone/>
            </a:pPr>
            <a:r>
              <a:rPr lang="en-US" sz="1300" dirty="0">
                <a:solidFill>
                  <a:srgbClr val="F1F5F9"/>
                </a:solidFill>
                <a:latin typeface="Calibri" pitchFamily="34" charset="0"/>
                <a:ea typeface="Calibri" pitchFamily="34" charset="-122"/>
                <a:cs typeface="Calibri" pitchFamily="34" charset="-120"/>
              </a:rPr>
              <a:t>find the best choice among many possible ones.</a:t>
            </a:r>
            <a:endParaRPr lang="en-US" sz="1300" dirty="0"/>
          </a:p>
          <a:p>
            <a:pPr indent="0" marL="0">
              <a:spcAft>
                <a:spcPts val="600"/>
              </a:spcAft>
              <a:buNone/>
            </a:pPr>
            <a:r>
              <a:rPr lang="en-US" sz="1300" b="1" dirty="0">
                <a:solidFill>
                  <a:srgbClr val="2DD4BF"/>
                </a:solidFill>
                <a:latin typeface="Calibri" pitchFamily="34" charset="0"/>
                <a:ea typeface="Calibri" pitchFamily="34" charset="-122"/>
                <a:cs typeface="Calibri" pitchFamily="34" charset="-120"/>
              </a:rPr>
              <a:t>Knapsack problem: </a:t>
            </a:r>
            <a:pPr indent="0" marL="0">
              <a:spcAft>
                <a:spcPts val="600"/>
              </a:spcAft>
              <a:buNone/>
            </a:pPr>
            <a:r>
              <a:rPr lang="en-US" sz="1300" dirty="0">
                <a:solidFill>
                  <a:srgbClr val="F1F5F9"/>
                </a:solidFill>
                <a:latin typeface="Calibri" pitchFamily="34" charset="0"/>
                <a:ea typeface="Calibri" pitchFamily="34" charset="-122"/>
                <a:cs typeface="Calibri" pitchFamily="34" charset="-120"/>
              </a:rPr>
              <a:t>pick items to get the largest total value without the total weight going over the bag's capacity.</a:t>
            </a:r>
            <a:endParaRPr lang="en-US" sz="1300" dirty="0"/>
          </a:p>
          <a:p>
            <a:pPr indent="0" marL="0">
              <a:spcAft>
                <a:spcPts val="600"/>
              </a:spcAft>
              <a:buNone/>
            </a:pPr>
            <a:r>
              <a:rPr lang="en-US" sz="1300" b="1" dirty="0">
                <a:solidFill>
                  <a:srgbClr val="2DD4BF"/>
                </a:solidFill>
                <a:latin typeface="Calibri" pitchFamily="34" charset="0"/>
                <a:ea typeface="Calibri" pitchFamily="34" charset="-122"/>
                <a:cs typeface="Calibri" pitchFamily="34" charset="-120"/>
              </a:rPr>
              <a:t>Why it matters: </a:t>
            </a:r>
            <a:pPr indent="0" marL="0">
              <a:spcAft>
                <a:spcPts val="600"/>
              </a:spcAft>
              <a:buNone/>
            </a:pPr>
            <a:r>
              <a:rPr lang="en-US" sz="1300" dirty="0">
                <a:solidFill>
                  <a:srgbClr val="F1F5F9"/>
                </a:solidFill>
                <a:latin typeface="Calibri" pitchFamily="34" charset="0"/>
                <a:ea typeface="Calibri" pitchFamily="34" charset="-122"/>
                <a:cs typeface="Calibri" pitchFamily="34" charset="-120"/>
              </a:rPr>
              <a:t>a classic example for greedy, dynamic programming and NP-hardness.</a:t>
            </a:r>
            <a:endParaRPr lang="en-US" sz="1300" dirty="0"/>
          </a:p>
        </p:txBody>
      </p:sp>
      <p:sp>
        <p:nvSpPr>
          <p:cNvPr id="7" name="Shape 5"/>
          <p:cNvSpPr/>
          <p:nvPr/>
        </p:nvSpPr>
        <p:spPr>
          <a:xfrm>
            <a:off x="365760" y="3291840"/>
            <a:ext cx="4297680" cy="1463040"/>
          </a:xfrm>
          <a:prstGeom prst="roundRect">
            <a:avLst>
              <a:gd name="adj" fmla="val 6250"/>
            </a:avLst>
          </a:prstGeom>
          <a:solidFill>
            <a:srgbClr val="15233B"/>
          </a:solidFill>
          <a:ln w="12700">
            <a:solidFill>
              <a:srgbClr val="24365A"/>
            </a:solidFill>
            <a:prstDash val="solid"/>
          </a:ln>
        </p:spPr>
      </p:sp>
      <p:sp>
        <p:nvSpPr>
          <p:cNvPr id="8" name="Text 6"/>
          <p:cNvSpPr/>
          <p:nvPr/>
        </p:nvSpPr>
        <p:spPr>
          <a:xfrm>
            <a:off x="548640" y="3364992"/>
            <a:ext cx="3931920" cy="1325880"/>
          </a:xfrm>
          <a:prstGeom prst="rect">
            <a:avLst/>
          </a:prstGeom>
          <a:noFill/>
          <a:ln/>
        </p:spPr>
        <p:txBody>
          <a:bodyPr wrap="square" lIns="0" tIns="0" rIns="0" bIns="0" rtlCol="0" anchor="t"/>
          <a:lstStyle/>
          <a:p>
            <a:pPr indent="0" marL="0">
              <a:spcAft>
                <a:spcPts val="200"/>
              </a:spcAft>
              <a:buNone/>
            </a:pPr>
            <a:r>
              <a:rPr lang="en-US" sz="1300" b="1" dirty="0">
                <a:solidFill>
                  <a:srgbClr val="C084FC"/>
                </a:solidFill>
                <a:latin typeface="Calibri" pitchFamily="34" charset="0"/>
                <a:ea typeface="Calibri" pitchFamily="34" charset="-122"/>
                <a:cs typeface="Calibri" pitchFamily="34" charset="-120"/>
              </a:rPr>
              <a:t>W</a:t>
            </a:r>
            <a:pPr indent="0" marL="0">
              <a:spcAft>
                <a:spcPts val="200"/>
              </a:spcAft>
              <a:buNone/>
            </a:pPr>
            <a:r>
              <a:rPr lang="en-US" sz="1300" dirty="0">
                <a:solidFill>
                  <a:srgbClr val="F1F5F9"/>
                </a:solidFill>
                <a:latin typeface="Calibri" pitchFamily="34" charset="0"/>
                <a:ea typeface="Calibri" pitchFamily="34" charset="-122"/>
                <a:cs typeface="Calibri" pitchFamily="34" charset="-120"/>
              </a:rPr>
              <a:t>  knapsack capacity (maximum weight)</a:t>
            </a:r>
            <a:endParaRPr lang="en-US" sz="1300" dirty="0"/>
          </a:p>
          <a:p>
            <a:pPr indent="0" marL="0">
              <a:spcAft>
                <a:spcPts val="200"/>
              </a:spcAft>
              <a:buNone/>
            </a:pPr>
            <a:r>
              <a:rPr lang="en-US" sz="1300" b="1" dirty="0">
                <a:solidFill>
                  <a:srgbClr val="60A5FA"/>
                </a:solidFill>
                <a:latin typeface="Calibri" pitchFamily="34" charset="0"/>
                <a:ea typeface="Calibri" pitchFamily="34" charset="-122"/>
                <a:cs typeface="Calibri" pitchFamily="34" charset="-120"/>
              </a:rPr>
              <a:t>wᵢ</a:t>
            </a:r>
            <a:pPr indent="0" marL="0">
              <a:spcAft>
                <a:spcPts val="200"/>
              </a:spcAft>
              <a:buNone/>
            </a:pPr>
            <a:r>
              <a:rPr lang="en-US" sz="1300" dirty="0">
                <a:solidFill>
                  <a:srgbClr val="F1F5F9"/>
                </a:solidFill>
                <a:latin typeface="Calibri" pitchFamily="34" charset="0"/>
                <a:ea typeface="Calibri" pitchFamily="34" charset="-122"/>
                <a:cs typeface="Calibri" pitchFamily="34" charset="-120"/>
              </a:rPr>
              <a:t>  weight of item i</a:t>
            </a:r>
            <a:endParaRPr lang="en-US" sz="1300" dirty="0"/>
          </a:p>
          <a:p>
            <a:pPr indent="0" marL="0">
              <a:spcAft>
                <a:spcPts val="200"/>
              </a:spcAft>
              <a:buNone/>
            </a:pPr>
            <a:r>
              <a:rPr lang="en-US" sz="1300" b="1" dirty="0">
                <a:solidFill>
                  <a:srgbClr val="FBBF24"/>
                </a:solidFill>
                <a:latin typeface="Calibri" pitchFamily="34" charset="0"/>
                <a:ea typeface="Calibri" pitchFamily="34" charset="-122"/>
                <a:cs typeface="Calibri" pitchFamily="34" charset="-120"/>
              </a:rPr>
              <a:t>vᵢ</a:t>
            </a:r>
            <a:pPr indent="0" marL="0">
              <a:spcAft>
                <a:spcPts val="200"/>
              </a:spcAft>
              <a:buNone/>
            </a:pPr>
            <a:r>
              <a:rPr lang="en-US" sz="1300" dirty="0">
                <a:solidFill>
                  <a:srgbClr val="F1F5F9"/>
                </a:solidFill>
                <a:latin typeface="Calibri" pitchFamily="34" charset="0"/>
                <a:ea typeface="Calibri" pitchFamily="34" charset="-122"/>
                <a:cs typeface="Calibri" pitchFamily="34" charset="-120"/>
              </a:rPr>
              <a:t>  value (profit) of item i</a:t>
            </a:r>
            <a:endParaRPr lang="en-US" sz="1300" dirty="0"/>
          </a:p>
          <a:p>
            <a:pPr indent="0" marL="0">
              <a:spcAft>
                <a:spcPts val="200"/>
              </a:spcAft>
              <a:buNone/>
            </a:pPr>
            <a:r>
              <a:rPr lang="en-US" sz="1300" b="1" dirty="0">
                <a:solidFill>
                  <a:srgbClr val="2DD4BF"/>
                </a:solidFill>
                <a:latin typeface="Calibri" pitchFamily="34" charset="0"/>
                <a:ea typeface="Calibri" pitchFamily="34" charset="-122"/>
                <a:cs typeface="Calibri" pitchFamily="34" charset="-120"/>
              </a:rPr>
              <a:t>n</a:t>
            </a:r>
            <a:pPr indent="0" marL="0">
              <a:spcAft>
                <a:spcPts val="200"/>
              </a:spcAft>
              <a:buNone/>
            </a:pPr>
            <a:r>
              <a:rPr lang="en-US" sz="1300" dirty="0">
                <a:solidFill>
                  <a:srgbClr val="F1F5F9"/>
                </a:solidFill>
                <a:latin typeface="Calibri" pitchFamily="34" charset="0"/>
                <a:ea typeface="Calibri" pitchFamily="34" charset="-122"/>
                <a:cs typeface="Calibri" pitchFamily="34" charset="-120"/>
              </a:rPr>
              <a:t>  number of available items</a:t>
            </a:r>
            <a:endParaRPr lang="en-US" sz="1300" dirty="0"/>
          </a:p>
          <a:p>
            <a:pPr indent="0" marL="0">
              <a:spcAft>
                <a:spcPts val="200"/>
              </a:spcAft>
              <a:buNone/>
            </a:pPr>
            <a:r>
              <a:rPr lang="en-US" sz="1300" b="1" dirty="0">
                <a:solidFill>
                  <a:srgbClr val="4ADE80"/>
                </a:solidFill>
                <a:latin typeface="Calibri" pitchFamily="34" charset="0"/>
                <a:ea typeface="Calibri" pitchFamily="34" charset="-122"/>
                <a:cs typeface="Calibri" pitchFamily="34" charset="-120"/>
              </a:rPr>
              <a:t>Goal: </a:t>
            </a:r>
            <a:pPr indent="0" marL="0">
              <a:spcAft>
                <a:spcPts val="200"/>
              </a:spcAft>
              <a:buNone/>
            </a:pPr>
            <a:r>
              <a:rPr lang="en-US" sz="1300" dirty="0">
                <a:solidFill>
                  <a:srgbClr val="F1F5F9"/>
                </a:solidFill>
                <a:latin typeface="Calibri" pitchFamily="34" charset="0"/>
                <a:ea typeface="Calibri" pitchFamily="34" charset="-122"/>
                <a:cs typeface="Calibri" pitchFamily="34" charset="-120"/>
              </a:rPr>
              <a:t>maximum total profit</a:t>
            </a:r>
            <a:endParaRPr lang="en-US" sz="1300" dirty="0"/>
          </a:p>
        </p:txBody>
      </p:sp>
      <p:sp>
        <p:nvSpPr>
          <p:cNvPr id="9" name="Shape 7"/>
          <p:cNvSpPr/>
          <p:nvPr/>
        </p:nvSpPr>
        <p:spPr>
          <a:xfrm>
            <a:off x="4846320" y="1188720"/>
            <a:ext cx="3931920" cy="3566160"/>
          </a:xfrm>
          <a:prstGeom prst="roundRect">
            <a:avLst>
              <a:gd name="adj" fmla="val 2564"/>
            </a:avLst>
          </a:prstGeom>
          <a:solidFill>
            <a:srgbClr val="15233B"/>
          </a:solidFill>
          <a:ln w="12700">
            <a:solidFill>
              <a:srgbClr val="24365A"/>
            </a:solidFill>
            <a:prstDash val="solid"/>
          </a:ln>
        </p:spPr>
      </p:sp>
      <p:sp>
        <p:nvSpPr>
          <p:cNvPr id="10" name="Text 8"/>
          <p:cNvSpPr/>
          <p:nvPr/>
        </p:nvSpPr>
        <p:spPr>
          <a:xfrm>
            <a:off x="5029200" y="1280160"/>
            <a:ext cx="3566160" cy="274320"/>
          </a:xfrm>
          <a:prstGeom prst="rect">
            <a:avLst/>
          </a:prstGeom>
          <a:noFill/>
          <a:ln/>
        </p:spPr>
        <p:txBody>
          <a:bodyPr wrap="square" lIns="0" tIns="0" rIns="0" bIns="0" rtlCol="0" anchor="t"/>
          <a:lstStyle/>
          <a:p>
            <a:pPr indent="0" marL="0">
              <a:buNone/>
            </a:pPr>
            <a:r>
              <a:rPr lang="en-US" sz="1400" b="1" dirty="0">
                <a:solidFill>
                  <a:srgbClr val="2DD4BF"/>
                </a:solidFill>
                <a:latin typeface="Calibri" pitchFamily="34" charset="0"/>
                <a:ea typeface="Calibri" pitchFamily="34" charset="-122"/>
                <a:cs typeface="Calibri" pitchFamily="34" charset="-120"/>
              </a:rPr>
              <a:t>Example: the bag holds at most 15 kg</a:t>
            </a:r>
            <a:endParaRPr lang="en-US" sz="1400" dirty="0"/>
          </a:p>
        </p:txBody>
      </p:sp>
      <p:sp>
        <p:nvSpPr>
          <p:cNvPr id="11" name="Shape 9"/>
          <p:cNvSpPr/>
          <p:nvPr/>
        </p:nvSpPr>
        <p:spPr>
          <a:xfrm>
            <a:off x="5074920" y="1828800"/>
            <a:ext cx="1554480" cy="2286000"/>
          </a:xfrm>
          <a:prstGeom prst="roundRect">
            <a:avLst>
              <a:gd name="adj" fmla="val 17647"/>
            </a:avLst>
          </a:prstGeom>
          <a:solidFill>
            <a:srgbClr val="22324F"/>
          </a:solidFill>
          <a:ln w="38100">
            <a:solidFill>
              <a:srgbClr val="C084FC"/>
            </a:solidFill>
            <a:prstDash val="solid"/>
          </a:ln>
        </p:spPr>
      </p:sp>
      <p:sp>
        <p:nvSpPr>
          <p:cNvPr id="12" name="Text 10"/>
          <p:cNvSpPr/>
          <p:nvPr/>
        </p:nvSpPr>
        <p:spPr>
          <a:xfrm>
            <a:off x="5074920" y="2651760"/>
            <a:ext cx="1554480" cy="640080"/>
          </a:xfrm>
          <a:prstGeom prst="rect">
            <a:avLst/>
          </a:prstGeom>
          <a:noFill/>
          <a:ln/>
        </p:spPr>
        <p:txBody>
          <a:bodyPr wrap="square" lIns="0" tIns="0" rIns="0" bIns="0" rtlCol="0" anchor="t"/>
          <a:lstStyle/>
          <a:p>
            <a:pPr algn="ctr" indent="0" marL="0">
              <a:buNone/>
            </a:pPr>
            <a:r>
              <a:rPr lang="en-US" sz="1500" b="1" dirty="0">
                <a:solidFill>
                  <a:srgbClr val="C084FC"/>
                </a:solidFill>
                <a:latin typeface="Calibri" pitchFamily="34" charset="0"/>
                <a:ea typeface="Calibri" pitchFamily="34" charset="-122"/>
                <a:cs typeface="Calibri" pitchFamily="34" charset="-120"/>
              </a:rPr>
              <a:t>BAG</a:t>
            </a:r>
            <a:endParaRPr lang="en-US" sz="1500" dirty="0"/>
          </a:p>
          <a:p>
            <a:pPr algn="ctr" indent="0" marL="0">
              <a:buNone/>
            </a:pPr>
            <a:r>
              <a:rPr lang="en-US" sz="1500" b="1" dirty="0">
                <a:solidFill>
                  <a:srgbClr val="C084FC"/>
                </a:solidFill>
                <a:latin typeface="Calibri" pitchFamily="34" charset="0"/>
                <a:ea typeface="Calibri" pitchFamily="34" charset="-122"/>
                <a:cs typeface="Calibri" pitchFamily="34" charset="-120"/>
              </a:rPr>
              <a:t>W = 15 kg</a:t>
            </a:r>
            <a:endParaRPr lang="en-US" sz="1500" dirty="0"/>
          </a:p>
        </p:txBody>
      </p:sp>
      <p:sp>
        <p:nvSpPr>
          <p:cNvPr id="13" name="Shape 11"/>
          <p:cNvSpPr/>
          <p:nvPr/>
        </p:nvSpPr>
        <p:spPr>
          <a:xfrm>
            <a:off x="6812280" y="1737360"/>
            <a:ext cx="1783080" cy="512064"/>
          </a:xfrm>
          <a:prstGeom prst="roundRect">
            <a:avLst>
              <a:gd name="adj" fmla="val 17857"/>
            </a:avLst>
          </a:prstGeom>
          <a:solidFill>
            <a:srgbClr val="22324F"/>
          </a:solidFill>
          <a:ln w="12700">
            <a:solidFill>
              <a:srgbClr val="22324F"/>
            </a:solidFill>
            <a:prstDash val="solid"/>
          </a:ln>
        </p:spPr>
      </p:sp>
      <p:sp>
        <p:nvSpPr>
          <p:cNvPr id="14" name="Text 12"/>
          <p:cNvSpPr/>
          <p:nvPr/>
        </p:nvSpPr>
        <p:spPr>
          <a:xfrm>
            <a:off x="6903720" y="1764792"/>
            <a:ext cx="1645920" cy="228600"/>
          </a:xfrm>
          <a:prstGeom prst="rect">
            <a:avLst/>
          </a:prstGeom>
          <a:noFill/>
          <a:ln/>
        </p:spPr>
        <p:txBody>
          <a:bodyPr wrap="square" lIns="0" tIns="0" rIns="0" bIns="0" rtlCol="0" anchor="t"/>
          <a:lstStyle/>
          <a:p>
            <a:pPr indent="0" marL="0">
              <a:buNone/>
            </a:pPr>
            <a:r>
              <a:rPr lang="en-US" sz="1300" b="1" dirty="0">
                <a:solidFill>
                  <a:srgbClr val="F1F5F9"/>
                </a:solidFill>
                <a:latin typeface="Calibri" pitchFamily="34" charset="0"/>
                <a:ea typeface="Calibri" pitchFamily="34" charset="-122"/>
                <a:cs typeface="Calibri" pitchFamily="34" charset="-120"/>
              </a:rPr>
              <a:t>Laptop</a:t>
            </a:r>
            <a:endParaRPr lang="en-US" sz="1300" dirty="0"/>
          </a:p>
        </p:txBody>
      </p:sp>
      <p:sp>
        <p:nvSpPr>
          <p:cNvPr id="15" name="Text 13"/>
          <p:cNvSpPr/>
          <p:nvPr/>
        </p:nvSpPr>
        <p:spPr>
          <a:xfrm>
            <a:off x="6903720" y="2002536"/>
            <a:ext cx="1645920" cy="228600"/>
          </a:xfrm>
          <a:prstGeom prst="rect">
            <a:avLst/>
          </a:prstGeom>
          <a:noFill/>
          <a:ln/>
        </p:spPr>
        <p:txBody>
          <a:bodyPr wrap="square" lIns="0" tIns="0" rIns="0" bIns="0" rtlCol="0" anchor="t"/>
          <a:lstStyle/>
          <a:p>
            <a:pPr indent="0" marL="0">
              <a:buNone/>
            </a:pPr>
            <a:r>
              <a:rPr lang="en-US" sz="1200" b="1" dirty="0">
                <a:solidFill>
                  <a:srgbClr val="60A5FA"/>
                </a:solidFill>
                <a:latin typeface="Calibri" pitchFamily="34" charset="0"/>
                <a:ea typeface="Calibri" pitchFamily="34" charset="-122"/>
                <a:cs typeface="Calibri" pitchFamily="34" charset="-120"/>
              </a:rPr>
              <a:t>5 kg</a:t>
            </a:r>
            <a:pPr indent="0" marL="0">
              <a:buNone/>
            </a:pPr>
            <a:r>
              <a:rPr lang="en-US" sz="1200" b="1" dirty="0">
                <a:solidFill>
                  <a:srgbClr val="FBBF24"/>
                </a:solidFill>
                <a:latin typeface="Calibri" pitchFamily="34" charset="0"/>
                <a:ea typeface="Calibri" pitchFamily="34" charset="-122"/>
                <a:cs typeface="Calibri" pitchFamily="34" charset="-120"/>
              </a:rPr>
              <a:t>   $50</a:t>
            </a:r>
            <a:endParaRPr lang="en-US" sz="1200" dirty="0"/>
          </a:p>
        </p:txBody>
      </p:sp>
      <p:sp>
        <p:nvSpPr>
          <p:cNvPr id="16" name="Shape 14"/>
          <p:cNvSpPr/>
          <p:nvPr/>
        </p:nvSpPr>
        <p:spPr>
          <a:xfrm>
            <a:off x="6812280" y="2340864"/>
            <a:ext cx="1783080" cy="512064"/>
          </a:xfrm>
          <a:prstGeom prst="roundRect">
            <a:avLst>
              <a:gd name="adj" fmla="val 17857"/>
            </a:avLst>
          </a:prstGeom>
          <a:solidFill>
            <a:srgbClr val="22324F"/>
          </a:solidFill>
          <a:ln w="12700">
            <a:solidFill>
              <a:srgbClr val="22324F"/>
            </a:solidFill>
            <a:prstDash val="solid"/>
          </a:ln>
        </p:spPr>
      </p:sp>
      <p:sp>
        <p:nvSpPr>
          <p:cNvPr id="17" name="Text 15"/>
          <p:cNvSpPr/>
          <p:nvPr/>
        </p:nvSpPr>
        <p:spPr>
          <a:xfrm>
            <a:off x="6903720" y="2368296"/>
            <a:ext cx="1645920" cy="228600"/>
          </a:xfrm>
          <a:prstGeom prst="rect">
            <a:avLst/>
          </a:prstGeom>
          <a:noFill/>
          <a:ln/>
        </p:spPr>
        <p:txBody>
          <a:bodyPr wrap="square" lIns="0" tIns="0" rIns="0" bIns="0" rtlCol="0" anchor="t"/>
          <a:lstStyle/>
          <a:p>
            <a:pPr indent="0" marL="0">
              <a:buNone/>
            </a:pPr>
            <a:r>
              <a:rPr lang="en-US" sz="1300" b="1" dirty="0">
                <a:solidFill>
                  <a:srgbClr val="F1F5F9"/>
                </a:solidFill>
                <a:latin typeface="Calibri" pitchFamily="34" charset="0"/>
                <a:ea typeface="Calibri" pitchFamily="34" charset="-122"/>
                <a:cs typeface="Calibri" pitchFamily="34" charset="-120"/>
              </a:rPr>
              <a:t>Camera</a:t>
            </a:r>
            <a:endParaRPr lang="en-US" sz="1300" dirty="0"/>
          </a:p>
        </p:txBody>
      </p:sp>
      <p:sp>
        <p:nvSpPr>
          <p:cNvPr id="18" name="Text 16"/>
          <p:cNvSpPr/>
          <p:nvPr/>
        </p:nvSpPr>
        <p:spPr>
          <a:xfrm>
            <a:off x="6903720" y="2606040"/>
            <a:ext cx="1645920" cy="228600"/>
          </a:xfrm>
          <a:prstGeom prst="rect">
            <a:avLst/>
          </a:prstGeom>
          <a:noFill/>
          <a:ln/>
        </p:spPr>
        <p:txBody>
          <a:bodyPr wrap="square" lIns="0" tIns="0" rIns="0" bIns="0" rtlCol="0" anchor="t"/>
          <a:lstStyle/>
          <a:p>
            <a:pPr indent="0" marL="0">
              <a:buNone/>
            </a:pPr>
            <a:r>
              <a:rPr lang="en-US" sz="1200" b="1" dirty="0">
                <a:solidFill>
                  <a:srgbClr val="60A5FA"/>
                </a:solidFill>
                <a:latin typeface="Calibri" pitchFamily="34" charset="0"/>
                <a:ea typeface="Calibri" pitchFamily="34" charset="-122"/>
                <a:cs typeface="Calibri" pitchFamily="34" charset="-120"/>
              </a:rPr>
              <a:t>2 kg</a:t>
            </a:r>
            <a:pPr indent="0" marL="0">
              <a:buNone/>
            </a:pPr>
            <a:r>
              <a:rPr lang="en-US" sz="1200" b="1" dirty="0">
                <a:solidFill>
                  <a:srgbClr val="FBBF24"/>
                </a:solidFill>
                <a:latin typeface="Calibri" pitchFamily="34" charset="0"/>
                <a:ea typeface="Calibri" pitchFamily="34" charset="-122"/>
                <a:cs typeface="Calibri" pitchFamily="34" charset="-120"/>
              </a:rPr>
              <a:t>   $30</a:t>
            </a:r>
            <a:endParaRPr lang="en-US" sz="1200" dirty="0"/>
          </a:p>
        </p:txBody>
      </p:sp>
      <p:sp>
        <p:nvSpPr>
          <p:cNvPr id="19" name="Shape 17"/>
          <p:cNvSpPr/>
          <p:nvPr/>
        </p:nvSpPr>
        <p:spPr>
          <a:xfrm>
            <a:off x="6812280" y="2944368"/>
            <a:ext cx="1783080" cy="512064"/>
          </a:xfrm>
          <a:prstGeom prst="roundRect">
            <a:avLst>
              <a:gd name="adj" fmla="val 17857"/>
            </a:avLst>
          </a:prstGeom>
          <a:solidFill>
            <a:srgbClr val="22324F"/>
          </a:solidFill>
          <a:ln w="12700">
            <a:solidFill>
              <a:srgbClr val="22324F"/>
            </a:solidFill>
            <a:prstDash val="solid"/>
          </a:ln>
        </p:spPr>
      </p:sp>
      <p:sp>
        <p:nvSpPr>
          <p:cNvPr id="20" name="Text 18"/>
          <p:cNvSpPr/>
          <p:nvPr/>
        </p:nvSpPr>
        <p:spPr>
          <a:xfrm>
            <a:off x="6903720" y="2971800"/>
            <a:ext cx="1645920" cy="228600"/>
          </a:xfrm>
          <a:prstGeom prst="rect">
            <a:avLst/>
          </a:prstGeom>
          <a:noFill/>
          <a:ln/>
        </p:spPr>
        <p:txBody>
          <a:bodyPr wrap="square" lIns="0" tIns="0" rIns="0" bIns="0" rtlCol="0" anchor="t"/>
          <a:lstStyle/>
          <a:p>
            <a:pPr indent="0" marL="0">
              <a:buNone/>
            </a:pPr>
            <a:r>
              <a:rPr lang="en-US" sz="1300" b="1" dirty="0">
                <a:solidFill>
                  <a:srgbClr val="F1F5F9"/>
                </a:solidFill>
                <a:latin typeface="Calibri" pitchFamily="34" charset="0"/>
                <a:ea typeface="Calibri" pitchFamily="34" charset="-122"/>
                <a:cs typeface="Calibri" pitchFamily="34" charset="-120"/>
              </a:rPr>
              <a:t>Water</a:t>
            </a:r>
            <a:endParaRPr lang="en-US" sz="1300" dirty="0"/>
          </a:p>
        </p:txBody>
      </p:sp>
      <p:sp>
        <p:nvSpPr>
          <p:cNvPr id="21" name="Text 19"/>
          <p:cNvSpPr/>
          <p:nvPr/>
        </p:nvSpPr>
        <p:spPr>
          <a:xfrm>
            <a:off x="6903720" y="3209544"/>
            <a:ext cx="1645920" cy="228600"/>
          </a:xfrm>
          <a:prstGeom prst="rect">
            <a:avLst/>
          </a:prstGeom>
          <a:noFill/>
          <a:ln/>
        </p:spPr>
        <p:txBody>
          <a:bodyPr wrap="square" lIns="0" tIns="0" rIns="0" bIns="0" rtlCol="0" anchor="t"/>
          <a:lstStyle/>
          <a:p>
            <a:pPr indent="0" marL="0">
              <a:buNone/>
            </a:pPr>
            <a:r>
              <a:rPr lang="en-US" sz="1200" b="1" dirty="0">
                <a:solidFill>
                  <a:srgbClr val="60A5FA"/>
                </a:solidFill>
                <a:latin typeface="Calibri" pitchFamily="34" charset="0"/>
                <a:ea typeface="Calibri" pitchFamily="34" charset="-122"/>
                <a:cs typeface="Calibri" pitchFamily="34" charset="-120"/>
              </a:rPr>
              <a:t>4 kg</a:t>
            </a:r>
            <a:pPr indent="0" marL="0">
              <a:buNone/>
            </a:pPr>
            <a:r>
              <a:rPr lang="en-US" sz="1200" b="1" dirty="0">
                <a:solidFill>
                  <a:srgbClr val="FBBF24"/>
                </a:solidFill>
                <a:latin typeface="Calibri" pitchFamily="34" charset="0"/>
                <a:ea typeface="Calibri" pitchFamily="34" charset="-122"/>
                <a:cs typeface="Calibri" pitchFamily="34" charset="-120"/>
              </a:rPr>
              <a:t>   $20</a:t>
            </a:r>
            <a:endParaRPr lang="en-US" sz="1200" dirty="0"/>
          </a:p>
        </p:txBody>
      </p:sp>
      <p:sp>
        <p:nvSpPr>
          <p:cNvPr id="22" name="Shape 20"/>
          <p:cNvSpPr/>
          <p:nvPr/>
        </p:nvSpPr>
        <p:spPr>
          <a:xfrm>
            <a:off x="6812280" y="3547872"/>
            <a:ext cx="1783080" cy="512064"/>
          </a:xfrm>
          <a:prstGeom prst="roundRect">
            <a:avLst>
              <a:gd name="adj" fmla="val 17857"/>
            </a:avLst>
          </a:prstGeom>
          <a:solidFill>
            <a:srgbClr val="22324F"/>
          </a:solidFill>
          <a:ln w="12700">
            <a:solidFill>
              <a:srgbClr val="22324F"/>
            </a:solidFill>
            <a:prstDash val="solid"/>
          </a:ln>
        </p:spPr>
      </p:sp>
      <p:sp>
        <p:nvSpPr>
          <p:cNvPr id="23" name="Text 21"/>
          <p:cNvSpPr/>
          <p:nvPr/>
        </p:nvSpPr>
        <p:spPr>
          <a:xfrm>
            <a:off x="6903720" y="3575304"/>
            <a:ext cx="1645920" cy="228600"/>
          </a:xfrm>
          <a:prstGeom prst="rect">
            <a:avLst/>
          </a:prstGeom>
          <a:noFill/>
          <a:ln/>
        </p:spPr>
        <p:txBody>
          <a:bodyPr wrap="square" lIns="0" tIns="0" rIns="0" bIns="0" rtlCol="0" anchor="t"/>
          <a:lstStyle/>
          <a:p>
            <a:pPr indent="0" marL="0">
              <a:buNone/>
            </a:pPr>
            <a:r>
              <a:rPr lang="en-US" sz="1300" b="1" dirty="0">
                <a:solidFill>
                  <a:srgbClr val="F1F5F9"/>
                </a:solidFill>
                <a:latin typeface="Calibri" pitchFamily="34" charset="0"/>
                <a:ea typeface="Calibri" pitchFamily="34" charset="-122"/>
                <a:cs typeface="Calibri" pitchFamily="34" charset="-120"/>
              </a:rPr>
              <a:t>Books</a:t>
            </a:r>
            <a:endParaRPr lang="en-US" sz="1300" dirty="0"/>
          </a:p>
        </p:txBody>
      </p:sp>
      <p:sp>
        <p:nvSpPr>
          <p:cNvPr id="24" name="Text 22"/>
          <p:cNvSpPr/>
          <p:nvPr/>
        </p:nvSpPr>
        <p:spPr>
          <a:xfrm>
            <a:off x="6903720" y="3813048"/>
            <a:ext cx="1645920" cy="228600"/>
          </a:xfrm>
          <a:prstGeom prst="rect">
            <a:avLst/>
          </a:prstGeom>
          <a:noFill/>
          <a:ln/>
        </p:spPr>
        <p:txBody>
          <a:bodyPr wrap="square" lIns="0" tIns="0" rIns="0" bIns="0" rtlCol="0" anchor="t"/>
          <a:lstStyle/>
          <a:p>
            <a:pPr indent="0" marL="0">
              <a:buNone/>
            </a:pPr>
            <a:r>
              <a:rPr lang="en-US" sz="1200" b="1" dirty="0">
                <a:solidFill>
                  <a:srgbClr val="60A5FA"/>
                </a:solidFill>
                <a:latin typeface="Calibri" pitchFamily="34" charset="0"/>
                <a:ea typeface="Calibri" pitchFamily="34" charset="-122"/>
                <a:cs typeface="Calibri" pitchFamily="34" charset="-120"/>
              </a:rPr>
              <a:t>6 kg</a:t>
            </a:r>
            <a:pPr indent="0" marL="0">
              <a:buNone/>
            </a:pPr>
            <a:r>
              <a:rPr lang="en-US" sz="1200" b="1" dirty="0">
                <a:solidFill>
                  <a:srgbClr val="FBBF24"/>
                </a:solidFill>
                <a:latin typeface="Calibri" pitchFamily="34" charset="0"/>
                <a:ea typeface="Calibri" pitchFamily="34" charset="-122"/>
                <a:cs typeface="Calibri" pitchFamily="34" charset="-120"/>
              </a:rPr>
              <a:t>   $25</a:t>
            </a:r>
            <a:endParaRPr lang="en-US" sz="1200" dirty="0"/>
          </a:p>
        </p:txBody>
      </p:sp>
      <p:sp>
        <p:nvSpPr>
          <p:cNvPr id="25" name="Text 23"/>
          <p:cNvSpPr/>
          <p:nvPr/>
        </p:nvSpPr>
        <p:spPr>
          <a:xfrm>
            <a:off x="5029200" y="4206240"/>
            <a:ext cx="3566160" cy="457200"/>
          </a:xfrm>
          <a:prstGeom prst="rect">
            <a:avLst/>
          </a:prstGeom>
          <a:noFill/>
          <a:ln/>
        </p:spPr>
        <p:txBody>
          <a:bodyPr wrap="square" lIns="0" tIns="0" rIns="0" bIns="0" rtlCol="0" anchor="t"/>
          <a:lstStyle/>
          <a:p>
            <a:pPr indent="0" marL="0">
              <a:buNone/>
            </a:pPr>
            <a:r>
              <a:rPr lang="en-US" sz="1200" dirty="0">
                <a:solidFill>
                  <a:srgbClr val="94A3B8"/>
                </a:solidFill>
                <a:latin typeface="Calibri" pitchFamily="34" charset="0"/>
                <a:ea typeface="Calibri" pitchFamily="34" charset="-122"/>
                <a:cs typeface="Calibri" pitchFamily="34" charset="-120"/>
              </a:rPr>
              <a:t>Choose items so the total $ is largest and the total kg is at most 15.</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7315200" y="45720"/>
            <a:ext cx="1554480" cy="1005840"/>
          </a:xfrm>
          <a:prstGeom prst="rect">
            <a:avLst/>
          </a:prstGeom>
          <a:noFill/>
          <a:ln/>
        </p:spPr>
        <p:txBody>
          <a:bodyPr wrap="square" lIns="0" tIns="0" rIns="0" bIns="0" rtlCol="0" anchor="ctr"/>
          <a:lstStyle/>
          <a:p>
            <a:pPr algn="r" indent="0" marL="0">
              <a:buNone/>
            </a:pPr>
            <a:r>
              <a:rPr lang="en-US" sz="6600" b="1" dirty="0">
                <a:solidFill>
                  <a:srgbClr val="16233D"/>
                </a:solidFill>
                <a:latin typeface="Cambria" pitchFamily="34" charset="0"/>
                <a:ea typeface="Cambria" pitchFamily="34" charset="-122"/>
                <a:cs typeface="Cambria" pitchFamily="34" charset="-120"/>
              </a:rPr>
              <a:t>02</a:t>
            </a:r>
            <a:endParaRPr lang="en-US" sz="6600" dirty="0"/>
          </a:p>
        </p:txBody>
      </p:sp>
      <p:sp>
        <p:nvSpPr>
          <p:cNvPr id="3" name="Text 1"/>
          <p:cNvSpPr/>
          <p:nvPr/>
        </p:nvSpPr>
        <p:spPr>
          <a:xfrm>
            <a:off x="365760" y="228600"/>
            <a:ext cx="5486400" cy="228600"/>
          </a:xfrm>
          <a:prstGeom prst="rect">
            <a:avLst/>
          </a:prstGeom>
          <a:noFill/>
          <a:ln/>
        </p:spPr>
        <p:txBody>
          <a:bodyPr wrap="square" lIns="0" tIns="0" rIns="0" bIns="0" rtlCol="0" anchor="ctr"/>
          <a:lstStyle/>
          <a:p>
            <a:pPr indent="0" marL="0">
              <a:buNone/>
            </a:pPr>
            <a:r>
              <a:rPr lang="en-US" sz="1200" b="1" spc="400" kern="0" dirty="0">
                <a:solidFill>
                  <a:srgbClr val="2DD4BF"/>
                </a:solidFill>
                <a:latin typeface="Calibri" pitchFamily="34" charset="0"/>
                <a:ea typeface="Calibri" pitchFamily="34" charset="-122"/>
                <a:cs typeface="Calibri" pitchFamily="34" charset="-120"/>
              </a:rPr>
              <a:t>THE MATH</a:t>
            </a:r>
            <a:endParaRPr lang="en-US" sz="1200" dirty="0"/>
          </a:p>
        </p:txBody>
      </p:sp>
      <p:sp>
        <p:nvSpPr>
          <p:cNvPr id="4" name="Text 2"/>
          <p:cNvSpPr/>
          <p:nvPr/>
        </p:nvSpPr>
        <p:spPr>
          <a:xfrm>
            <a:off x="365760" y="457200"/>
            <a:ext cx="7498080" cy="594360"/>
          </a:xfrm>
          <a:prstGeom prst="rect">
            <a:avLst/>
          </a:prstGeom>
          <a:noFill/>
          <a:ln/>
        </p:spPr>
        <p:txBody>
          <a:bodyPr wrap="square" lIns="0" tIns="0" rIns="0" bIns="0" rtlCol="0" anchor="ctr"/>
          <a:lstStyle/>
          <a:p>
            <a:pPr indent="0" marL="0">
              <a:buNone/>
            </a:pPr>
            <a:r>
              <a:rPr lang="en-US" sz="2800" b="1" dirty="0">
                <a:solidFill>
                  <a:srgbClr val="F1F5F9"/>
                </a:solidFill>
                <a:latin typeface="Cambria" pitchFamily="34" charset="0"/>
                <a:ea typeface="Cambria" pitchFamily="34" charset="-122"/>
                <a:cs typeface="Cambria" pitchFamily="34" charset="-120"/>
              </a:rPr>
              <a:t>Mathematical Formulation</a:t>
            </a:r>
            <a:endParaRPr lang="en-US" sz="2800" dirty="0"/>
          </a:p>
        </p:txBody>
      </p:sp>
      <p:sp>
        <p:nvSpPr>
          <p:cNvPr id="5" name="Shape 3"/>
          <p:cNvSpPr/>
          <p:nvPr/>
        </p:nvSpPr>
        <p:spPr>
          <a:xfrm>
            <a:off x="365760" y="1188720"/>
            <a:ext cx="4023360" cy="3566160"/>
          </a:xfrm>
          <a:prstGeom prst="roundRect">
            <a:avLst>
              <a:gd name="adj" fmla="val 2564"/>
            </a:avLst>
          </a:prstGeom>
          <a:solidFill>
            <a:srgbClr val="15233B"/>
          </a:solidFill>
          <a:ln w="12700">
            <a:solidFill>
              <a:srgbClr val="24365A"/>
            </a:solidFill>
            <a:prstDash val="solid"/>
          </a:ln>
        </p:spPr>
      </p:sp>
      <p:sp>
        <p:nvSpPr>
          <p:cNvPr id="6" name="Text 4"/>
          <p:cNvSpPr/>
          <p:nvPr/>
        </p:nvSpPr>
        <p:spPr>
          <a:xfrm>
            <a:off x="548640" y="1325880"/>
            <a:ext cx="3657600" cy="1737360"/>
          </a:xfrm>
          <a:prstGeom prst="rect">
            <a:avLst/>
          </a:prstGeom>
          <a:noFill/>
          <a:ln/>
        </p:spPr>
        <p:txBody>
          <a:bodyPr wrap="square" lIns="0" tIns="0" rIns="0" bIns="0" rtlCol="0" anchor="t"/>
          <a:lstStyle/>
          <a:p>
            <a:pPr indent="0" marL="0">
              <a:spcAft>
                <a:spcPts val="500"/>
              </a:spcAft>
              <a:buNone/>
            </a:pPr>
            <a:r>
              <a:rPr lang="en-US" sz="1500" b="1" dirty="0">
                <a:solidFill>
                  <a:srgbClr val="2DD4BF"/>
                </a:solidFill>
                <a:latin typeface="Calibri" pitchFamily="34" charset="0"/>
                <a:ea typeface="Calibri" pitchFamily="34" charset="-122"/>
                <a:cs typeface="Calibri" pitchFamily="34" charset="-120"/>
              </a:rPr>
              <a:t>n</a:t>
            </a:r>
            <a:pPr indent="0" marL="0">
              <a:spcAft>
                <a:spcPts val="500"/>
              </a:spcAft>
              <a:buNone/>
            </a:pPr>
            <a:r>
              <a:rPr lang="en-US" sz="1500" dirty="0">
                <a:solidFill>
                  <a:srgbClr val="F1F5F9"/>
                </a:solidFill>
                <a:latin typeface="Calibri" pitchFamily="34" charset="0"/>
                <a:ea typeface="Calibri" pitchFamily="34" charset="-122"/>
                <a:cs typeface="Calibri" pitchFamily="34" charset="-120"/>
              </a:rPr>
              <a:t>  =  number of items</a:t>
            </a:r>
            <a:endParaRPr lang="en-US" sz="1500" dirty="0"/>
          </a:p>
          <a:p>
            <a:pPr indent="0" marL="0">
              <a:spcAft>
                <a:spcPts val="500"/>
              </a:spcAft>
              <a:buNone/>
            </a:pPr>
            <a:r>
              <a:rPr lang="en-US" sz="1500" b="1" dirty="0">
                <a:solidFill>
                  <a:srgbClr val="C084FC"/>
                </a:solidFill>
                <a:latin typeface="Calibri" pitchFamily="34" charset="0"/>
                <a:ea typeface="Calibri" pitchFamily="34" charset="-122"/>
                <a:cs typeface="Calibri" pitchFamily="34" charset="-120"/>
              </a:rPr>
              <a:t>W</a:t>
            </a:r>
            <a:pPr indent="0" marL="0">
              <a:spcAft>
                <a:spcPts val="500"/>
              </a:spcAft>
              <a:buNone/>
            </a:pPr>
            <a:r>
              <a:rPr lang="en-US" sz="1500" dirty="0">
                <a:solidFill>
                  <a:srgbClr val="F1F5F9"/>
                </a:solidFill>
                <a:latin typeface="Calibri" pitchFamily="34" charset="0"/>
                <a:ea typeface="Calibri" pitchFamily="34" charset="-122"/>
                <a:cs typeface="Calibri" pitchFamily="34" charset="-120"/>
              </a:rPr>
              <a:t>  =  knapsack capacity</a:t>
            </a:r>
            <a:endParaRPr lang="en-US" sz="1500" dirty="0"/>
          </a:p>
          <a:p>
            <a:pPr indent="0" marL="0">
              <a:spcAft>
                <a:spcPts val="500"/>
              </a:spcAft>
              <a:buNone/>
            </a:pPr>
            <a:r>
              <a:rPr lang="en-US" sz="1500" b="1" dirty="0">
                <a:solidFill>
                  <a:srgbClr val="60A5FA"/>
                </a:solidFill>
                <a:latin typeface="Calibri" pitchFamily="34" charset="0"/>
                <a:ea typeface="Calibri" pitchFamily="34" charset="-122"/>
                <a:cs typeface="Calibri" pitchFamily="34" charset="-120"/>
              </a:rPr>
              <a:t>wᵢ</a:t>
            </a:r>
            <a:pPr indent="0" marL="0">
              <a:spcAft>
                <a:spcPts val="500"/>
              </a:spcAft>
              <a:buNone/>
            </a:pPr>
            <a:r>
              <a:rPr lang="en-US" sz="1500" dirty="0">
                <a:solidFill>
                  <a:srgbClr val="F1F5F9"/>
                </a:solidFill>
                <a:latin typeface="Calibri" pitchFamily="34" charset="0"/>
                <a:ea typeface="Calibri" pitchFamily="34" charset="-122"/>
                <a:cs typeface="Calibri" pitchFamily="34" charset="-120"/>
              </a:rPr>
              <a:t>  =  weight of item i</a:t>
            </a:r>
            <a:endParaRPr lang="en-US" sz="1500" dirty="0"/>
          </a:p>
          <a:p>
            <a:pPr indent="0" marL="0">
              <a:spcAft>
                <a:spcPts val="500"/>
              </a:spcAft>
              <a:buNone/>
            </a:pPr>
            <a:r>
              <a:rPr lang="en-US" sz="1500" b="1" dirty="0">
                <a:solidFill>
                  <a:srgbClr val="FBBF24"/>
                </a:solidFill>
                <a:latin typeface="Calibri" pitchFamily="34" charset="0"/>
                <a:ea typeface="Calibri" pitchFamily="34" charset="-122"/>
                <a:cs typeface="Calibri" pitchFamily="34" charset="-120"/>
              </a:rPr>
              <a:t>vᵢ</a:t>
            </a:r>
            <a:pPr indent="0" marL="0">
              <a:spcAft>
                <a:spcPts val="500"/>
              </a:spcAft>
              <a:buNone/>
            </a:pPr>
            <a:r>
              <a:rPr lang="en-US" sz="1500" dirty="0">
                <a:solidFill>
                  <a:srgbClr val="F1F5F9"/>
                </a:solidFill>
                <a:latin typeface="Calibri" pitchFamily="34" charset="0"/>
                <a:ea typeface="Calibri" pitchFamily="34" charset="-122"/>
                <a:cs typeface="Calibri" pitchFamily="34" charset="-120"/>
              </a:rPr>
              <a:t>  =  value (profit) of item i</a:t>
            </a:r>
            <a:endParaRPr lang="en-US" sz="1500" dirty="0"/>
          </a:p>
          <a:p>
            <a:pPr indent="0" marL="0">
              <a:spcAft>
                <a:spcPts val="500"/>
              </a:spcAft>
              <a:buNone/>
            </a:pPr>
            <a:r>
              <a:rPr lang="en-US" sz="1500" b="1" dirty="0">
                <a:solidFill>
                  <a:srgbClr val="4ADE80"/>
                </a:solidFill>
                <a:latin typeface="Calibri" pitchFamily="34" charset="0"/>
                <a:ea typeface="Calibri" pitchFamily="34" charset="-122"/>
                <a:cs typeface="Calibri" pitchFamily="34" charset="-120"/>
              </a:rPr>
              <a:t>xᵢ</a:t>
            </a:r>
            <a:pPr indent="0" marL="0">
              <a:spcAft>
                <a:spcPts val="500"/>
              </a:spcAft>
              <a:buNone/>
            </a:pPr>
            <a:r>
              <a:rPr lang="en-US" sz="1500" dirty="0">
                <a:solidFill>
                  <a:srgbClr val="F1F5F9"/>
                </a:solidFill>
                <a:latin typeface="Calibri" pitchFamily="34" charset="0"/>
                <a:ea typeface="Calibri" pitchFamily="34" charset="-122"/>
                <a:cs typeface="Calibri" pitchFamily="34" charset="-120"/>
              </a:rPr>
              <a:t>  =  decision variable</a:t>
            </a:r>
            <a:endParaRPr lang="en-US" sz="1500" dirty="0"/>
          </a:p>
        </p:txBody>
      </p:sp>
      <p:sp>
        <p:nvSpPr>
          <p:cNvPr id="7" name="Text 5"/>
          <p:cNvSpPr/>
          <p:nvPr/>
        </p:nvSpPr>
        <p:spPr>
          <a:xfrm>
            <a:off x="548640" y="3200400"/>
            <a:ext cx="3657600" cy="731520"/>
          </a:xfrm>
          <a:prstGeom prst="rect">
            <a:avLst/>
          </a:prstGeom>
          <a:noFill/>
          <a:ln/>
        </p:spPr>
        <p:txBody>
          <a:bodyPr wrap="square" lIns="0" tIns="0" rIns="0" bIns="0" rtlCol="0" anchor="t"/>
          <a:lstStyle/>
          <a:p>
            <a:pPr indent="0" marL="0">
              <a:spcAft>
                <a:spcPts val="400"/>
              </a:spcAft>
              <a:buNone/>
            </a:pPr>
            <a:r>
              <a:rPr lang="en-US" sz="1500" b="1" dirty="0">
                <a:solidFill>
                  <a:srgbClr val="4ADE80"/>
                </a:solidFill>
                <a:latin typeface="Calibri" pitchFamily="34" charset="0"/>
                <a:ea typeface="Calibri" pitchFamily="34" charset="-122"/>
                <a:cs typeface="Calibri" pitchFamily="34" charset="-120"/>
              </a:rPr>
              <a:t>xᵢ = 1</a:t>
            </a:r>
            <a:pPr indent="0" marL="0">
              <a:spcAft>
                <a:spcPts val="400"/>
              </a:spcAft>
              <a:buNone/>
            </a:pPr>
            <a:r>
              <a:rPr lang="en-US" sz="1500" dirty="0">
                <a:solidFill>
                  <a:srgbClr val="F1F5F9"/>
                </a:solidFill>
                <a:latin typeface="Calibri" pitchFamily="34" charset="0"/>
                <a:ea typeface="Calibri" pitchFamily="34" charset="-122"/>
                <a:cs typeface="Calibri" pitchFamily="34" charset="-120"/>
              </a:rPr>
              <a:t> → item i is selected</a:t>
            </a:r>
            <a:endParaRPr lang="en-US" sz="1500" dirty="0"/>
          </a:p>
          <a:p>
            <a:pPr indent="0" marL="0">
              <a:spcAft>
                <a:spcPts val="400"/>
              </a:spcAft>
              <a:buNone/>
            </a:pPr>
            <a:r>
              <a:rPr lang="en-US" sz="1500" b="1" dirty="0">
                <a:solidFill>
                  <a:srgbClr val="FB7185"/>
                </a:solidFill>
                <a:latin typeface="Calibri" pitchFamily="34" charset="0"/>
                <a:ea typeface="Calibri" pitchFamily="34" charset="-122"/>
                <a:cs typeface="Calibri" pitchFamily="34" charset="-120"/>
              </a:rPr>
              <a:t>xᵢ = 0</a:t>
            </a:r>
            <a:pPr indent="0" marL="0">
              <a:spcAft>
                <a:spcPts val="400"/>
              </a:spcAft>
              <a:buNone/>
            </a:pPr>
            <a:r>
              <a:rPr lang="en-US" sz="1500" dirty="0">
                <a:solidFill>
                  <a:srgbClr val="F1F5F9"/>
                </a:solidFill>
                <a:latin typeface="Calibri" pitchFamily="34" charset="0"/>
                <a:ea typeface="Calibri" pitchFamily="34" charset="-122"/>
                <a:cs typeface="Calibri" pitchFamily="34" charset="-120"/>
              </a:rPr>
              <a:t> → item i is not selected</a:t>
            </a:r>
            <a:endParaRPr lang="en-US" sz="1500" dirty="0"/>
          </a:p>
        </p:txBody>
      </p:sp>
      <p:sp>
        <p:nvSpPr>
          <p:cNvPr id="8" name="Text 6"/>
          <p:cNvSpPr/>
          <p:nvPr/>
        </p:nvSpPr>
        <p:spPr>
          <a:xfrm>
            <a:off x="548640" y="4069080"/>
            <a:ext cx="3657600" cy="548640"/>
          </a:xfrm>
          <a:prstGeom prst="rect">
            <a:avLst/>
          </a:prstGeom>
          <a:noFill/>
          <a:ln/>
        </p:spPr>
        <p:txBody>
          <a:bodyPr wrap="square" lIns="0" tIns="0" rIns="0" bIns="0" rtlCol="0" anchor="t"/>
          <a:lstStyle/>
          <a:p>
            <a:pPr indent="0" marL="0">
              <a:buNone/>
            </a:pPr>
            <a:r>
              <a:rPr lang="en-US" sz="1300" dirty="0">
                <a:solidFill>
                  <a:srgbClr val="94A3B8"/>
                </a:solidFill>
                <a:latin typeface="Calibri" pitchFamily="34" charset="0"/>
                <a:ea typeface="Calibri" pitchFamily="34" charset="-122"/>
                <a:cs typeface="Calibri" pitchFamily="34" charset="-120"/>
              </a:rPr>
              <a:t>Σ means "add up for all items i = 1 … n".</a:t>
            </a:r>
            <a:endParaRPr lang="en-US" sz="1300" dirty="0"/>
          </a:p>
        </p:txBody>
      </p:sp>
      <p:sp>
        <p:nvSpPr>
          <p:cNvPr id="9" name="Shape 7"/>
          <p:cNvSpPr/>
          <p:nvPr/>
        </p:nvSpPr>
        <p:spPr>
          <a:xfrm>
            <a:off x="4572000" y="1188720"/>
            <a:ext cx="4206240" cy="1188720"/>
          </a:xfrm>
          <a:prstGeom prst="roundRect">
            <a:avLst>
              <a:gd name="adj" fmla="val 7692"/>
            </a:avLst>
          </a:prstGeom>
          <a:solidFill>
            <a:srgbClr val="060B14"/>
          </a:solidFill>
          <a:ln w="12700">
            <a:solidFill>
              <a:srgbClr val="24365A"/>
            </a:solidFill>
            <a:prstDash val="solid"/>
          </a:ln>
        </p:spPr>
      </p:sp>
      <p:sp>
        <p:nvSpPr>
          <p:cNvPr id="10" name="Text 8"/>
          <p:cNvSpPr/>
          <p:nvPr/>
        </p:nvSpPr>
        <p:spPr>
          <a:xfrm>
            <a:off x="4709160" y="1280160"/>
            <a:ext cx="3931920" cy="1005840"/>
          </a:xfrm>
          <a:prstGeom prst="rect">
            <a:avLst/>
          </a:prstGeom>
          <a:noFill/>
          <a:ln/>
        </p:spPr>
        <p:txBody>
          <a:bodyPr wrap="square" lIns="0" tIns="0" rIns="0" bIns="0" rtlCol="0" anchor="t"/>
          <a:lstStyle/>
          <a:p>
            <a:pPr indent="0" marL="0">
              <a:buNone/>
            </a:pPr>
            <a:r>
              <a:rPr lang="en-US" sz="1300" dirty="0">
                <a:solidFill>
                  <a:srgbClr val="A7F3D0"/>
                </a:solidFill>
                <a:latin typeface="Courier New" pitchFamily="34" charset="0"/>
                <a:ea typeface="Courier New" pitchFamily="34" charset="-122"/>
                <a:cs typeface="Courier New" pitchFamily="34" charset="-120"/>
              </a:rPr>
              <a:t>Maximize     Σ vᵢ · xᵢ     (total value)</a:t>
            </a:r>
            <a:endParaRPr lang="en-US" sz="1300" dirty="0"/>
          </a:p>
          <a:p>
            <a:pPr indent="0" marL="0">
              <a:buNone/>
            </a:pPr>
            <a:r>
              <a:rPr lang="en-US" sz="1300" dirty="0">
                <a:solidFill>
                  <a:srgbClr val="A7F3D0"/>
                </a:solidFill>
                <a:latin typeface="Courier New" pitchFamily="34" charset="0"/>
                <a:ea typeface="Courier New" pitchFamily="34" charset="-122"/>
                <a:cs typeface="Courier New" pitchFamily="34" charset="-120"/>
              </a:rPr>
              <a:t>Subject to   Σ wᵢ · xᵢ ≤ W (weight limit)</a:t>
            </a:r>
            <a:endParaRPr lang="en-US" sz="1300" dirty="0"/>
          </a:p>
          <a:p>
            <a:pPr indent="0" marL="0">
              <a:buNone/>
            </a:pPr>
            <a:r>
              <a:rPr lang="en-US" sz="1300" dirty="0">
                <a:solidFill>
                  <a:srgbClr val="A7F3D0"/>
                </a:solidFill>
                <a:latin typeface="Courier New" pitchFamily="34" charset="0"/>
                <a:ea typeface="Courier New" pitchFamily="34" charset="-122"/>
                <a:cs typeface="Courier New" pitchFamily="34" charset="-120"/>
              </a:rPr>
              <a:t>             xᵢ ∈ {0, 1}</a:t>
            </a:r>
            <a:endParaRPr lang="en-US" sz="1300" dirty="0"/>
          </a:p>
        </p:txBody>
      </p:sp>
      <p:sp>
        <p:nvSpPr>
          <p:cNvPr id="11" name="Shape 9"/>
          <p:cNvSpPr/>
          <p:nvPr/>
        </p:nvSpPr>
        <p:spPr>
          <a:xfrm>
            <a:off x="4572000" y="2468880"/>
            <a:ext cx="4206240" cy="914400"/>
          </a:xfrm>
          <a:prstGeom prst="roundRect">
            <a:avLst>
              <a:gd name="adj" fmla="val 10000"/>
            </a:avLst>
          </a:prstGeom>
          <a:solidFill>
            <a:srgbClr val="15233B"/>
          </a:solidFill>
          <a:ln w="12700">
            <a:solidFill>
              <a:srgbClr val="24365A"/>
            </a:solidFill>
            <a:prstDash val="solid"/>
          </a:ln>
        </p:spPr>
      </p:sp>
      <p:sp>
        <p:nvSpPr>
          <p:cNvPr id="12" name="Text 10"/>
          <p:cNvSpPr/>
          <p:nvPr/>
        </p:nvSpPr>
        <p:spPr>
          <a:xfrm>
            <a:off x="4754880" y="2542032"/>
            <a:ext cx="3840480" cy="777240"/>
          </a:xfrm>
          <a:prstGeom prst="rect">
            <a:avLst/>
          </a:prstGeom>
          <a:noFill/>
          <a:ln/>
        </p:spPr>
        <p:txBody>
          <a:bodyPr wrap="square" lIns="0" tIns="0" rIns="0" bIns="0" rtlCol="0" anchor="ctr"/>
          <a:lstStyle/>
          <a:p>
            <a:pPr indent="0" marL="0">
              <a:buNone/>
            </a:pPr>
            <a:r>
              <a:rPr lang="en-US" sz="1300" dirty="0">
                <a:solidFill>
                  <a:srgbClr val="F1F5F9"/>
                </a:solidFill>
                <a:latin typeface="Calibri" pitchFamily="34" charset="0"/>
                <a:ea typeface="Calibri" pitchFamily="34" charset="-122"/>
                <a:cs typeface="Calibri" pitchFamily="34" charset="-120"/>
              </a:rPr>
              <a:t>We want the value as big as possible, but the total weight of the chosen items may never go above W.</a:t>
            </a:r>
            <a:endParaRPr lang="en-US" sz="1300" dirty="0"/>
          </a:p>
        </p:txBody>
      </p:sp>
      <p:sp>
        <p:nvSpPr>
          <p:cNvPr id="13" name="Shape 11"/>
          <p:cNvSpPr/>
          <p:nvPr/>
        </p:nvSpPr>
        <p:spPr>
          <a:xfrm>
            <a:off x="4572000" y="3474720"/>
            <a:ext cx="4206240" cy="1280160"/>
          </a:xfrm>
          <a:prstGeom prst="roundRect">
            <a:avLst>
              <a:gd name="adj" fmla="val 7143"/>
            </a:avLst>
          </a:prstGeom>
          <a:solidFill>
            <a:srgbClr val="15233B"/>
          </a:solidFill>
          <a:ln w="12700">
            <a:solidFill>
              <a:srgbClr val="FBBF24"/>
            </a:solidFill>
            <a:prstDash val="solid"/>
          </a:ln>
        </p:spPr>
      </p:sp>
      <p:sp>
        <p:nvSpPr>
          <p:cNvPr id="14" name="Text 12"/>
          <p:cNvSpPr/>
          <p:nvPr/>
        </p:nvSpPr>
        <p:spPr>
          <a:xfrm>
            <a:off x="4754880" y="3547872"/>
            <a:ext cx="3840480" cy="1143000"/>
          </a:xfrm>
          <a:prstGeom prst="rect">
            <a:avLst/>
          </a:prstGeom>
          <a:noFill/>
          <a:ln/>
        </p:spPr>
        <p:txBody>
          <a:bodyPr wrap="square" lIns="0" tIns="0" rIns="0" bIns="0" rtlCol="0" anchor="t"/>
          <a:lstStyle/>
          <a:p>
            <a:pPr indent="0" marL="0">
              <a:spcAft>
                <a:spcPts val="300"/>
              </a:spcAft>
              <a:buNone/>
            </a:pPr>
            <a:r>
              <a:rPr lang="en-US" sz="1250" b="1" dirty="0">
                <a:solidFill>
                  <a:srgbClr val="FBBF24"/>
                </a:solidFill>
                <a:latin typeface="Calibri" pitchFamily="34" charset="0"/>
                <a:ea typeface="Calibri" pitchFamily="34" charset="-122"/>
                <a:cs typeface="Calibri" pitchFamily="34" charset="-120"/>
              </a:rPr>
              <a:t>Highest value is not always best</a:t>
            </a:r>
            <a:endParaRPr lang="en-US" sz="1250" dirty="0"/>
          </a:p>
          <a:p>
            <a:pPr indent="0" marL="0">
              <a:spcAft>
                <a:spcPts val="300"/>
              </a:spcAft>
              <a:buNone/>
            </a:pPr>
            <a:r>
              <a:rPr lang="en-US" sz="1250" dirty="0">
                <a:solidFill>
                  <a:srgbClr val="F1F5F9"/>
                </a:solidFill>
                <a:latin typeface="Calibri" pitchFamily="34" charset="0"/>
                <a:ea typeface="Calibri" pitchFamily="34" charset="-122"/>
                <a:cs typeface="Calibri" pitchFamily="34" charset="-120"/>
              </a:rPr>
              <a:t>W = 10.  X: w=10, v=60.  Y: w=5, v=40.  Z: w=5, v=40.</a:t>
            </a:r>
            <a:endParaRPr lang="en-US" sz="1250" dirty="0"/>
          </a:p>
          <a:p>
            <a:pPr indent="0" marL="0">
              <a:spcAft>
                <a:spcPts val="300"/>
              </a:spcAft>
              <a:buNone/>
            </a:pPr>
            <a:r>
              <a:rPr lang="en-US" sz="1250" dirty="0">
                <a:solidFill>
                  <a:srgbClr val="F1F5F9"/>
                </a:solidFill>
                <a:latin typeface="Calibri" pitchFamily="34" charset="0"/>
                <a:ea typeface="Calibri" pitchFamily="34" charset="-122"/>
                <a:cs typeface="Calibri" pitchFamily="34" charset="-120"/>
              </a:rPr>
              <a:t>Most valuable single item X gives 60. </a:t>
            </a:r>
            <a:pPr indent="0" marL="0">
              <a:spcAft>
                <a:spcPts val="300"/>
              </a:spcAft>
              <a:buNone/>
            </a:pPr>
            <a:r>
              <a:rPr lang="en-US" sz="1250" b="1" dirty="0">
                <a:solidFill>
                  <a:srgbClr val="4ADE80"/>
                </a:solidFill>
                <a:latin typeface="Calibri" pitchFamily="34" charset="0"/>
                <a:ea typeface="Calibri" pitchFamily="34" charset="-122"/>
                <a:cs typeface="Calibri" pitchFamily="34" charset="-120"/>
              </a:rPr>
              <a:t>Y + Z gives 80 (optimal).</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7315200" y="45720"/>
            <a:ext cx="1554480" cy="1005840"/>
          </a:xfrm>
          <a:prstGeom prst="rect">
            <a:avLst/>
          </a:prstGeom>
          <a:noFill/>
          <a:ln/>
        </p:spPr>
        <p:txBody>
          <a:bodyPr wrap="square" lIns="0" tIns="0" rIns="0" bIns="0" rtlCol="0" anchor="ctr"/>
          <a:lstStyle/>
          <a:p>
            <a:pPr algn="r" indent="0" marL="0">
              <a:buNone/>
            </a:pPr>
            <a:r>
              <a:rPr lang="en-US" sz="6600" b="1" dirty="0">
                <a:solidFill>
                  <a:srgbClr val="16233D"/>
                </a:solidFill>
                <a:latin typeface="Cambria" pitchFamily="34" charset="0"/>
                <a:ea typeface="Cambria" pitchFamily="34" charset="-122"/>
                <a:cs typeface="Cambria" pitchFamily="34" charset="-120"/>
              </a:rPr>
              <a:t>03</a:t>
            </a:r>
            <a:endParaRPr lang="en-US" sz="6600" dirty="0"/>
          </a:p>
        </p:txBody>
      </p:sp>
      <p:sp>
        <p:nvSpPr>
          <p:cNvPr id="3" name="Text 1"/>
          <p:cNvSpPr/>
          <p:nvPr/>
        </p:nvSpPr>
        <p:spPr>
          <a:xfrm>
            <a:off x="365760" y="228600"/>
            <a:ext cx="5486400" cy="228600"/>
          </a:xfrm>
          <a:prstGeom prst="rect">
            <a:avLst/>
          </a:prstGeom>
          <a:noFill/>
          <a:ln/>
        </p:spPr>
        <p:txBody>
          <a:bodyPr wrap="square" lIns="0" tIns="0" rIns="0" bIns="0" rtlCol="0" anchor="ctr"/>
          <a:lstStyle/>
          <a:p>
            <a:pPr indent="0" marL="0">
              <a:buNone/>
            </a:pPr>
            <a:r>
              <a:rPr lang="en-US" sz="1200" b="1" spc="400" kern="0" dirty="0">
                <a:solidFill>
                  <a:srgbClr val="2DD4BF"/>
                </a:solidFill>
                <a:latin typeface="Calibri" pitchFamily="34" charset="0"/>
                <a:ea typeface="Calibri" pitchFamily="34" charset="-122"/>
                <a:cs typeface="Calibri" pitchFamily="34" charset="-120"/>
              </a:rPr>
              <a:t>THREE VARIANTS</a:t>
            </a:r>
            <a:endParaRPr lang="en-US" sz="1200" dirty="0"/>
          </a:p>
        </p:txBody>
      </p:sp>
      <p:sp>
        <p:nvSpPr>
          <p:cNvPr id="4" name="Text 2"/>
          <p:cNvSpPr/>
          <p:nvPr/>
        </p:nvSpPr>
        <p:spPr>
          <a:xfrm>
            <a:off x="365760" y="457200"/>
            <a:ext cx="7498080" cy="594360"/>
          </a:xfrm>
          <a:prstGeom prst="rect">
            <a:avLst/>
          </a:prstGeom>
          <a:noFill/>
          <a:ln/>
        </p:spPr>
        <p:txBody>
          <a:bodyPr wrap="square" lIns="0" tIns="0" rIns="0" bIns="0" rtlCol="0" anchor="ctr"/>
          <a:lstStyle/>
          <a:p>
            <a:pPr indent="0" marL="0">
              <a:buNone/>
            </a:pPr>
            <a:r>
              <a:rPr lang="en-US" sz="2800" b="1" dirty="0">
                <a:solidFill>
                  <a:srgbClr val="F1F5F9"/>
                </a:solidFill>
                <a:latin typeface="Cambria" pitchFamily="34" charset="0"/>
                <a:ea typeface="Cambria" pitchFamily="34" charset="-122"/>
                <a:cs typeface="Cambria" pitchFamily="34" charset="-120"/>
              </a:rPr>
              <a:t>Types of Knapsack Problems</a:t>
            </a:r>
            <a:endParaRPr lang="en-US" sz="2800" dirty="0"/>
          </a:p>
        </p:txBody>
      </p:sp>
      <p:sp>
        <p:nvSpPr>
          <p:cNvPr id="5" name="Shape 3"/>
          <p:cNvSpPr/>
          <p:nvPr/>
        </p:nvSpPr>
        <p:spPr>
          <a:xfrm>
            <a:off x="365760" y="1188720"/>
            <a:ext cx="2697480" cy="1828800"/>
          </a:xfrm>
          <a:prstGeom prst="roundRect">
            <a:avLst>
              <a:gd name="adj" fmla="val 5000"/>
            </a:avLst>
          </a:prstGeom>
          <a:solidFill>
            <a:srgbClr val="15233B"/>
          </a:solidFill>
          <a:ln w="12700">
            <a:solidFill>
              <a:srgbClr val="2DD4BF"/>
            </a:solidFill>
            <a:prstDash val="solid"/>
          </a:ln>
        </p:spPr>
      </p:sp>
      <p:sp>
        <p:nvSpPr>
          <p:cNvPr id="6" name="Text 4"/>
          <p:cNvSpPr/>
          <p:nvPr/>
        </p:nvSpPr>
        <p:spPr>
          <a:xfrm>
            <a:off x="502920" y="1261872"/>
            <a:ext cx="2468880" cy="320040"/>
          </a:xfrm>
          <a:prstGeom prst="rect">
            <a:avLst/>
          </a:prstGeom>
          <a:noFill/>
          <a:ln/>
        </p:spPr>
        <p:txBody>
          <a:bodyPr wrap="square" lIns="0" tIns="0" rIns="0" bIns="0" rtlCol="0" anchor="t"/>
          <a:lstStyle/>
          <a:p>
            <a:pPr indent="0" marL="0">
              <a:buNone/>
            </a:pPr>
            <a:r>
              <a:rPr lang="en-US" sz="1700" b="1" dirty="0">
                <a:solidFill>
                  <a:srgbClr val="2DD4BF"/>
                </a:solidFill>
                <a:latin typeface="Calibri" pitchFamily="34" charset="0"/>
                <a:ea typeface="Calibri" pitchFamily="34" charset="-122"/>
                <a:cs typeface="Calibri" pitchFamily="34" charset="-120"/>
              </a:rPr>
              <a:t>0/1 Knapsack</a:t>
            </a:r>
            <a:endParaRPr lang="en-US" sz="1700" dirty="0"/>
          </a:p>
        </p:txBody>
      </p:sp>
      <p:sp>
        <p:nvSpPr>
          <p:cNvPr id="7" name="Text 5"/>
          <p:cNvSpPr/>
          <p:nvPr/>
        </p:nvSpPr>
        <p:spPr>
          <a:xfrm>
            <a:off x="502920" y="1627632"/>
            <a:ext cx="2468880" cy="548640"/>
          </a:xfrm>
          <a:prstGeom prst="rect">
            <a:avLst/>
          </a:prstGeom>
          <a:noFill/>
          <a:ln/>
        </p:spPr>
        <p:txBody>
          <a:bodyPr wrap="square" lIns="0" tIns="0" rIns="0" bIns="0" rtlCol="0" anchor="t"/>
          <a:lstStyle/>
          <a:p>
            <a:pPr indent="0" marL="0">
              <a:buNone/>
            </a:pPr>
            <a:r>
              <a:rPr lang="en-US" sz="1250" dirty="0">
                <a:solidFill>
                  <a:srgbClr val="F1F5F9"/>
                </a:solidFill>
                <a:latin typeface="Calibri" pitchFamily="34" charset="0"/>
                <a:ea typeface="Calibri" pitchFamily="34" charset="-122"/>
                <a:cs typeface="Calibri" pitchFamily="34" charset="-120"/>
              </a:rPr>
              <a:t>Take an item whole or leave it. Each item at most once.</a:t>
            </a:r>
            <a:endParaRPr lang="en-US" sz="1250" dirty="0"/>
          </a:p>
        </p:txBody>
      </p:sp>
      <p:sp>
        <p:nvSpPr>
          <p:cNvPr id="8" name="Text 6"/>
          <p:cNvSpPr/>
          <p:nvPr/>
        </p:nvSpPr>
        <p:spPr>
          <a:xfrm>
            <a:off x="502920" y="2148840"/>
            <a:ext cx="2468880" cy="365760"/>
          </a:xfrm>
          <a:prstGeom prst="rect">
            <a:avLst/>
          </a:prstGeom>
          <a:noFill/>
          <a:ln/>
        </p:spPr>
        <p:txBody>
          <a:bodyPr wrap="square" lIns="0" tIns="0" rIns="0" bIns="0" rtlCol="0" anchor="t"/>
          <a:lstStyle/>
          <a:p>
            <a:pPr indent="0" marL="0">
              <a:buNone/>
            </a:pPr>
            <a:r>
              <a:rPr lang="en-US" sz="1200" dirty="0">
                <a:solidFill>
                  <a:srgbClr val="94A3B8"/>
                </a:solidFill>
                <a:latin typeface="Calibri" pitchFamily="34" charset="0"/>
                <a:ea typeface="Calibri" pitchFamily="34" charset="-122"/>
                <a:cs typeface="Calibri" pitchFamily="34" charset="-120"/>
              </a:rPr>
              <a:t>e.g. Laptop: take it or skip it.</a:t>
            </a:r>
            <a:endParaRPr lang="en-US" sz="1200" dirty="0"/>
          </a:p>
        </p:txBody>
      </p:sp>
      <p:sp>
        <p:nvSpPr>
          <p:cNvPr id="9" name="Shape 7"/>
          <p:cNvSpPr/>
          <p:nvPr/>
        </p:nvSpPr>
        <p:spPr>
          <a:xfrm>
            <a:off x="502920" y="2606040"/>
            <a:ext cx="384048" cy="274320"/>
          </a:xfrm>
          <a:prstGeom prst="rect">
            <a:avLst/>
          </a:prstGeom>
          <a:solidFill>
            <a:srgbClr val="4ADE80"/>
          </a:solidFill>
          <a:ln w="12700">
            <a:solidFill>
              <a:srgbClr val="0B1220"/>
            </a:solidFill>
            <a:prstDash val="solid"/>
          </a:ln>
        </p:spPr>
      </p:sp>
      <p:sp>
        <p:nvSpPr>
          <p:cNvPr id="10" name="Shape 8"/>
          <p:cNvSpPr/>
          <p:nvPr/>
        </p:nvSpPr>
        <p:spPr>
          <a:xfrm>
            <a:off x="960120" y="2606040"/>
            <a:ext cx="384048" cy="274320"/>
          </a:xfrm>
          <a:prstGeom prst="rect">
            <a:avLst/>
          </a:prstGeom>
          <a:solidFill>
            <a:srgbClr val="4ADE80"/>
          </a:solidFill>
          <a:ln w="12700">
            <a:solidFill>
              <a:srgbClr val="0B1220"/>
            </a:solidFill>
            <a:prstDash val="solid"/>
          </a:ln>
        </p:spPr>
      </p:sp>
      <p:sp>
        <p:nvSpPr>
          <p:cNvPr id="11" name="Shape 9"/>
          <p:cNvSpPr/>
          <p:nvPr/>
        </p:nvSpPr>
        <p:spPr>
          <a:xfrm>
            <a:off x="1417320" y="2606040"/>
            <a:ext cx="384048" cy="274320"/>
          </a:xfrm>
          <a:prstGeom prst="rect">
            <a:avLst/>
          </a:prstGeom>
          <a:solidFill>
            <a:srgbClr val="22324F"/>
          </a:solidFill>
          <a:ln w="12700">
            <a:solidFill>
              <a:srgbClr val="0B1220"/>
            </a:solidFill>
            <a:prstDash val="solid"/>
          </a:ln>
        </p:spPr>
      </p:sp>
      <p:sp>
        <p:nvSpPr>
          <p:cNvPr id="12" name="Shape 10"/>
          <p:cNvSpPr/>
          <p:nvPr/>
        </p:nvSpPr>
        <p:spPr>
          <a:xfrm>
            <a:off x="1874520" y="2606040"/>
            <a:ext cx="384048" cy="274320"/>
          </a:xfrm>
          <a:prstGeom prst="rect">
            <a:avLst/>
          </a:prstGeom>
          <a:solidFill>
            <a:srgbClr val="4ADE80"/>
          </a:solidFill>
          <a:ln w="12700">
            <a:solidFill>
              <a:srgbClr val="0B1220"/>
            </a:solidFill>
            <a:prstDash val="solid"/>
          </a:ln>
        </p:spPr>
      </p:sp>
      <p:sp>
        <p:nvSpPr>
          <p:cNvPr id="13" name="Shape 11"/>
          <p:cNvSpPr/>
          <p:nvPr/>
        </p:nvSpPr>
        <p:spPr>
          <a:xfrm>
            <a:off x="3200400" y="1188720"/>
            <a:ext cx="2697480" cy="1828800"/>
          </a:xfrm>
          <a:prstGeom prst="roundRect">
            <a:avLst>
              <a:gd name="adj" fmla="val 5000"/>
            </a:avLst>
          </a:prstGeom>
          <a:solidFill>
            <a:srgbClr val="15233B"/>
          </a:solidFill>
          <a:ln w="12700">
            <a:solidFill>
              <a:srgbClr val="FBBF24"/>
            </a:solidFill>
            <a:prstDash val="solid"/>
          </a:ln>
        </p:spPr>
      </p:sp>
      <p:sp>
        <p:nvSpPr>
          <p:cNvPr id="14" name="Text 12"/>
          <p:cNvSpPr/>
          <p:nvPr/>
        </p:nvSpPr>
        <p:spPr>
          <a:xfrm>
            <a:off x="3337560" y="1261872"/>
            <a:ext cx="2468880" cy="320040"/>
          </a:xfrm>
          <a:prstGeom prst="rect">
            <a:avLst/>
          </a:prstGeom>
          <a:noFill/>
          <a:ln/>
        </p:spPr>
        <p:txBody>
          <a:bodyPr wrap="square" lIns="0" tIns="0" rIns="0" bIns="0" rtlCol="0" anchor="t"/>
          <a:lstStyle/>
          <a:p>
            <a:pPr indent="0" marL="0">
              <a:buNone/>
            </a:pPr>
            <a:r>
              <a:rPr lang="en-US" sz="1700" b="1" dirty="0">
                <a:solidFill>
                  <a:srgbClr val="FBBF24"/>
                </a:solidFill>
                <a:latin typeface="Calibri" pitchFamily="34" charset="0"/>
                <a:ea typeface="Calibri" pitchFamily="34" charset="-122"/>
                <a:cs typeface="Calibri" pitchFamily="34" charset="-120"/>
              </a:rPr>
              <a:t>Fractional</a:t>
            </a:r>
            <a:endParaRPr lang="en-US" sz="1700" dirty="0"/>
          </a:p>
        </p:txBody>
      </p:sp>
      <p:sp>
        <p:nvSpPr>
          <p:cNvPr id="15" name="Text 13"/>
          <p:cNvSpPr/>
          <p:nvPr/>
        </p:nvSpPr>
        <p:spPr>
          <a:xfrm>
            <a:off x="3337560" y="1627632"/>
            <a:ext cx="2468880" cy="548640"/>
          </a:xfrm>
          <a:prstGeom prst="rect">
            <a:avLst/>
          </a:prstGeom>
          <a:noFill/>
          <a:ln/>
        </p:spPr>
        <p:txBody>
          <a:bodyPr wrap="square" lIns="0" tIns="0" rIns="0" bIns="0" rtlCol="0" anchor="t"/>
          <a:lstStyle/>
          <a:p>
            <a:pPr indent="0" marL="0">
              <a:buNone/>
            </a:pPr>
            <a:r>
              <a:rPr lang="en-US" sz="1250" dirty="0">
                <a:solidFill>
                  <a:srgbClr val="F1F5F9"/>
                </a:solidFill>
                <a:latin typeface="Calibri" pitchFamily="34" charset="0"/>
                <a:ea typeface="Calibri" pitchFamily="34" charset="-122"/>
                <a:cs typeface="Calibri" pitchFamily="34" charset="-120"/>
              </a:rPr>
              <a:t>Items can be split; take any fraction.</a:t>
            </a:r>
            <a:endParaRPr lang="en-US" sz="1250" dirty="0"/>
          </a:p>
        </p:txBody>
      </p:sp>
      <p:sp>
        <p:nvSpPr>
          <p:cNvPr id="16" name="Text 14"/>
          <p:cNvSpPr/>
          <p:nvPr/>
        </p:nvSpPr>
        <p:spPr>
          <a:xfrm>
            <a:off x="3337560" y="2148840"/>
            <a:ext cx="2468880" cy="365760"/>
          </a:xfrm>
          <a:prstGeom prst="rect">
            <a:avLst/>
          </a:prstGeom>
          <a:noFill/>
          <a:ln/>
        </p:spPr>
        <p:txBody>
          <a:bodyPr wrap="square" lIns="0" tIns="0" rIns="0" bIns="0" rtlCol="0" anchor="t"/>
          <a:lstStyle/>
          <a:p>
            <a:pPr indent="0" marL="0">
              <a:buNone/>
            </a:pPr>
            <a:r>
              <a:rPr lang="en-US" sz="1200" dirty="0">
                <a:solidFill>
                  <a:srgbClr val="94A3B8"/>
                </a:solidFill>
                <a:latin typeface="Calibri" pitchFamily="34" charset="0"/>
                <a:ea typeface="Calibri" pitchFamily="34" charset="-122"/>
                <a:cs typeface="Calibri" pitchFamily="34" charset="-120"/>
              </a:rPr>
              <a:t>e.g. Sugar or gold dust by weight.</a:t>
            </a:r>
            <a:endParaRPr lang="en-US" sz="1200" dirty="0"/>
          </a:p>
        </p:txBody>
      </p:sp>
      <p:sp>
        <p:nvSpPr>
          <p:cNvPr id="17" name="Shape 15"/>
          <p:cNvSpPr/>
          <p:nvPr/>
        </p:nvSpPr>
        <p:spPr>
          <a:xfrm>
            <a:off x="3337560" y="2606040"/>
            <a:ext cx="1554480" cy="274320"/>
          </a:xfrm>
          <a:prstGeom prst="rect">
            <a:avLst/>
          </a:prstGeom>
          <a:solidFill>
            <a:srgbClr val="22324F"/>
          </a:solidFill>
          <a:ln w="12700">
            <a:solidFill>
              <a:srgbClr val="0B1220"/>
            </a:solidFill>
            <a:prstDash val="solid"/>
          </a:ln>
        </p:spPr>
      </p:sp>
      <p:sp>
        <p:nvSpPr>
          <p:cNvPr id="18" name="Shape 16"/>
          <p:cNvSpPr/>
          <p:nvPr/>
        </p:nvSpPr>
        <p:spPr>
          <a:xfrm>
            <a:off x="3337560" y="2606040"/>
            <a:ext cx="1033272" cy="274320"/>
          </a:xfrm>
          <a:prstGeom prst="rect">
            <a:avLst/>
          </a:prstGeom>
          <a:solidFill>
            <a:srgbClr val="FBBF24"/>
          </a:solidFill>
          <a:ln w="12700">
            <a:solidFill>
              <a:srgbClr val="0B1220"/>
            </a:solidFill>
            <a:prstDash val="solid"/>
          </a:ln>
        </p:spPr>
      </p:sp>
      <p:sp>
        <p:nvSpPr>
          <p:cNvPr id="19" name="Text 17"/>
          <p:cNvSpPr/>
          <p:nvPr/>
        </p:nvSpPr>
        <p:spPr>
          <a:xfrm>
            <a:off x="3337560" y="2606040"/>
            <a:ext cx="1033272" cy="274320"/>
          </a:xfrm>
          <a:prstGeom prst="rect">
            <a:avLst/>
          </a:prstGeom>
          <a:noFill/>
          <a:ln/>
        </p:spPr>
        <p:txBody>
          <a:bodyPr wrap="square" lIns="0" tIns="0" rIns="0" bIns="0" rtlCol="0" anchor="ctr"/>
          <a:lstStyle/>
          <a:p>
            <a:pPr algn="ctr" indent="0" marL="0">
              <a:buNone/>
            </a:pPr>
            <a:r>
              <a:rPr lang="en-US" sz="1200" b="1" dirty="0">
                <a:solidFill>
                  <a:srgbClr val="0B1220"/>
                </a:solidFill>
                <a:latin typeface="Calibri" pitchFamily="34" charset="0"/>
                <a:ea typeface="Calibri" pitchFamily="34" charset="-122"/>
                <a:cs typeface="Calibri" pitchFamily="34" charset="-120"/>
              </a:rPr>
              <a:t>2/3 taken</a:t>
            </a:r>
            <a:endParaRPr lang="en-US" sz="1200" dirty="0"/>
          </a:p>
        </p:txBody>
      </p:sp>
      <p:sp>
        <p:nvSpPr>
          <p:cNvPr id="20" name="Shape 18"/>
          <p:cNvSpPr/>
          <p:nvPr/>
        </p:nvSpPr>
        <p:spPr>
          <a:xfrm>
            <a:off x="6035040" y="1188720"/>
            <a:ext cx="2697480" cy="1828800"/>
          </a:xfrm>
          <a:prstGeom prst="roundRect">
            <a:avLst>
              <a:gd name="adj" fmla="val 5000"/>
            </a:avLst>
          </a:prstGeom>
          <a:solidFill>
            <a:srgbClr val="15233B"/>
          </a:solidFill>
          <a:ln w="12700">
            <a:solidFill>
              <a:srgbClr val="C084FC"/>
            </a:solidFill>
            <a:prstDash val="solid"/>
          </a:ln>
        </p:spPr>
      </p:sp>
      <p:sp>
        <p:nvSpPr>
          <p:cNvPr id="21" name="Text 19"/>
          <p:cNvSpPr/>
          <p:nvPr/>
        </p:nvSpPr>
        <p:spPr>
          <a:xfrm>
            <a:off x="6172200" y="1261872"/>
            <a:ext cx="2468880" cy="320040"/>
          </a:xfrm>
          <a:prstGeom prst="rect">
            <a:avLst/>
          </a:prstGeom>
          <a:noFill/>
          <a:ln/>
        </p:spPr>
        <p:txBody>
          <a:bodyPr wrap="square" lIns="0" tIns="0" rIns="0" bIns="0" rtlCol="0" anchor="t"/>
          <a:lstStyle/>
          <a:p>
            <a:pPr indent="0" marL="0">
              <a:buNone/>
            </a:pPr>
            <a:r>
              <a:rPr lang="en-US" sz="1700" b="1" dirty="0">
                <a:solidFill>
                  <a:srgbClr val="C084FC"/>
                </a:solidFill>
                <a:latin typeface="Calibri" pitchFamily="34" charset="0"/>
                <a:ea typeface="Calibri" pitchFamily="34" charset="-122"/>
                <a:cs typeface="Calibri" pitchFamily="34" charset="-120"/>
              </a:rPr>
              <a:t>Unbounded</a:t>
            </a:r>
            <a:endParaRPr lang="en-US" sz="1700" dirty="0"/>
          </a:p>
        </p:txBody>
      </p:sp>
      <p:sp>
        <p:nvSpPr>
          <p:cNvPr id="22" name="Text 20"/>
          <p:cNvSpPr/>
          <p:nvPr/>
        </p:nvSpPr>
        <p:spPr>
          <a:xfrm>
            <a:off x="6172200" y="1627632"/>
            <a:ext cx="2468880" cy="548640"/>
          </a:xfrm>
          <a:prstGeom prst="rect">
            <a:avLst/>
          </a:prstGeom>
          <a:noFill/>
          <a:ln/>
        </p:spPr>
        <p:txBody>
          <a:bodyPr wrap="square" lIns="0" tIns="0" rIns="0" bIns="0" rtlCol="0" anchor="t"/>
          <a:lstStyle/>
          <a:p>
            <a:pPr indent="0" marL="0">
              <a:buNone/>
            </a:pPr>
            <a:r>
              <a:rPr lang="en-US" sz="1250" dirty="0">
                <a:solidFill>
                  <a:srgbClr val="F1F5F9"/>
                </a:solidFill>
                <a:latin typeface="Calibri" pitchFamily="34" charset="0"/>
                <a:ea typeface="Calibri" pitchFamily="34" charset="-122"/>
                <a:cs typeface="Calibri" pitchFamily="34" charset="-120"/>
              </a:rPr>
              <a:t>Unlimited copies of each item type.</a:t>
            </a:r>
            <a:endParaRPr lang="en-US" sz="1250" dirty="0"/>
          </a:p>
        </p:txBody>
      </p:sp>
      <p:sp>
        <p:nvSpPr>
          <p:cNvPr id="23" name="Text 21"/>
          <p:cNvSpPr/>
          <p:nvPr/>
        </p:nvSpPr>
        <p:spPr>
          <a:xfrm>
            <a:off x="6172200" y="2148840"/>
            <a:ext cx="2468880" cy="365760"/>
          </a:xfrm>
          <a:prstGeom prst="rect">
            <a:avLst/>
          </a:prstGeom>
          <a:noFill/>
          <a:ln/>
        </p:spPr>
        <p:txBody>
          <a:bodyPr wrap="square" lIns="0" tIns="0" rIns="0" bIns="0" rtlCol="0" anchor="t"/>
          <a:lstStyle/>
          <a:p>
            <a:pPr indent="0" marL="0">
              <a:buNone/>
            </a:pPr>
            <a:r>
              <a:rPr lang="en-US" sz="1200" dirty="0">
                <a:solidFill>
                  <a:srgbClr val="94A3B8"/>
                </a:solidFill>
                <a:latin typeface="Calibri" pitchFamily="34" charset="0"/>
                <a:ea typeface="Calibri" pitchFamily="34" charset="-122"/>
                <a:cs typeface="Calibri" pitchFamily="34" charset="-120"/>
              </a:rPr>
              <a:t>e.g. Coin or rod types used again and again.</a:t>
            </a:r>
            <a:endParaRPr lang="en-US" sz="1200" dirty="0"/>
          </a:p>
        </p:txBody>
      </p:sp>
      <p:sp>
        <p:nvSpPr>
          <p:cNvPr id="24" name="Shape 22"/>
          <p:cNvSpPr/>
          <p:nvPr/>
        </p:nvSpPr>
        <p:spPr>
          <a:xfrm>
            <a:off x="6172200" y="2606040"/>
            <a:ext cx="457200" cy="274320"/>
          </a:xfrm>
          <a:prstGeom prst="rect">
            <a:avLst/>
          </a:prstGeom>
          <a:solidFill>
            <a:srgbClr val="C084FC"/>
          </a:solidFill>
          <a:ln w="12700">
            <a:solidFill>
              <a:srgbClr val="0B1220"/>
            </a:solidFill>
            <a:prstDash val="solid"/>
          </a:ln>
        </p:spPr>
      </p:sp>
      <p:sp>
        <p:nvSpPr>
          <p:cNvPr id="25" name="Text 23"/>
          <p:cNvSpPr/>
          <p:nvPr/>
        </p:nvSpPr>
        <p:spPr>
          <a:xfrm>
            <a:off x="6172200" y="2606040"/>
            <a:ext cx="457200" cy="274320"/>
          </a:xfrm>
          <a:prstGeom prst="rect">
            <a:avLst/>
          </a:prstGeom>
          <a:noFill/>
          <a:ln/>
        </p:spPr>
        <p:txBody>
          <a:bodyPr wrap="square" lIns="0" tIns="0" rIns="0" bIns="0" rtlCol="0" anchor="ctr"/>
          <a:lstStyle/>
          <a:p>
            <a:pPr algn="ctr" indent="0" marL="0">
              <a:buNone/>
            </a:pPr>
            <a:r>
              <a:rPr lang="en-US" sz="1200" b="1" dirty="0">
                <a:solidFill>
                  <a:srgbClr val="0B1220"/>
                </a:solidFill>
                <a:latin typeface="Calibri" pitchFamily="34" charset="0"/>
                <a:ea typeface="Calibri" pitchFamily="34" charset="-122"/>
                <a:cs typeface="Calibri" pitchFamily="34" charset="-120"/>
              </a:rPr>
              <a:t>P</a:t>
            </a:r>
            <a:endParaRPr lang="en-US" sz="1200" dirty="0"/>
          </a:p>
        </p:txBody>
      </p:sp>
      <p:sp>
        <p:nvSpPr>
          <p:cNvPr id="26" name="Shape 24"/>
          <p:cNvSpPr/>
          <p:nvPr/>
        </p:nvSpPr>
        <p:spPr>
          <a:xfrm>
            <a:off x="6675120" y="2606040"/>
            <a:ext cx="457200" cy="274320"/>
          </a:xfrm>
          <a:prstGeom prst="rect">
            <a:avLst/>
          </a:prstGeom>
          <a:solidFill>
            <a:srgbClr val="C084FC"/>
          </a:solidFill>
          <a:ln w="12700">
            <a:solidFill>
              <a:srgbClr val="0B1220"/>
            </a:solidFill>
            <a:prstDash val="solid"/>
          </a:ln>
        </p:spPr>
      </p:sp>
      <p:sp>
        <p:nvSpPr>
          <p:cNvPr id="27" name="Text 25"/>
          <p:cNvSpPr/>
          <p:nvPr/>
        </p:nvSpPr>
        <p:spPr>
          <a:xfrm>
            <a:off x="6675120" y="2606040"/>
            <a:ext cx="457200" cy="274320"/>
          </a:xfrm>
          <a:prstGeom prst="rect">
            <a:avLst/>
          </a:prstGeom>
          <a:noFill/>
          <a:ln/>
        </p:spPr>
        <p:txBody>
          <a:bodyPr wrap="square" lIns="0" tIns="0" rIns="0" bIns="0" rtlCol="0" anchor="ctr"/>
          <a:lstStyle/>
          <a:p>
            <a:pPr algn="ctr" indent="0" marL="0">
              <a:buNone/>
            </a:pPr>
            <a:r>
              <a:rPr lang="en-US" sz="1200" b="1" dirty="0">
                <a:solidFill>
                  <a:srgbClr val="0B1220"/>
                </a:solidFill>
                <a:latin typeface="Calibri" pitchFamily="34" charset="0"/>
                <a:ea typeface="Calibri" pitchFamily="34" charset="-122"/>
                <a:cs typeface="Calibri" pitchFamily="34" charset="-120"/>
              </a:rPr>
              <a:t>P</a:t>
            </a:r>
            <a:endParaRPr lang="en-US" sz="1200" dirty="0"/>
          </a:p>
        </p:txBody>
      </p:sp>
      <p:sp>
        <p:nvSpPr>
          <p:cNvPr id="28" name="Shape 26"/>
          <p:cNvSpPr/>
          <p:nvPr/>
        </p:nvSpPr>
        <p:spPr>
          <a:xfrm>
            <a:off x="7178040" y="2606040"/>
            <a:ext cx="457200" cy="274320"/>
          </a:xfrm>
          <a:prstGeom prst="rect">
            <a:avLst/>
          </a:prstGeom>
          <a:solidFill>
            <a:srgbClr val="C084FC"/>
          </a:solidFill>
          <a:ln w="12700">
            <a:solidFill>
              <a:srgbClr val="0B1220"/>
            </a:solidFill>
            <a:prstDash val="solid"/>
          </a:ln>
        </p:spPr>
      </p:sp>
      <p:sp>
        <p:nvSpPr>
          <p:cNvPr id="29" name="Text 27"/>
          <p:cNvSpPr/>
          <p:nvPr/>
        </p:nvSpPr>
        <p:spPr>
          <a:xfrm>
            <a:off x="7178040" y="2606040"/>
            <a:ext cx="457200" cy="274320"/>
          </a:xfrm>
          <a:prstGeom prst="rect">
            <a:avLst/>
          </a:prstGeom>
          <a:noFill/>
          <a:ln/>
        </p:spPr>
        <p:txBody>
          <a:bodyPr wrap="square" lIns="0" tIns="0" rIns="0" bIns="0" rtlCol="0" anchor="ctr"/>
          <a:lstStyle/>
          <a:p>
            <a:pPr algn="ctr" indent="0" marL="0">
              <a:buNone/>
            </a:pPr>
            <a:r>
              <a:rPr lang="en-US" sz="1200" b="1" dirty="0">
                <a:solidFill>
                  <a:srgbClr val="0B1220"/>
                </a:solidFill>
                <a:latin typeface="Calibri" pitchFamily="34" charset="0"/>
                <a:ea typeface="Calibri" pitchFamily="34" charset="-122"/>
                <a:cs typeface="Calibri" pitchFamily="34" charset="-120"/>
              </a:rPr>
              <a:t>P</a:t>
            </a:r>
            <a:endParaRPr lang="en-US" sz="1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365760" y="3200400"/>
          <a:ext cx="8412480" cy="914400"/>
        </p:xfrm>
        <a:graphic>
          <a:graphicData uri="http://schemas.openxmlformats.org/drawingml/2006/table">
            <a:tbl>
              <a:tblPr/>
              <a:tblGrid>
                <a:gridCol w="1371600"/>
                <a:gridCol w="1371600"/>
                <a:gridCol w="1371600"/>
                <a:gridCol w="2011680"/>
                <a:gridCol w="2286000"/>
              </a:tblGrid>
              <a:tr h="365760">
                <a:tc>
                  <a:txBody>
                    <a:bodyPr/>
                    <a:lstStyle/>
                    <a:p>
                      <a:pPr algn="ctr" indent="0" marL="0">
                        <a:buNone/>
                      </a:pPr>
                      <a:r>
                        <a:rPr lang="en-US" sz="1200" b="1" dirty="0">
                          <a:solidFill>
                            <a:srgbClr val="0B1220"/>
                          </a:solidFill>
                          <a:latin typeface="Calibri" pitchFamily="34" charset="0"/>
                          <a:ea typeface="Calibri" pitchFamily="34" charset="-122"/>
                          <a:cs typeface="Calibri" pitchFamily="34" charset="-120"/>
                        </a:rPr>
                        <a:t>Type</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2DD4BF"/>
                    </a:solidFill>
                  </a:tcPr>
                </a:tc>
                <a:tc>
                  <a:txBody>
                    <a:bodyPr/>
                    <a:lstStyle/>
                    <a:p>
                      <a:pPr algn="ctr" indent="0" marL="0">
                        <a:buNone/>
                      </a:pPr>
                      <a:r>
                        <a:rPr lang="en-US" sz="1200" b="1" dirty="0">
                          <a:solidFill>
                            <a:srgbClr val="0B1220"/>
                          </a:solidFill>
                          <a:latin typeface="Calibri" pitchFamily="34" charset="0"/>
                          <a:ea typeface="Calibri" pitchFamily="34" charset="-122"/>
                          <a:cs typeface="Calibri" pitchFamily="34" charset="-120"/>
                        </a:rPr>
                        <a:t>Can divide?</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2DD4BF"/>
                    </a:solidFill>
                  </a:tcPr>
                </a:tc>
                <a:tc>
                  <a:txBody>
                    <a:bodyPr/>
                    <a:lstStyle/>
                    <a:p>
                      <a:pPr algn="ctr" indent="0" marL="0">
                        <a:buNone/>
                      </a:pPr>
                      <a:r>
                        <a:rPr lang="en-US" sz="1200" b="1" dirty="0">
                          <a:solidFill>
                            <a:srgbClr val="0B1220"/>
                          </a:solidFill>
                          <a:latin typeface="Calibri" pitchFamily="34" charset="0"/>
                          <a:ea typeface="Calibri" pitchFamily="34" charset="-122"/>
                          <a:cs typeface="Calibri" pitchFamily="34" charset="-120"/>
                        </a:rPr>
                        <a:t>Can repeat?</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2DD4BF"/>
                    </a:solidFill>
                  </a:tcPr>
                </a:tc>
                <a:tc>
                  <a:txBody>
                    <a:bodyPr/>
                    <a:lstStyle/>
                    <a:p>
                      <a:pPr algn="ctr" indent="0" marL="0">
                        <a:buNone/>
                      </a:pPr>
                      <a:r>
                        <a:rPr lang="en-US" sz="1200" b="1" dirty="0">
                          <a:solidFill>
                            <a:srgbClr val="0B1220"/>
                          </a:solidFill>
                          <a:latin typeface="Calibri" pitchFamily="34" charset="0"/>
                          <a:ea typeface="Calibri" pitchFamily="34" charset="-122"/>
                          <a:cs typeface="Calibri" pitchFamily="34" charset="-120"/>
                        </a:rPr>
                        <a:t>Decision</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2DD4BF"/>
                    </a:solidFill>
                  </a:tcPr>
                </a:tc>
                <a:tc>
                  <a:txBody>
                    <a:bodyPr/>
                    <a:lstStyle/>
                    <a:p>
                      <a:pPr algn="ctr" indent="0" marL="0">
                        <a:buNone/>
                      </a:pPr>
                      <a:r>
                        <a:rPr lang="en-US" sz="1200" b="1" dirty="0">
                          <a:solidFill>
                            <a:srgbClr val="0B1220"/>
                          </a:solidFill>
                          <a:latin typeface="Calibri" pitchFamily="34" charset="0"/>
                          <a:ea typeface="Calibri" pitchFamily="34" charset="-122"/>
                          <a:cs typeface="Calibri" pitchFamily="34" charset="-120"/>
                        </a:rPr>
                        <a:t>Standard method</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2DD4BF"/>
                    </a:solidFill>
                  </a:tcPr>
                </a:tc>
              </a:tr>
              <a:tr h="365760">
                <a:tc>
                  <a:txBody>
                    <a:bodyPr/>
                    <a:lstStyle/>
                    <a:p>
                      <a:pPr algn="ctr" indent="0" marL="0">
                        <a:buNone/>
                      </a:pPr>
                      <a:r>
                        <a:rPr lang="en-US" sz="1200" b="1" dirty="0">
                          <a:solidFill>
                            <a:srgbClr val="2DD4BF"/>
                          </a:solidFill>
                          <a:latin typeface="Calibri" pitchFamily="34" charset="0"/>
                          <a:ea typeface="Calibri" pitchFamily="34" charset="-122"/>
                          <a:cs typeface="Calibri" pitchFamily="34" charset="-120"/>
                        </a:rPr>
                        <a:t>0/1</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33B"/>
                    </a:solidFill>
                  </a:tcPr>
                </a:tc>
                <a:tc>
                  <a:txBody>
                    <a:bodyPr/>
                    <a:lstStyle/>
                    <a:p>
                      <a:pPr algn="ctr" indent="0" marL="0">
                        <a:buNone/>
                      </a:pPr>
                      <a:r>
                        <a:rPr lang="en-US" sz="1200" dirty="0">
                          <a:solidFill>
                            <a:srgbClr val="F1F5F9"/>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33B"/>
                    </a:solidFill>
                  </a:tcPr>
                </a:tc>
                <a:tc>
                  <a:txBody>
                    <a:bodyPr/>
                    <a:lstStyle/>
                    <a:p>
                      <a:pPr algn="ctr" indent="0" marL="0">
                        <a:buNone/>
                      </a:pPr>
                      <a:r>
                        <a:rPr lang="en-US" sz="1200" dirty="0">
                          <a:solidFill>
                            <a:srgbClr val="F1F5F9"/>
                          </a:solidFill>
                          <a:latin typeface="Calibri" pitchFamily="34" charset="0"/>
                          <a:ea typeface="Calibri" pitchFamily="34" charset="-122"/>
                          <a:cs typeface="Calibri" pitchFamily="34" charset="-120"/>
                        </a:rPr>
                        <a:t>No (once)</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33B"/>
                    </a:solidFill>
                  </a:tcPr>
                </a:tc>
                <a:tc>
                  <a:txBody>
                    <a:bodyPr/>
                    <a:lstStyle/>
                    <a:p>
                      <a:pPr algn="ctr" indent="0" marL="0">
                        <a:buNone/>
                      </a:pPr>
                      <a:r>
                        <a:rPr lang="en-US" sz="1200" dirty="0">
                          <a:solidFill>
                            <a:srgbClr val="F1F5F9"/>
                          </a:solidFill>
                          <a:latin typeface="Calibri" pitchFamily="34" charset="0"/>
                          <a:ea typeface="Calibri" pitchFamily="34" charset="-122"/>
                          <a:cs typeface="Calibri" pitchFamily="34" charset="-120"/>
                        </a:rPr>
                        <a:t>xᵢ ∈ {0, 1}</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33B"/>
                    </a:solidFill>
                  </a:tcPr>
                </a:tc>
                <a:tc>
                  <a:txBody>
                    <a:bodyPr/>
                    <a:lstStyle/>
                    <a:p>
                      <a:pPr algn="ctr" indent="0" marL="0">
                        <a:buNone/>
                      </a:pPr>
                      <a:r>
                        <a:rPr lang="en-US" sz="1200" dirty="0">
                          <a:solidFill>
                            <a:srgbClr val="F1F5F9"/>
                          </a:solidFill>
                          <a:latin typeface="Calibri" pitchFamily="34" charset="0"/>
                          <a:ea typeface="Calibri" pitchFamily="34" charset="-122"/>
                          <a:cs typeface="Calibri" pitchFamily="34" charset="-120"/>
                        </a:rPr>
                        <a:t>Dynamic programming</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33B"/>
                    </a:solidFill>
                  </a:tcPr>
                </a:tc>
              </a:tr>
              <a:tr h="365760">
                <a:tc>
                  <a:txBody>
                    <a:bodyPr/>
                    <a:lstStyle/>
                    <a:p>
                      <a:pPr algn="ctr" indent="0" marL="0">
                        <a:buNone/>
                      </a:pPr>
                      <a:r>
                        <a:rPr lang="en-US" sz="1200" b="1" dirty="0">
                          <a:solidFill>
                            <a:srgbClr val="FBBF24"/>
                          </a:solidFill>
                          <a:latin typeface="Calibri" pitchFamily="34" charset="0"/>
                          <a:ea typeface="Calibri" pitchFamily="34" charset="-122"/>
                          <a:cs typeface="Calibri" pitchFamily="34" charset="-120"/>
                        </a:rPr>
                        <a:t>Fractional</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33B"/>
                    </a:solidFill>
                  </a:tcPr>
                </a:tc>
                <a:tc>
                  <a:txBody>
                    <a:bodyPr/>
                    <a:lstStyle/>
                    <a:p>
                      <a:pPr algn="ctr" indent="0" marL="0">
                        <a:buNone/>
                      </a:pPr>
                      <a:r>
                        <a:rPr lang="en-US" sz="1200" dirty="0">
                          <a:solidFill>
                            <a:srgbClr val="F1F5F9"/>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33B"/>
                    </a:solidFill>
                  </a:tcPr>
                </a:tc>
                <a:tc>
                  <a:txBody>
                    <a:bodyPr/>
                    <a:lstStyle/>
                    <a:p>
                      <a:pPr algn="ctr" indent="0" marL="0">
                        <a:buNone/>
                      </a:pPr>
                      <a:r>
                        <a:rPr lang="en-US" sz="1200" dirty="0">
                          <a:solidFill>
                            <a:srgbClr val="F1F5F9"/>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33B"/>
                    </a:solidFill>
                  </a:tcPr>
                </a:tc>
                <a:tc>
                  <a:txBody>
                    <a:bodyPr/>
                    <a:lstStyle/>
                    <a:p>
                      <a:pPr algn="ctr" indent="0" marL="0">
                        <a:buNone/>
                      </a:pPr>
                      <a:r>
                        <a:rPr lang="en-US" sz="1200" dirty="0">
                          <a:solidFill>
                            <a:srgbClr val="F1F5F9"/>
                          </a:solidFill>
                          <a:latin typeface="Calibri" pitchFamily="34" charset="0"/>
                          <a:ea typeface="Calibri" pitchFamily="34" charset="-122"/>
                          <a:cs typeface="Calibri" pitchFamily="34" charset="-120"/>
                        </a:rPr>
                        <a:t>0 ≤ xᵢ ≤ 1</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33B"/>
                    </a:solidFill>
                  </a:tcPr>
                </a:tc>
                <a:tc>
                  <a:txBody>
                    <a:bodyPr/>
                    <a:lstStyle/>
                    <a:p>
                      <a:pPr algn="ctr" indent="0" marL="0">
                        <a:buNone/>
                      </a:pPr>
                      <a:r>
                        <a:rPr lang="en-US" sz="1200" dirty="0">
                          <a:solidFill>
                            <a:srgbClr val="F1F5F9"/>
                          </a:solidFill>
                          <a:latin typeface="Calibri" pitchFamily="34" charset="0"/>
                          <a:ea typeface="Calibri" pitchFamily="34" charset="-122"/>
                          <a:cs typeface="Calibri" pitchFamily="34" charset="-120"/>
                        </a:rPr>
                        <a:t>Greedy (by v/w)</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33B"/>
                    </a:solidFill>
                  </a:tcPr>
                </a:tc>
              </a:tr>
              <a:tr h="365760">
                <a:tc>
                  <a:txBody>
                    <a:bodyPr/>
                    <a:lstStyle/>
                    <a:p>
                      <a:pPr algn="ctr" indent="0" marL="0">
                        <a:buNone/>
                      </a:pPr>
                      <a:r>
                        <a:rPr lang="en-US" sz="1200" b="1" dirty="0">
                          <a:solidFill>
                            <a:srgbClr val="C084FC"/>
                          </a:solidFill>
                          <a:latin typeface="Calibri" pitchFamily="34" charset="0"/>
                          <a:ea typeface="Calibri" pitchFamily="34" charset="-122"/>
                          <a:cs typeface="Calibri" pitchFamily="34" charset="-120"/>
                        </a:rPr>
                        <a:t>Unbounded</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33B"/>
                    </a:solidFill>
                  </a:tcPr>
                </a:tc>
                <a:tc>
                  <a:txBody>
                    <a:bodyPr/>
                    <a:lstStyle/>
                    <a:p>
                      <a:pPr algn="ctr" indent="0" marL="0">
                        <a:buNone/>
                      </a:pPr>
                      <a:r>
                        <a:rPr lang="en-US" sz="1200" dirty="0">
                          <a:solidFill>
                            <a:srgbClr val="F1F5F9"/>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33B"/>
                    </a:solidFill>
                  </a:tcPr>
                </a:tc>
                <a:tc>
                  <a:txBody>
                    <a:bodyPr/>
                    <a:lstStyle/>
                    <a:p>
                      <a:pPr algn="ctr" indent="0" marL="0">
                        <a:buNone/>
                      </a:pPr>
                      <a:r>
                        <a:rPr lang="en-US" sz="1200" dirty="0">
                          <a:solidFill>
                            <a:srgbClr val="F1F5F9"/>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33B"/>
                    </a:solidFill>
                  </a:tcPr>
                </a:tc>
                <a:tc>
                  <a:txBody>
                    <a:bodyPr/>
                    <a:lstStyle/>
                    <a:p>
                      <a:pPr algn="ctr" indent="0" marL="0">
                        <a:buNone/>
                      </a:pPr>
                      <a:r>
                        <a:rPr lang="en-US" sz="1200" dirty="0">
                          <a:solidFill>
                            <a:srgbClr val="F1F5F9"/>
                          </a:solidFill>
                          <a:latin typeface="Calibri" pitchFamily="34" charset="0"/>
                          <a:ea typeface="Calibri" pitchFamily="34" charset="-122"/>
                          <a:cs typeface="Calibri" pitchFamily="34" charset="-120"/>
                        </a:rPr>
                        <a:t>xᵢ = 0, 1, 2, …</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33B"/>
                    </a:solidFill>
                  </a:tcPr>
                </a:tc>
                <a:tc>
                  <a:txBody>
                    <a:bodyPr/>
                    <a:lstStyle/>
                    <a:p>
                      <a:pPr algn="ctr" indent="0" marL="0">
                        <a:buNone/>
                      </a:pPr>
                      <a:r>
                        <a:rPr lang="en-US" sz="1200" dirty="0">
                          <a:solidFill>
                            <a:srgbClr val="F1F5F9"/>
                          </a:solidFill>
                          <a:latin typeface="Calibri" pitchFamily="34" charset="0"/>
                          <a:ea typeface="Calibri" pitchFamily="34" charset="-122"/>
                          <a:cs typeface="Calibri" pitchFamily="34" charset="-120"/>
                        </a:rPr>
                        <a:t>Dynamic programming</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33B"/>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7315200" y="45720"/>
            <a:ext cx="1554480" cy="1005840"/>
          </a:xfrm>
          <a:prstGeom prst="rect">
            <a:avLst/>
          </a:prstGeom>
          <a:noFill/>
          <a:ln/>
        </p:spPr>
        <p:txBody>
          <a:bodyPr wrap="square" lIns="0" tIns="0" rIns="0" bIns="0" rtlCol="0" anchor="ctr"/>
          <a:lstStyle/>
          <a:p>
            <a:pPr algn="r" indent="0" marL="0">
              <a:buNone/>
            </a:pPr>
            <a:r>
              <a:rPr lang="en-US" sz="6600" b="1" dirty="0">
                <a:solidFill>
                  <a:srgbClr val="16233D"/>
                </a:solidFill>
                <a:latin typeface="Cambria" pitchFamily="34" charset="0"/>
                <a:ea typeface="Cambria" pitchFamily="34" charset="-122"/>
                <a:cs typeface="Cambria" pitchFamily="34" charset="-120"/>
              </a:rPr>
              <a:t>04</a:t>
            </a:r>
            <a:endParaRPr lang="en-US" sz="6600" dirty="0"/>
          </a:p>
        </p:txBody>
      </p:sp>
      <p:sp>
        <p:nvSpPr>
          <p:cNvPr id="3" name="Text 1"/>
          <p:cNvSpPr/>
          <p:nvPr/>
        </p:nvSpPr>
        <p:spPr>
          <a:xfrm>
            <a:off x="365760" y="228600"/>
            <a:ext cx="5486400" cy="228600"/>
          </a:xfrm>
          <a:prstGeom prst="rect">
            <a:avLst/>
          </a:prstGeom>
          <a:noFill/>
          <a:ln/>
        </p:spPr>
        <p:txBody>
          <a:bodyPr wrap="square" lIns="0" tIns="0" rIns="0" bIns="0" rtlCol="0" anchor="ctr"/>
          <a:lstStyle/>
          <a:p>
            <a:pPr indent="0" marL="0">
              <a:buNone/>
            </a:pPr>
            <a:r>
              <a:rPr lang="en-US" sz="1200" b="1" spc="400" kern="0" dirty="0">
                <a:solidFill>
                  <a:srgbClr val="2DD4BF"/>
                </a:solidFill>
                <a:latin typeface="Calibri" pitchFamily="34" charset="0"/>
                <a:ea typeface="Calibri" pitchFamily="34" charset="-122"/>
                <a:cs typeface="Calibri" pitchFamily="34" charset="-120"/>
              </a:rPr>
              <a:t>GREEDY METHOD</a:t>
            </a:r>
            <a:endParaRPr lang="en-US" sz="1200" dirty="0"/>
          </a:p>
        </p:txBody>
      </p:sp>
      <p:sp>
        <p:nvSpPr>
          <p:cNvPr id="4" name="Text 2"/>
          <p:cNvSpPr/>
          <p:nvPr/>
        </p:nvSpPr>
        <p:spPr>
          <a:xfrm>
            <a:off x="365760" y="457200"/>
            <a:ext cx="7498080" cy="594360"/>
          </a:xfrm>
          <a:prstGeom prst="rect">
            <a:avLst/>
          </a:prstGeom>
          <a:noFill/>
          <a:ln/>
        </p:spPr>
        <p:txBody>
          <a:bodyPr wrap="square" lIns="0" tIns="0" rIns="0" bIns="0" rtlCol="0" anchor="ctr"/>
          <a:lstStyle/>
          <a:p>
            <a:pPr indent="0" marL="0">
              <a:buNone/>
            </a:pPr>
            <a:r>
              <a:rPr lang="en-US" sz="2800" b="1" dirty="0">
                <a:solidFill>
                  <a:srgbClr val="F1F5F9"/>
                </a:solidFill>
                <a:latin typeface="Cambria" pitchFamily="34" charset="0"/>
                <a:ea typeface="Cambria" pitchFamily="34" charset="-122"/>
                <a:cs typeface="Cambria" pitchFamily="34" charset="-120"/>
              </a:rPr>
              <a:t>Fractional Knapsack: Greedy</a:t>
            </a:r>
            <a:endParaRPr lang="en-US" sz="2800" dirty="0"/>
          </a:p>
        </p:txBody>
      </p:sp>
      <p:sp>
        <p:nvSpPr>
          <p:cNvPr id="5" name="Shape 3"/>
          <p:cNvSpPr/>
          <p:nvPr/>
        </p:nvSpPr>
        <p:spPr>
          <a:xfrm>
            <a:off x="365760" y="1188720"/>
            <a:ext cx="3931920" cy="3566160"/>
          </a:xfrm>
          <a:prstGeom prst="roundRect">
            <a:avLst>
              <a:gd name="adj" fmla="val 2564"/>
            </a:avLst>
          </a:prstGeom>
          <a:solidFill>
            <a:srgbClr val="15233B"/>
          </a:solidFill>
          <a:ln w="12700">
            <a:solidFill>
              <a:srgbClr val="24365A"/>
            </a:solidFill>
            <a:prstDash val="solid"/>
          </a:ln>
        </p:spPr>
      </p:sp>
      <p:sp>
        <p:nvSpPr>
          <p:cNvPr id="6" name="Text 4"/>
          <p:cNvSpPr/>
          <p:nvPr/>
        </p:nvSpPr>
        <p:spPr>
          <a:xfrm>
            <a:off x="502920" y="1280160"/>
            <a:ext cx="3657600" cy="3383280"/>
          </a:xfrm>
          <a:prstGeom prst="rect">
            <a:avLst/>
          </a:prstGeom>
          <a:noFill/>
          <a:ln/>
        </p:spPr>
        <p:txBody>
          <a:bodyPr wrap="square" lIns="0" tIns="0" rIns="0" bIns="0" rtlCol="0" anchor="t"/>
          <a:lstStyle/>
          <a:p>
            <a:pPr indent="0" marL="0">
              <a:spcAft>
                <a:spcPts val="600"/>
              </a:spcAft>
              <a:buNone/>
            </a:pPr>
            <a:r>
              <a:rPr lang="en-US" sz="1300" dirty="0">
                <a:solidFill>
                  <a:srgbClr val="F1F5F9"/>
                </a:solidFill>
                <a:latin typeface="Calibri" pitchFamily="34" charset="0"/>
                <a:ea typeface="Calibri" pitchFamily="34" charset="-122"/>
                <a:cs typeface="Calibri" pitchFamily="34" charset="-120"/>
              </a:rPr>
              <a:t>1. Compute ratio rᵢ = vᵢ / wᵢ for every item</a:t>
            </a:r>
            <a:endParaRPr lang="en-US" sz="1300" dirty="0"/>
          </a:p>
          <a:p>
            <a:pPr indent="0" marL="0">
              <a:spcAft>
                <a:spcPts val="600"/>
              </a:spcAft>
              <a:buNone/>
            </a:pPr>
            <a:r>
              <a:rPr lang="en-US" sz="1300" dirty="0">
                <a:solidFill>
                  <a:srgbClr val="F1F5F9"/>
                </a:solidFill>
                <a:latin typeface="Calibri" pitchFamily="34" charset="0"/>
                <a:ea typeface="Calibri" pitchFamily="34" charset="-122"/>
                <a:cs typeface="Calibri" pitchFamily="34" charset="-120"/>
              </a:rPr>
              <a:t>2. Sort items by ratio, highest first</a:t>
            </a:r>
            <a:endParaRPr lang="en-US" sz="1300" dirty="0"/>
          </a:p>
          <a:p>
            <a:pPr indent="0" marL="0">
              <a:spcAft>
                <a:spcPts val="600"/>
              </a:spcAft>
              <a:buNone/>
            </a:pPr>
            <a:r>
              <a:rPr lang="en-US" sz="1300" dirty="0">
                <a:solidFill>
                  <a:srgbClr val="F1F5F9"/>
                </a:solidFill>
                <a:latin typeface="Calibri" pitchFamily="34" charset="0"/>
                <a:ea typeface="Calibri" pitchFamily="34" charset="-122"/>
                <a:cs typeface="Calibri" pitchFamily="34" charset="-120"/>
              </a:rPr>
              <a:t>3. Start with an empty knapsack, capacity W</a:t>
            </a:r>
            <a:endParaRPr lang="en-US" sz="1300" dirty="0"/>
          </a:p>
          <a:p>
            <a:pPr indent="0" marL="0">
              <a:spcAft>
                <a:spcPts val="600"/>
              </a:spcAft>
              <a:buNone/>
            </a:pPr>
            <a:r>
              <a:rPr lang="en-US" sz="1300" dirty="0">
                <a:solidFill>
                  <a:srgbClr val="F1F5F9"/>
                </a:solidFill>
                <a:latin typeface="Calibri" pitchFamily="34" charset="0"/>
                <a:ea typeface="Calibri" pitchFamily="34" charset="-122"/>
                <a:cs typeface="Calibri" pitchFamily="34" charset="-120"/>
              </a:rPr>
              <a:t>4. Take the highest-ratio item</a:t>
            </a:r>
            <a:endParaRPr lang="en-US" sz="1300" dirty="0"/>
          </a:p>
          <a:p>
            <a:pPr indent="0" marL="0">
              <a:spcAft>
                <a:spcPts val="600"/>
              </a:spcAft>
              <a:buNone/>
            </a:pPr>
            <a:r>
              <a:rPr lang="en-US" sz="1300" dirty="0">
                <a:solidFill>
                  <a:srgbClr val="F1F5F9"/>
                </a:solidFill>
                <a:latin typeface="Calibri" pitchFamily="34" charset="0"/>
                <a:ea typeface="Calibri" pitchFamily="34" charset="-122"/>
                <a:cs typeface="Calibri" pitchFamily="34" charset="-120"/>
              </a:rPr>
              <a:t>5. If it fits completely, take it all and subtract its weight</a:t>
            </a:r>
            <a:endParaRPr lang="en-US" sz="1300" dirty="0"/>
          </a:p>
          <a:p>
            <a:pPr indent="0" marL="0">
              <a:spcAft>
                <a:spcPts val="600"/>
              </a:spcAft>
              <a:buNone/>
            </a:pPr>
            <a:r>
              <a:rPr lang="en-US" sz="1300" dirty="0">
                <a:solidFill>
                  <a:srgbClr val="F1F5F9"/>
                </a:solidFill>
                <a:latin typeface="Calibri" pitchFamily="34" charset="0"/>
                <a:ea typeface="Calibri" pitchFamily="34" charset="-122"/>
                <a:cs typeface="Calibri" pitchFamily="34" charset="-120"/>
              </a:rPr>
              <a:t>6. If not, take only the fraction that fits</a:t>
            </a:r>
            <a:endParaRPr lang="en-US" sz="1300" dirty="0"/>
          </a:p>
          <a:p>
            <a:pPr indent="0" marL="0">
              <a:spcAft>
                <a:spcPts val="600"/>
              </a:spcAft>
              <a:buNone/>
            </a:pPr>
            <a:r>
              <a:rPr lang="en-US" sz="1300" dirty="0">
                <a:solidFill>
                  <a:srgbClr val="F1F5F9"/>
                </a:solidFill>
                <a:latin typeface="Calibri" pitchFamily="34" charset="0"/>
                <a:ea typeface="Calibri" pitchFamily="34" charset="-122"/>
                <a:cs typeface="Calibri" pitchFamily="34" charset="-120"/>
              </a:rPr>
              <a:t>7. Stop when full or no items remain</a:t>
            </a:r>
            <a:endParaRPr lang="en-US" sz="1300" dirty="0"/>
          </a:p>
        </p:txBody>
      </p:sp>
      <p:sp>
        <p:nvSpPr>
          <p:cNvPr id="7" name="Shape 5"/>
          <p:cNvSpPr/>
          <p:nvPr/>
        </p:nvSpPr>
        <p:spPr>
          <a:xfrm>
            <a:off x="4480560" y="1188720"/>
            <a:ext cx="4297680" cy="2103120"/>
          </a:xfrm>
          <a:prstGeom prst="roundRect">
            <a:avLst>
              <a:gd name="adj" fmla="val 4348"/>
            </a:avLst>
          </a:prstGeom>
          <a:solidFill>
            <a:srgbClr val="060B14"/>
          </a:solidFill>
          <a:ln w="12700">
            <a:solidFill>
              <a:srgbClr val="24365A"/>
            </a:solidFill>
            <a:prstDash val="solid"/>
          </a:ln>
        </p:spPr>
      </p:sp>
      <p:sp>
        <p:nvSpPr>
          <p:cNvPr id="8" name="Text 6"/>
          <p:cNvSpPr/>
          <p:nvPr/>
        </p:nvSpPr>
        <p:spPr>
          <a:xfrm>
            <a:off x="4617720" y="1280160"/>
            <a:ext cx="4023360" cy="1920240"/>
          </a:xfrm>
          <a:prstGeom prst="rect">
            <a:avLst/>
          </a:prstGeom>
          <a:noFill/>
          <a:ln/>
        </p:spPr>
        <p:txBody>
          <a:bodyPr wrap="square" lIns="0" tIns="0" rIns="0" bIns="0" rtlCol="0" anchor="t"/>
          <a:lstStyle/>
          <a:p>
            <a:pPr indent="0" marL="0">
              <a:buNone/>
            </a:pPr>
            <a:r>
              <a:rPr lang="en-US" sz="1150" dirty="0">
                <a:solidFill>
                  <a:srgbClr val="A7F3D0"/>
                </a:solidFill>
                <a:latin typeface="Courier New" pitchFamily="34" charset="0"/>
                <a:ea typeface="Courier New" pitchFamily="34" charset="-122"/>
                <a:cs typeface="Courier New" pitchFamily="34" charset="-120"/>
              </a:rPr>
              <a:t>FRACTIONAL-KNAPSACK(items, W):</a:t>
            </a:r>
            <a:endParaRPr lang="en-US" sz="1150" dirty="0"/>
          </a:p>
          <a:p>
            <a:pPr indent="0" marL="0">
              <a:buNone/>
            </a:pPr>
            <a:r>
              <a:rPr lang="en-US" sz="1150" dirty="0">
                <a:solidFill>
                  <a:srgbClr val="A7F3D0"/>
                </a:solidFill>
                <a:latin typeface="Courier New" pitchFamily="34" charset="0"/>
                <a:ea typeface="Courier New" pitchFamily="34" charset="-122"/>
                <a:cs typeface="Courier New" pitchFamily="34" charset="-120"/>
              </a:rPr>
              <a:t>  r[i] = val[i] / wt[i]  for all i</a:t>
            </a:r>
            <a:endParaRPr lang="en-US" sz="1150" dirty="0"/>
          </a:p>
          <a:p>
            <a:pPr indent="0" marL="0">
              <a:buNone/>
            </a:pPr>
            <a:r>
              <a:rPr lang="en-US" sz="1150" dirty="0">
                <a:solidFill>
                  <a:srgbClr val="A7F3D0"/>
                </a:solidFill>
                <a:latin typeface="Courier New" pitchFamily="34" charset="0"/>
                <a:ea typeface="Courier New" pitchFamily="34" charset="-122"/>
                <a:cs typeface="Courier New" pitchFamily="34" charset="-120"/>
              </a:rPr>
              <a:t>  sort items by r[i], descending</a:t>
            </a:r>
            <a:endParaRPr lang="en-US" sz="1150" dirty="0"/>
          </a:p>
          <a:p>
            <a:pPr indent="0" marL="0">
              <a:buNone/>
            </a:pPr>
            <a:r>
              <a:rPr lang="en-US" sz="1150" dirty="0">
                <a:solidFill>
                  <a:srgbClr val="A7F3D0"/>
                </a:solidFill>
                <a:latin typeface="Courier New" pitchFamily="34" charset="0"/>
                <a:ea typeface="Courier New" pitchFamily="34" charset="-122"/>
                <a:cs typeface="Courier New" pitchFamily="34" charset="-120"/>
              </a:rPr>
              <a:t>  remaining = W;  total = 0</a:t>
            </a:r>
            <a:endParaRPr lang="en-US" sz="1150" dirty="0"/>
          </a:p>
          <a:p>
            <a:pPr indent="0" marL="0">
              <a:buNone/>
            </a:pPr>
            <a:r>
              <a:rPr lang="en-US" sz="1150" dirty="0">
                <a:solidFill>
                  <a:srgbClr val="A7F3D0"/>
                </a:solidFill>
                <a:latin typeface="Courier New" pitchFamily="34" charset="0"/>
                <a:ea typeface="Courier New" pitchFamily="34" charset="-122"/>
                <a:cs typeface="Courier New" pitchFamily="34" charset="-120"/>
              </a:rPr>
              <a:t>  for each item i in sorted order:</a:t>
            </a:r>
            <a:endParaRPr lang="en-US" sz="1150" dirty="0"/>
          </a:p>
          <a:p>
            <a:pPr indent="0" marL="0">
              <a:buNone/>
            </a:pPr>
            <a:r>
              <a:rPr lang="en-US" sz="1150" dirty="0">
                <a:solidFill>
                  <a:srgbClr val="A7F3D0"/>
                </a:solidFill>
                <a:latin typeface="Courier New" pitchFamily="34" charset="0"/>
                <a:ea typeface="Courier New" pitchFamily="34" charset="-122"/>
                <a:cs typeface="Courier New" pitchFamily="34" charset="-120"/>
              </a:rPr>
              <a:t>    if wt[i] &lt;= remaining:</a:t>
            </a:r>
            <a:endParaRPr lang="en-US" sz="1150" dirty="0"/>
          </a:p>
          <a:p>
            <a:pPr indent="0" marL="0">
              <a:buNone/>
            </a:pPr>
            <a:r>
              <a:rPr lang="en-US" sz="1150" dirty="0">
                <a:solidFill>
                  <a:srgbClr val="A7F3D0"/>
                </a:solidFill>
                <a:latin typeface="Courier New" pitchFamily="34" charset="0"/>
                <a:ea typeface="Courier New" pitchFamily="34" charset="-122"/>
                <a:cs typeface="Courier New" pitchFamily="34" charset="-120"/>
              </a:rPr>
              <a:t>      total += val[i]</a:t>
            </a:r>
            <a:endParaRPr lang="en-US" sz="1150" dirty="0"/>
          </a:p>
          <a:p>
            <a:pPr indent="0" marL="0">
              <a:buNone/>
            </a:pPr>
            <a:r>
              <a:rPr lang="en-US" sz="1150" dirty="0">
                <a:solidFill>
                  <a:srgbClr val="A7F3D0"/>
                </a:solidFill>
                <a:latin typeface="Courier New" pitchFamily="34" charset="0"/>
                <a:ea typeface="Courier New" pitchFamily="34" charset="-122"/>
                <a:cs typeface="Courier New" pitchFamily="34" charset="-120"/>
              </a:rPr>
              <a:t>      remaining -= wt[i]</a:t>
            </a:r>
            <a:endParaRPr lang="en-US" sz="1150" dirty="0"/>
          </a:p>
          <a:p>
            <a:pPr indent="0" marL="0">
              <a:buNone/>
            </a:pPr>
            <a:r>
              <a:rPr lang="en-US" sz="1150" dirty="0">
                <a:solidFill>
                  <a:srgbClr val="A7F3D0"/>
                </a:solidFill>
                <a:latin typeface="Courier New" pitchFamily="34" charset="0"/>
                <a:ea typeface="Courier New" pitchFamily="34" charset="-122"/>
                <a:cs typeface="Courier New" pitchFamily="34" charset="-120"/>
              </a:rPr>
              <a:t>    else:</a:t>
            </a:r>
            <a:endParaRPr lang="en-US" sz="1150" dirty="0"/>
          </a:p>
          <a:p>
            <a:pPr indent="0" marL="0">
              <a:buNone/>
            </a:pPr>
            <a:r>
              <a:rPr lang="en-US" sz="1150" dirty="0">
                <a:solidFill>
                  <a:srgbClr val="A7F3D0"/>
                </a:solidFill>
                <a:latin typeface="Courier New" pitchFamily="34" charset="0"/>
                <a:ea typeface="Courier New" pitchFamily="34" charset="-122"/>
                <a:cs typeface="Courier New" pitchFamily="34" charset="-120"/>
              </a:rPr>
              <a:t>      total += r[i] * remaining</a:t>
            </a:r>
            <a:endParaRPr lang="en-US" sz="1150" dirty="0"/>
          </a:p>
          <a:p>
            <a:pPr indent="0" marL="0">
              <a:buNone/>
            </a:pPr>
            <a:r>
              <a:rPr lang="en-US" sz="1150" dirty="0">
                <a:solidFill>
                  <a:srgbClr val="A7F3D0"/>
                </a:solidFill>
                <a:latin typeface="Courier New" pitchFamily="34" charset="0"/>
                <a:ea typeface="Courier New" pitchFamily="34" charset="-122"/>
                <a:cs typeface="Courier New" pitchFamily="34" charset="-120"/>
              </a:rPr>
              <a:t>      break</a:t>
            </a:r>
            <a:endParaRPr lang="en-US" sz="1150" dirty="0"/>
          </a:p>
          <a:p>
            <a:pPr indent="0" marL="0">
              <a:buNone/>
            </a:pPr>
            <a:r>
              <a:rPr lang="en-US" sz="1150" dirty="0">
                <a:solidFill>
                  <a:srgbClr val="A7F3D0"/>
                </a:solidFill>
                <a:latin typeface="Courier New" pitchFamily="34" charset="0"/>
                <a:ea typeface="Courier New" pitchFamily="34" charset="-122"/>
                <a:cs typeface="Courier New" pitchFamily="34" charset="-120"/>
              </a:rPr>
              <a:t>  return total</a:t>
            </a:r>
            <a:endParaRPr lang="en-US" sz="1150" dirty="0"/>
          </a:p>
        </p:txBody>
      </p:sp>
      <p:sp>
        <p:nvSpPr>
          <p:cNvPr id="9" name="Shape 7"/>
          <p:cNvSpPr/>
          <p:nvPr/>
        </p:nvSpPr>
        <p:spPr>
          <a:xfrm>
            <a:off x="4480560" y="3383280"/>
            <a:ext cx="4297680" cy="640080"/>
          </a:xfrm>
          <a:prstGeom prst="roundRect">
            <a:avLst>
              <a:gd name="adj" fmla="val 14286"/>
            </a:avLst>
          </a:prstGeom>
          <a:solidFill>
            <a:srgbClr val="15233B"/>
          </a:solidFill>
          <a:ln w="12700">
            <a:solidFill>
              <a:srgbClr val="4ADE80"/>
            </a:solidFill>
            <a:prstDash val="solid"/>
          </a:ln>
        </p:spPr>
      </p:sp>
      <p:sp>
        <p:nvSpPr>
          <p:cNvPr id="10" name="Text 8"/>
          <p:cNvSpPr/>
          <p:nvPr/>
        </p:nvSpPr>
        <p:spPr>
          <a:xfrm>
            <a:off x="4617720" y="3410712"/>
            <a:ext cx="4023360" cy="594360"/>
          </a:xfrm>
          <a:prstGeom prst="rect">
            <a:avLst/>
          </a:prstGeom>
          <a:noFill/>
          <a:ln/>
        </p:spPr>
        <p:txBody>
          <a:bodyPr wrap="square" lIns="0" tIns="0" rIns="0" bIns="0" rtlCol="0" anchor="ctr"/>
          <a:lstStyle/>
          <a:p>
            <a:pPr indent="0" marL="0">
              <a:buNone/>
            </a:pPr>
            <a:r>
              <a:rPr lang="en-US" sz="1200" b="1" dirty="0">
                <a:solidFill>
                  <a:srgbClr val="4ADE80"/>
                </a:solidFill>
                <a:latin typeface="Calibri" pitchFamily="34" charset="0"/>
                <a:ea typeface="Calibri" pitchFamily="34" charset="-122"/>
                <a:cs typeface="Calibri" pitchFamily="34" charset="-120"/>
              </a:rPr>
              <a:t>Why optimal: </a:t>
            </a:r>
            <a:pPr indent="0" marL="0">
              <a:buNone/>
            </a:pPr>
            <a:r>
              <a:rPr lang="en-US" sz="1200" dirty="0">
                <a:solidFill>
                  <a:srgbClr val="F1F5F9"/>
                </a:solidFill>
                <a:latin typeface="Calibri" pitchFamily="34" charset="0"/>
                <a:ea typeface="Calibri" pitchFamily="34" charset="-122"/>
                <a:cs typeface="Calibri" pitchFamily="34" charset="-120"/>
              </a:rPr>
              <a:t>each kg is filled with the best value per kg available, so no swap can improve it.</a:t>
            </a:r>
            <a:endParaRPr lang="en-US" sz="1200" dirty="0"/>
          </a:p>
        </p:txBody>
      </p:sp>
      <p:sp>
        <p:nvSpPr>
          <p:cNvPr id="11" name="Shape 9"/>
          <p:cNvSpPr/>
          <p:nvPr/>
        </p:nvSpPr>
        <p:spPr>
          <a:xfrm>
            <a:off x="4480560" y="4114800"/>
            <a:ext cx="4297680" cy="640080"/>
          </a:xfrm>
          <a:prstGeom prst="roundRect">
            <a:avLst>
              <a:gd name="adj" fmla="val 14286"/>
            </a:avLst>
          </a:prstGeom>
          <a:solidFill>
            <a:srgbClr val="15233B"/>
          </a:solidFill>
          <a:ln w="12700">
            <a:solidFill>
              <a:srgbClr val="FB7185"/>
            </a:solidFill>
            <a:prstDash val="solid"/>
          </a:ln>
        </p:spPr>
      </p:sp>
      <p:sp>
        <p:nvSpPr>
          <p:cNvPr id="12" name="Text 10"/>
          <p:cNvSpPr/>
          <p:nvPr/>
        </p:nvSpPr>
        <p:spPr>
          <a:xfrm>
            <a:off x="4617720" y="4142232"/>
            <a:ext cx="4023360" cy="594360"/>
          </a:xfrm>
          <a:prstGeom prst="rect">
            <a:avLst/>
          </a:prstGeom>
          <a:noFill/>
          <a:ln/>
        </p:spPr>
        <p:txBody>
          <a:bodyPr wrap="square" lIns="0" tIns="0" rIns="0" bIns="0" rtlCol="0" anchor="ctr"/>
          <a:lstStyle/>
          <a:p>
            <a:pPr indent="0" marL="0">
              <a:buNone/>
            </a:pPr>
            <a:r>
              <a:rPr lang="en-US" sz="1200" b="1" dirty="0">
                <a:solidFill>
                  <a:srgbClr val="FB7185"/>
                </a:solidFill>
                <a:latin typeface="Calibri" pitchFamily="34" charset="0"/>
                <a:ea typeface="Calibri" pitchFamily="34" charset="-122"/>
                <a:cs typeface="Calibri" pitchFamily="34" charset="-120"/>
              </a:rPr>
              <a:t>Not safe for 0/1: </a:t>
            </a:r>
            <a:pPr indent="0" marL="0">
              <a:buNone/>
            </a:pPr>
            <a:r>
              <a:rPr lang="en-US" sz="1200" dirty="0">
                <a:solidFill>
                  <a:srgbClr val="F1F5F9"/>
                </a:solidFill>
                <a:latin typeface="Calibri" pitchFamily="34" charset="0"/>
                <a:ea typeface="Calibri" pitchFamily="34" charset="-122"/>
                <a:cs typeface="Calibri" pitchFamily="34" charset="-120"/>
              </a:rPr>
              <a:t>W=50, A(10,60) B(20,100) C(30,120): greedy gives A+B = 160, but B+C = 220.</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7315200" y="45720"/>
            <a:ext cx="1554480" cy="1005840"/>
          </a:xfrm>
          <a:prstGeom prst="rect">
            <a:avLst/>
          </a:prstGeom>
          <a:noFill/>
          <a:ln/>
        </p:spPr>
        <p:txBody>
          <a:bodyPr wrap="square" lIns="0" tIns="0" rIns="0" bIns="0" rtlCol="0" anchor="ctr"/>
          <a:lstStyle/>
          <a:p>
            <a:pPr algn="r" indent="0" marL="0">
              <a:buNone/>
            </a:pPr>
            <a:r>
              <a:rPr lang="en-US" sz="6600" b="1" dirty="0">
                <a:solidFill>
                  <a:srgbClr val="16233D"/>
                </a:solidFill>
                <a:latin typeface="Cambria" pitchFamily="34" charset="0"/>
                <a:ea typeface="Cambria" pitchFamily="34" charset="-122"/>
                <a:cs typeface="Cambria" pitchFamily="34" charset="-120"/>
              </a:rPr>
              <a:t>05</a:t>
            </a:r>
            <a:endParaRPr lang="en-US" sz="6600" dirty="0"/>
          </a:p>
        </p:txBody>
      </p:sp>
      <p:sp>
        <p:nvSpPr>
          <p:cNvPr id="3" name="Text 1"/>
          <p:cNvSpPr/>
          <p:nvPr/>
        </p:nvSpPr>
        <p:spPr>
          <a:xfrm>
            <a:off x="365760" y="228600"/>
            <a:ext cx="5486400" cy="228600"/>
          </a:xfrm>
          <a:prstGeom prst="rect">
            <a:avLst/>
          </a:prstGeom>
          <a:noFill/>
          <a:ln/>
        </p:spPr>
        <p:txBody>
          <a:bodyPr wrap="square" lIns="0" tIns="0" rIns="0" bIns="0" rtlCol="0" anchor="ctr"/>
          <a:lstStyle/>
          <a:p>
            <a:pPr indent="0" marL="0">
              <a:buNone/>
            </a:pPr>
            <a:r>
              <a:rPr lang="en-US" sz="1200" b="1" spc="400" kern="0" dirty="0">
                <a:solidFill>
                  <a:srgbClr val="2DD4BF"/>
                </a:solidFill>
                <a:latin typeface="Calibri" pitchFamily="34" charset="0"/>
                <a:ea typeface="Calibri" pitchFamily="34" charset="-122"/>
                <a:cs typeface="Calibri" pitchFamily="34" charset="-120"/>
              </a:rPr>
              <a:t>WORKED EXAMPLE</a:t>
            </a:r>
            <a:endParaRPr lang="en-US" sz="1200" dirty="0"/>
          </a:p>
        </p:txBody>
      </p:sp>
      <p:sp>
        <p:nvSpPr>
          <p:cNvPr id="4" name="Text 2"/>
          <p:cNvSpPr/>
          <p:nvPr/>
        </p:nvSpPr>
        <p:spPr>
          <a:xfrm>
            <a:off x="365760" y="457200"/>
            <a:ext cx="7498080" cy="594360"/>
          </a:xfrm>
          <a:prstGeom prst="rect">
            <a:avLst/>
          </a:prstGeom>
          <a:noFill/>
          <a:ln/>
        </p:spPr>
        <p:txBody>
          <a:bodyPr wrap="square" lIns="0" tIns="0" rIns="0" bIns="0" rtlCol="0" anchor="ctr"/>
          <a:lstStyle/>
          <a:p>
            <a:pPr indent="0" marL="0">
              <a:buNone/>
            </a:pPr>
            <a:r>
              <a:rPr lang="en-US" sz="2800" b="1" dirty="0">
                <a:solidFill>
                  <a:srgbClr val="F1F5F9"/>
                </a:solidFill>
                <a:latin typeface="Cambria" pitchFamily="34" charset="0"/>
                <a:ea typeface="Cambria" pitchFamily="34" charset="-122"/>
                <a:cs typeface="Cambria" pitchFamily="34" charset="-120"/>
              </a:rPr>
              <a:t>Fractional Knapsack: W = 50 kg</a:t>
            </a:r>
            <a:endParaRPr lang="en-US" sz="2800" dirty="0"/>
          </a:p>
        </p:txBody>
      </p:sp>
      <p:sp>
        <p:nvSpPr>
          <p:cNvPr id="5" name="Shape 3"/>
          <p:cNvSpPr/>
          <p:nvPr/>
        </p:nvSpPr>
        <p:spPr>
          <a:xfrm>
            <a:off x="365760" y="1188720"/>
            <a:ext cx="3657600" cy="3017520"/>
          </a:xfrm>
          <a:prstGeom prst="roundRect">
            <a:avLst>
              <a:gd name="adj" fmla="val 3030"/>
            </a:avLst>
          </a:prstGeom>
          <a:solidFill>
            <a:srgbClr val="15233B"/>
          </a:solidFill>
          <a:ln w="12700">
            <a:solidFill>
              <a:srgbClr val="24365A"/>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3474720" cy="914400"/>
        </p:xfrm>
        <a:graphic>
          <a:graphicData uri="http://schemas.openxmlformats.org/drawingml/2006/table">
            <a:tbl>
              <a:tblPr/>
              <a:tblGrid>
                <a:gridCol w="548640"/>
                <a:gridCol w="822960"/>
                <a:gridCol w="731520"/>
                <a:gridCol w="1371600"/>
              </a:tblGrid>
              <a:tr h="329184">
                <a:tc>
                  <a:txBody>
                    <a:bodyPr/>
                    <a:lstStyle/>
                    <a:p>
                      <a:pPr algn="ctr" indent="0" marL="0">
                        <a:buNone/>
                      </a:pPr>
                      <a:r>
                        <a:rPr lang="en-US" sz="1200" b="1" dirty="0">
                          <a:solidFill>
                            <a:srgbClr val="0B1220"/>
                          </a:solidFill>
                          <a:latin typeface="Calibri" pitchFamily="34" charset="0"/>
                          <a:ea typeface="Calibri" pitchFamily="34" charset="-122"/>
                          <a:cs typeface="Calibri" pitchFamily="34" charset="-120"/>
                        </a:rPr>
                        <a:t>Item</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2DD4BF"/>
                    </a:solidFill>
                  </a:tcPr>
                </a:tc>
                <a:tc>
                  <a:txBody>
                    <a:bodyPr/>
                    <a:lstStyle/>
                    <a:p>
                      <a:pPr algn="ctr" indent="0" marL="0">
                        <a:buNone/>
                      </a:pPr>
                      <a:r>
                        <a:rPr lang="en-US" sz="1200" b="1" dirty="0">
                          <a:solidFill>
                            <a:srgbClr val="0B1220"/>
                          </a:solidFill>
                          <a:latin typeface="Calibri" pitchFamily="34" charset="0"/>
                          <a:ea typeface="Calibri" pitchFamily="34" charset="-122"/>
                          <a:cs typeface="Calibri" pitchFamily="34" charset="-120"/>
                        </a:rPr>
                        <a:t>Weight</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2DD4BF"/>
                    </a:solidFill>
                  </a:tcPr>
                </a:tc>
                <a:tc>
                  <a:txBody>
                    <a:bodyPr/>
                    <a:lstStyle/>
                    <a:p>
                      <a:pPr algn="ctr" indent="0" marL="0">
                        <a:buNone/>
                      </a:pPr>
                      <a:r>
                        <a:rPr lang="en-US" sz="1200" b="1" dirty="0">
                          <a:solidFill>
                            <a:srgbClr val="0B1220"/>
                          </a:solidFill>
                          <a:latin typeface="Calibri" pitchFamily="34" charset="0"/>
                          <a:ea typeface="Calibri" pitchFamily="34" charset="-122"/>
                          <a:cs typeface="Calibri" pitchFamily="34" charset="-120"/>
                        </a:rPr>
                        <a:t>Value</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2DD4BF"/>
                    </a:solidFill>
                  </a:tcPr>
                </a:tc>
                <a:tc>
                  <a:txBody>
                    <a:bodyPr/>
                    <a:lstStyle/>
                    <a:p>
                      <a:pPr algn="ctr" indent="0" marL="0">
                        <a:buNone/>
                      </a:pPr>
                      <a:r>
                        <a:rPr lang="en-US" sz="1200" b="1" dirty="0">
                          <a:solidFill>
                            <a:srgbClr val="0B1220"/>
                          </a:solidFill>
                          <a:latin typeface="Calibri" pitchFamily="34" charset="0"/>
                          <a:ea typeface="Calibri" pitchFamily="34" charset="-122"/>
                          <a:cs typeface="Calibri" pitchFamily="34" charset="-120"/>
                        </a:rPr>
                        <a:t>v / w</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2DD4BF"/>
                    </a:solidFill>
                  </a:tcPr>
                </a:tc>
              </a:tr>
              <a:tr h="329184">
                <a:tc>
                  <a:txBody>
                    <a:bodyPr/>
                    <a:lstStyle/>
                    <a:p>
                      <a:pPr algn="ctr" indent="0" marL="0">
                        <a:buNone/>
                      </a:pPr>
                      <a:r>
                        <a:rPr lang="en-US" sz="1200" b="1" dirty="0">
                          <a:solidFill>
                            <a:srgbClr val="2DD4BF"/>
                          </a:solidFill>
                          <a:latin typeface="Calibri" pitchFamily="34" charset="0"/>
                          <a:ea typeface="Calibri" pitchFamily="34" charset="-122"/>
                          <a:cs typeface="Calibri" pitchFamily="34" charset="-120"/>
                        </a:rPr>
                        <a:t>A</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33B"/>
                    </a:solidFill>
                  </a:tcPr>
                </a:tc>
                <a:tc>
                  <a:txBody>
                    <a:bodyPr/>
                    <a:lstStyle/>
                    <a:p>
                      <a:pPr algn="ctr" indent="0" marL="0">
                        <a:buNone/>
                      </a:pPr>
                      <a:r>
                        <a:rPr lang="en-US" sz="1200" dirty="0">
                          <a:solidFill>
                            <a:srgbClr val="60A5FA"/>
                          </a:solidFill>
                          <a:latin typeface="Calibri" pitchFamily="34" charset="0"/>
                          <a:ea typeface="Calibri" pitchFamily="34" charset="-122"/>
                          <a:cs typeface="Calibri" pitchFamily="34" charset="-120"/>
                        </a:rPr>
                        <a:t>10 kg</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33B"/>
                    </a:solidFill>
                  </a:tcPr>
                </a:tc>
                <a:tc>
                  <a:txBody>
                    <a:bodyPr/>
                    <a:lstStyle/>
                    <a:p>
                      <a:pPr algn="ctr" indent="0" marL="0">
                        <a:buNone/>
                      </a:pPr>
                      <a:r>
                        <a:rPr lang="en-US" sz="1200" dirty="0">
                          <a:solidFill>
                            <a:srgbClr val="FBBF24"/>
                          </a:solidFill>
                          <a:latin typeface="Calibri" pitchFamily="34" charset="0"/>
                          <a:ea typeface="Calibri" pitchFamily="34" charset="-122"/>
                          <a:cs typeface="Calibri" pitchFamily="34" charset="-120"/>
                        </a:rPr>
                        <a:t>60</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33B"/>
                    </a:solidFill>
                  </a:tcPr>
                </a:tc>
                <a:tc>
                  <a:txBody>
                    <a:bodyPr/>
                    <a:lstStyle/>
                    <a:p>
                      <a:pPr algn="ctr" indent="0" marL="0">
                        <a:buNone/>
                      </a:pPr>
                      <a:r>
                        <a:rPr lang="en-US" sz="1200" dirty="0">
                          <a:solidFill>
                            <a:srgbClr val="F1F5F9"/>
                          </a:solidFill>
                          <a:latin typeface="Calibri" pitchFamily="34" charset="0"/>
                          <a:ea typeface="Calibri" pitchFamily="34" charset="-122"/>
                          <a:cs typeface="Calibri" pitchFamily="34" charset="-120"/>
                        </a:rPr>
                        <a:t>60/10 = 6</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33B"/>
                    </a:solidFill>
                  </a:tcPr>
                </a:tc>
              </a:tr>
              <a:tr h="329184">
                <a:tc>
                  <a:txBody>
                    <a:bodyPr/>
                    <a:lstStyle/>
                    <a:p>
                      <a:pPr algn="ctr" indent="0" marL="0">
                        <a:buNone/>
                      </a:pPr>
                      <a:r>
                        <a:rPr lang="en-US" sz="1200" b="1" dirty="0">
                          <a:solidFill>
                            <a:srgbClr val="60A5FA"/>
                          </a:solidFill>
                          <a:latin typeface="Calibri" pitchFamily="34" charset="0"/>
                          <a:ea typeface="Calibri" pitchFamily="34" charset="-122"/>
                          <a:cs typeface="Calibri" pitchFamily="34" charset="-120"/>
                        </a:rPr>
                        <a:t>B</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33B"/>
                    </a:solidFill>
                  </a:tcPr>
                </a:tc>
                <a:tc>
                  <a:txBody>
                    <a:bodyPr/>
                    <a:lstStyle/>
                    <a:p>
                      <a:pPr algn="ctr" indent="0" marL="0">
                        <a:buNone/>
                      </a:pPr>
                      <a:r>
                        <a:rPr lang="en-US" sz="1200" dirty="0">
                          <a:solidFill>
                            <a:srgbClr val="60A5FA"/>
                          </a:solidFill>
                          <a:latin typeface="Calibri" pitchFamily="34" charset="0"/>
                          <a:ea typeface="Calibri" pitchFamily="34" charset="-122"/>
                          <a:cs typeface="Calibri" pitchFamily="34" charset="-120"/>
                        </a:rPr>
                        <a:t>20 kg</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33B"/>
                    </a:solidFill>
                  </a:tcPr>
                </a:tc>
                <a:tc>
                  <a:txBody>
                    <a:bodyPr/>
                    <a:lstStyle/>
                    <a:p>
                      <a:pPr algn="ctr" indent="0" marL="0">
                        <a:buNone/>
                      </a:pPr>
                      <a:r>
                        <a:rPr lang="en-US" sz="1200" dirty="0">
                          <a:solidFill>
                            <a:srgbClr val="FBBF24"/>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33B"/>
                    </a:solidFill>
                  </a:tcPr>
                </a:tc>
                <a:tc>
                  <a:txBody>
                    <a:bodyPr/>
                    <a:lstStyle/>
                    <a:p>
                      <a:pPr algn="ctr" indent="0" marL="0">
                        <a:buNone/>
                      </a:pPr>
                      <a:r>
                        <a:rPr lang="en-US" sz="1200" dirty="0">
                          <a:solidFill>
                            <a:srgbClr val="F1F5F9"/>
                          </a:solidFill>
                          <a:latin typeface="Calibri" pitchFamily="34" charset="0"/>
                          <a:ea typeface="Calibri" pitchFamily="34" charset="-122"/>
                          <a:cs typeface="Calibri" pitchFamily="34" charset="-120"/>
                        </a:rPr>
                        <a:t>100/20 = 5</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33B"/>
                    </a:solidFill>
                  </a:tcPr>
                </a:tc>
              </a:tr>
              <a:tr h="329184">
                <a:tc>
                  <a:txBody>
                    <a:bodyPr/>
                    <a:lstStyle/>
                    <a:p>
                      <a:pPr algn="ctr" indent="0" marL="0">
                        <a:buNone/>
                      </a:pPr>
                      <a:r>
                        <a:rPr lang="en-US" sz="1200" b="1" dirty="0">
                          <a:solidFill>
                            <a:srgbClr val="C084FC"/>
                          </a:solidFill>
                          <a:latin typeface="Calibri" pitchFamily="34" charset="0"/>
                          <a:ea typeface="Calibri" pitchFamily="34" charset="-122"/>
                          <a:cs typeface="Calibri" pitchFamily="34" charset="-120"/>
                        </a:rPr>
                        <a:t>C</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33B"/>
                    </a:solidFill>
                  </a:tcPr>
                </a:tc>
                <a:tc>
                  <a:txBody>
                    <a:bodyPr/>
                    <a:lstStyle/>
                    <a:p>
                      <a:pPr algn="ctr" indent="0" marL="0">
                        <a:buNone/>
                      </a:pPr>
                      <a:r>
                        <a:rPr lang="en-US" sz="1200" dirty="0">
                          <a:solidFill>
                            <a:srgbClr val="60A5FA"/>
                          </a:solidFill>
                          <a:latin typeface="Calibri" pitchFamily="34" charset="0"/>
                          <a:ea typeface="Calibri" pitchFamily="34" charset="-122"/>
                          <a:cs typeface="Calibri" pitchFamily="34" charset="-120"/>
                        </a:rPr>
                        <a:t>30 kg</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33B"/>
                    </a:solidFill>
                  </a:tcPr>
                </a:tc>
                <a:tc>
                  <a:txBody>
                    <a:bodyPr/>
                    <a:lstStyle/>
                    <a:p>
                      <a:pPr algn="ctr" indent="0" marL="0">
                        <a:buNone/>
                      </a:pPr>
                      <a:r>
                        <a:rPr lang="en-US" sz="1200" dirty="0">
                          <a:solidFill>
                            <a:srgbClr val="FBBF24"/>
                          </a:solidFill>
                          <a:latin typeface="Calibri" pitchFamily="34" charset="0"/>
                          <a:ea typeface="Calibri" pitchFamily="34" charset="-122"/>
                          <a:cs typeface="Calibri" pitchFamily="34" charset="-120"/>
                        </a:rPr>
                        <a:t>120</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33B"/>
                    </a:solidFill>
                  </a:tcPr>
                </a:tc>
                <a:tc>
                  <a:txBody>
                    <a:bodyPr/>
                    <a:lstStyle/>
                    <a:p>
                      <a:pPr algn="ctr" indent="0" marL="0">
                        <a:buNone/>
                      </a:pPr>
                      <a:r>
                        <a:rPr lang="en-US" sz="1200" dirty="0">
                          <a:solidFill>
                            <a:srgbClr val="F1F5F9"/>
                          </a:solidFill>
                          <a:latin typeface="Calibri" pitchFamily="34" charset="0"/>
                          <a:ea typeface="Calibri" pitchFamily="34" charset="-122"/>
                          <a:cs typeface="Calibri" pitchFamily="34" charset="-120"/>
                        </a:rPr>
                        <a:t>120/30 = 4</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33B"/>
                    </a:solidFill>
                  </a:tcPr>
                </a:tc>
              </a:tr>
            </a:tbl>
          </a:graphicData>
        </a:graphic>
      </p:graphicFrame>
      <p:sp>
        <p:nvSpPr>
          <p:cNvPr id="7" name="Text 4"/>
          <p:cNvSpPr/>
          <p:nvPr/>
        </p:nvSpPr>
        <p:spPr>
          <a:xfrm>
            <a:off x="457200" y="2743200"/>
            <a:ext cx="3474720" cy="141732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rgbClr val="F1F5F9"/>
                </a:solidFill>
                <a:latin typeface="Calibri" pitchFamily="34" charset="0"/>
                <a:ea typeface="Calibri" pitchFamily="34" charset="-122"/>
                <a:cs typeface="Calibri" pitchFamily="34" charset="-120"/>
              </a:rPr>
              <a:t>Order by ratio: A, B, C</a:t>
            </a:r>
            <a:endParaRPr lang="en-US" sz="1200" dirty="0"/>
          </a:p>
          <a:p>
            <a:pPr marL="342900" indent="-342900">
              <a:spcAft>
                <a:spcPts val="300"/>
              </a:spcAft>
              <a:buSzPct val="100000"/>
              <a:buChar char="•"/>
            </a:pPr>
            <a:r>
              <a:rPr lang="en-US" sz="1200" dirty="0">
                <a:solidFill>
                  <a:srgbClr val="F1F5F9"/>
                </a:solidFill>
                <a:latin typeface="Calibri" pitchFamily="34" charset="0"/>
                <a:ea typeface="Calibri" pitchFamily="34" charset="-122"/>
                <a:cs typeface="Calibri" pitchFamily="34" charset="-120"/>
              </a:rPr>
              <a:t>A fits fully: left 50 − 10 = 40</a:t>
            </a:r>
            <a:endParaRPr lang="en-US" sz="1200" dirty="0"/>
          </a:p>
          <a:p>
            <a:pPr marL="342900" indent="-342900">
              <a:spcAft>
                <a:spcPts val="300"/>
              </a:spcAft>
              <a:buSzPct val="100000"/>
              <a:buChar char="•"/>
            </a:pPr>
            <a:r>
              <a:rPr lang="en-US" sz="1200" dirty="0">
                <a:solidFill>
                  <a:srgbClr val="F1F5F9"/>
                </a:solidFill>
                <a:latin typeface="Calibri" pitchFamily="34" charset="0"/>
                <a:ea typeface="Calibri" pitchFamily="34" charset="-122"/>
                <a:cs typeface="Calibri" pitchFamily="34" charset="-120"/>
              </a:rPr>
              <a:t>B fits fully: left 40 − 20 = 20</a:t>
            </a:r>
            <a:endParaRPr lang="en-US" sz="1200" dirty="0"/>
          </a:p>
          <a:p>
            <a:pPr marL="342900" indent="-342900">
              <a:spcAft>
                <a:spcPts val="300"/>
              </a:spcAft>
              <a:buSzPct val="100000"/>
              <a:buChar char="•"/>
            </a:pPr>
            <a:r>
              <a:rPr lang="en-US" sz="1200" dirty="0">
                <a:solidFill>
                  <a:srgbClr val="F1F5F9"/>
                </a:solidFill>
                <a:latin typeface="Calibri" pitchFamily="34" charset="0"/>
                <a:ea typeface="Calibri" pitchFamily="34" charset="-122"/>
                <a:cs typeface="Calibri" pitchFamily="34" charset="-120"/>
              </a:rPr>
              <a:t>C does not fit (30 &gt; 20): take 20/30 = 2/3 of C, value 120 × 20/30 = 80</a:t>
            </a:r>
            <a:endParaRPr lang="en-US" sz="1200" dirty="0"/>
          </a:p>
        </p:txBody>
      </p:sp>
      <p:sp>
        <p:nvSpPr>
          <p:cNvPr id="8" name="Shape 5"/>
          <p:cNvSpPr/>
          <p:nvPr/>
        </p:nvSpPr>
        <p:spPr>
          <a:xfrm>
            <a:off x="4206240" y="1188720"/>
            <a:ext cx="4572000" cy="3017520"/>
          </a:xfrm>
          <a:prstGeom prst="roundRect">
            <a:avLst>
              <a:gd name="adj" fmla="val 3030"/>
            </a:avLst>
          </a:prstGeom>
          <a:solidFill>
            <a:srgbClr val="15233B"/>
          </a:solidFill>
          <a:ln w="12700">
            <a:solidFill>
              <a:srgbClr val="24365A"/>
            </a:solidFill>
            <a:prstDash val="solid"/>
          </a:ln>
        </p:spPr>
      </p:sp>
      <p:sp>
        <p:nvSpPr>
          <p:cNvPr id="9" name="Text 6"/>
          <p:cNvSpPr/>
          <p:nvPr/>
        </p:nvSpPr>
        <p:spPr>
          <a:xfrm>
            <a:off x="4343400" y="1280160"/>
            <a:ext cx="4297680" cy="256032"/>
          </a:xfrm>
          <a:prstGeom prst="rect">
            <a:avLst/>
          </a:prstGeom>
          <a:noFill/>
          <a:ln/>
        </p:spPr>
        <p:txBody>
          <a:bodyPr wrap="square" lIns="0" tIns="0" rIns="0" bIns="0" rtlCol="0" anchor="t"/>
          <a:lstStyle/>
          <a:p>
            <a:pPr indent="0" marL="0">
              <a:buNone/>
            </a:pPr>
            <a:r>
              <a:rPr lang="en-US" sz="1250" b="1" dirty="0">
                <a:solidFill>
                  <a:srgbClr val="F1F5F9"/>
                </a:solidFill>
                <a:latin typeface="Calibri" pitchFamily="34" charset="0"/>
                <a:ea typeface="Calibri" pitchFamily="34" charset="-122"/>
                <a:cs typeface="Calibri" pitchFamily="34" charset="-120"/>
              </a:rPr>
              <a:t>Start   </a:t>
            </a:r>
            <a:pPr indent="0" marL="0">
              <a:buNone/>
            </a:pPr>
            <a:r>
              <a:rPr lang="en-US" sz="1250" b="1" dirty="0">
                <a:solidFill>
                  <a:srgbClr val="FBBF24"/>
                </a:solidFill>
                <a:latin typeface="Calibri" pitchFamily="34" charset="0"/>
                <a:ea typeface="Calibri" pitchFamily="34" charset="-122"/>
                <a:cs typeface="Calibri" pitchFamily="34" charset="-120"/>
              </a:rPr>
              <a:t>value 0</a:t>
            </a:r>
            <a:pPr indent="0" marL="0">
              <a:buNone/>
            </a:pPr>
            <a:r>
              <a:rPr lang="en-US" sz="1250" b="1" dirty="0">
                <a:solidFill>
                  <a:srgbClr val="C084FC"/>
                </a:solidFill>
                <a:latin typeface="Calibri" pitchFamily="34" charset="0"/>
                <a:ea typeface="Calibri" pitchFamily="34" charset="-122"/>
                <a:cs typeface="Calibri" pitchFamily="34" charset="-120"/>
              </a:rPr>
              <a:t>   left 50 kg</a:t>
            </a:r>
            <a:endParaRPr lang="en-US" sz="1250" dirty="0"/>
          </a:p>
        </p:txBody>
      </p:sp>
      <p:sp>
        <p:nvSpPr>
          <p:cNvPr id="10" name="Shape 7"/>
          <p:cNvSpPr/>
          <p:nvPr/>
        </p:nvSpPr>
        <p:spPr>
          <a:xfrm>
            <a:off x="4343400" y="1554480"/>
            <a:ext cx="4114800" cy="292608"/>
          </a:xfrm>
          <a:prstGeom prst="rect">
            <a:avLst/>
          </a:prstGeom>
          <a:solidFill>
            <a:srgbClr val="22324F"/>
          </a:solidFill>
          <a:ln w="12700">
            <a:solidFill>
              <a:srgbClr val="0B1220"/>
            </a:solidFill>
            <a:prstDash val="solid"/>
          </a:ln>
        </p:spPr>
      </p:sp>
      <p:sp>
        <p:nvSpPr>
          <p:cNvPr id="11" name="Text 8"/>
          <p:cNvSpPr/>
          <p:nvPr/>
        </p:nvSpPr>
        <p:spPr>
          <a:xfrm>
            <a:off x="4343400" y="2011680"/>
            <a:ext cx="4297680" cy="256032"/>
          </a:xfrm>
          <a:prstGeom prst="rect">
            <a:avLst/>
          </a:prstGeom>
          <a:noFill/>
          <a:ln/>
        </p:spPr>
        <p:txBody>
          <a:bodyPr wrap="square" lIns="0" tIns="0" rIns="0" bIns="0" rtlCol="0" anchor="t"/>
          <a:lstStyle/>
          <a:p>
            <a:pPr indent="0" marL="0">
              <a:buNone/>
            </a:pPr>
            <a:r>
              <a:rPr lang="en-US" sz="1250" b="1" dirty="0">
                <a:solidFill>
                  <a:srgbClr val="F1F5F9"/>
                </a:solidFill>
                <a:latin typeface="Calibri" pitchFamily="34" charset="0"/>
                <a:ea typeface="Calibri" pitchFamily="34" charset="-122"/>
                <a:cs typeface="Calibri" pitchFamily="34" charset="-120"/>
              </a:rPr>
              <a:t>Add A (10 kg)   </a:t>
            </a:r>
            <a:pPr indent="0" marL="0">
              <a:buNone/>
            </a:pPr>
            <a:r>
              <a:rPr lang="en-US" sz="1250" b="1" dirty="0">
                <a:solidFill>
                  <a:srgbClr val="FBBF24"/>
                </a:solidFill>
                <a:latin typeface="Calibri" pitchFamily="34" charset="0"/>
                <a:ea typeface="Calibri" pitchFamily="34" charset="-122"/>
                <a:cs typeface="Calibri" pitchFamily="34" charset="-120"/>
              </a:rPr>
              <a:t>value 60</a:t>
            </a:r>
            <a:pPr indent="0" marL="0">
              <a:buNone/>
            </a:pPr>
            <a:r>
              <a:rPr lang="en-US" sz="1250" b="1" dirty="0">
                <a:solidFill>
                  <a:srgbClr val="C084FC"/>
                </a:solidFill>
                <a:latin typeface="Calibri" pitchFamily="34" charset="0"/>
                <a:ea typeface="Calibri" pitchFamily="34" charset="-122"/>
                <a:cs typeface="Calibri" pitchFamily="34" charset="-120"/>
              </a:rPr>
              <a:t>   left 40 kg</a:t>
            </a:r>
            <a:endParaRPr lang="en-US" sz="1250" dirty="0"/>
          </a:p>
        </p:txBody>
      </p:sp>
      <p:sp>
        <p:nvSpPr>
          <p:cNvPr id="12" name="Shape 9"/>
          <p:cNvSpPr/>
          <p:nvPr/>
        </p:nvSpPr>
        <p:spPr>
          <a:xfrm>
            <a:off x="4343400" y="2286000"/>
            <a:ext cx="4114800" cy="292608"/>
          </a:xfrm>
          <a:prstGeom prst="rect">
            <a:avLst/>
          </a:prstGeom>
          <a:solidFill>
            <a:srgbClr val="22324F"/>
          </a:solidFill>
          <a:ln w="12700">
            <a:solidFill>
              <a:srgbClr val="0B1220"/>
            </a:solidFill>
            <a:prstDash val="solid"/>
          </a:ln>
        </p:spPr>
      </p:sp>
      <p:sp>
        <p:nvSpPr>
          <p:cNvPr id="13" name="Shape 10"/>
          <p:cNvSpPr/>
          <p:nvPr/>
        </p:nvSpPr>
        <p:spPr>
          <a:xfrm>
            <a:off x="4343400" y="2286000"/>
            <a:ext cx="822960" cy="292608"/>
          </a:xfrm>
          <a:prstGeom prst="rect">
            <a:avLst/>
          </a:prstGeom>
          <a:solidFill>
            <a:srgbClr val="2DD4BF"/>
          </a:solidFill>
          <a:ln w="12700">
            <a:solidFill>
              <a:srgbClr val="0B1220"/>
            </a:solidFill>
            <a:prstDash val="solid"/>
          </a:ln>
        </p:spPr>
      </p:sp>
      <p:sp>
        <p:nvSpPr>
          <p:cNvPr id="14" name="Text 11"/>
          <p:cNvSpPr/>
          <p:nvPr/>
        </p:nvSpPr>
        <p:spPr>
          <a:xfrm>
            <a:off x="4343400" y="2286000"/>
            <a:ext cx="822960" cy="292608"/>
          </a:xfrm>
          <a:prstGeom prst="rect">
            <a:avLst/>
          </a:prstGeom>
          <a:noFill/>
          <a:ln/>
        </p:spPr>
        <p:txBody>
          <a:bodyPr wrap="square" lIns="0" tIns="0" rIns="0" bIns="0" rtlCol="0" anchor="ctr"/>
          <a:lstStyle/>
          <a:p>
            <a:pPr algn="ctr" indent="0" marL="0">
              <a:buNone/>
            </a:pPr>
            <a:r>
              <a:rPr lang="en-US" sz="1200" b="1" dirty="0">
                <a:solidFill>
                  <a:srgbClr val="0B1220"/>
                </a:solidFill>
                <a:latin typeface="Calibri" pitchFamily="34" charset="0"/>
                <a:ea typeface="Calibri" pitchFamily="34" charset="-122"/>
                <a:cs typeface="Calibri" pitchFamily="34" charset="-120"/>
              </a:rPr>
              <a:t>A 10</a:t>
            </a:r>
            <a:endParaRPr lang="en-US" sz="1200" dirty="0"/>
          </a:p>
        </p:txBody>
      </p:sp>
      <p:sp>
        <p:nvSpPr>
          <p:cNvPr id="15" name="Text 12"/>
          <p:cNvSpPr/>
          <p:nvPr/>
        </p:nvSpPr>
        <p:spPr>
          <a:xfrm>
            <a:off x="4343400" y="2743200"/>
            <a:ext cx="4297680" cy="256032"/>
          </a:xfrm>
          <a:prstGeom prst="rect">
            <a:avLst/>
          </a:prstGeom>
          <a:noFill/>
          <a:ln/>
        </p:spPr>
        <p:txBody>
          <a:bodyPr wrap="square" lIns="0" tIns="0" rIns="0" bIns="0" rtlCol="0" anchor="t"/>
          <a:lstStyle/>
          <a:p>
            <a:pPr indent="0" marL="0">
              <a:buNone/>
            </a:pPr>
            <a:r>
              <a:rPr lang="en-US" sz="1250" b="1" dirty="0">
                <a:solidFill>
                  <a:srgbClr val="F1F5F9"/>
                </a:solidFill>
                <a:latin typeface="Calibri" pitchFamily="34" charset="0"/>
                <a:ea typeface="Calibri" pitchFamily="34" charset="-122"/>
                <a:cs typeface="Calibri" pitchFamily="34" charset="-120"/>
              </a:rPr>
              <a:t>Add B (20 kg)   </a:t>
            </a:r>
            <a:pPr indent="0" marL="0">
              <a:buNone/>
            </a:pPr>
            <a:r>
              <a:rPr lang="en-US" sz="1250" b="1" dirty="0">
                <a:solidFill>
                  <a:srgbClr val="FBBF24"/>
                </a:solidFill>
                <a:latin typeface="Calibri" pitchFamily="34" charset="0"/>
                <a:ea typeface="Calibri" pitchFamily="34" charset="-122"/>
                <a:cs typeface="Calibri" pitchFamily="34" charset="-120"/>
              </a:rPr>
              <a:t>value 160</a:t>
            </a:r>
            <a:pPr indent="0" marL="0">
              <a:buNone/>
            </a:pPr>
            <a:r>
              <a:rPr lang="en-US" sz="1250" b="1" dirty="0">
                <a:solidFill>
                  <a:srgbClr val="C084FC"/>
                </a:solidFill>
                <a:latin typeface="Calibri" pitchFamily="34" charset="0"/>
                <a:ea typeface="Calibri" pitchFamily="34" charset="-122"/>
                <a:cs typeface="Calibri" pitchFamily="34" charset="-120"/>
              </a:rPr>
              <a:t>   left 20 kg</a:t>
            </a:r>
            <a:endParaRPr lang="en-US" sz="1250" dirty="0"/>
          </a:p>
        </p:txBody>
      </p:sp>
      <p:sp>
        <p:nvSpPr>
          <p:cNvPr id="16" name="Shape 13"/>
          <p:cNvSpPr/>
          <p:nvPr/>
        </p:nvSpPr>
        <p:spPr>
          <a:xfrm>
            <a:off x="4343400" y="3017520"/>
            <a:ext cx="4114800" cy="292608"/>
          </a:xfrm>
          <a:prstGeom prst="rect">
            <a:avLst/>
          </a:prstGeom>
          <a:solidFill>
            <a:srgbClr val="22324F"/>
          </a:solidFill>
          <a:ln w="12700">
            <a:solidFill>
              <a:srgbClr val="0B1220"/>
            </a:solidFill>
            <a:prstDash val="solid"/>
          </a:ln>
        </p:spPr>
      </p:sp>
      <p:sp>
        <p:nvSpPr>
          <p:cNvPr id="17" name="Shape 14"/>
          <p:cNvSpPr/>
          <p:nvPr/>
        </p:nvSpPr>
        <p:spPr>
          <a:xfrm>
            <a:off x="4343400" y="3017520"/>
            <a:ext cx="822960" cy="292608"/>
          </a:xfrm>
          <a:prstGeom prst="rect">
            <a:avLst/>
          </a:prstGeom>
          <a:solidFill>
            <a:srgbClr val="2DD4BF"/>
          </a:solidFill>
          <a:ln w="12700">
            <a:solidFill>
              <a:srgbClr val="0B1220"/>
            </a:solidFill>
            <a:prstDash val="solid"/>
          </a:ln>
        </p:spPr>
      </p:sp>
      <p:sp>
        <p:nvSpPr>
          <p:cNvPr id="18" name="Text 15"/>
          <p:cNvSpPr/>
          <p:nvPr/>
        </p:nvSpPr>
        <p:spPr>
          <a:xfrm>
            <a:off x="4343400" y="3017520"/>
            <a:ext cx="822960" cy="292608"/>
          </a:xfrm>
          <a:prstGeom prst="rect">
            <a:avLst/>
          </a:prstGeom>
          <a:noFill/>
          <a:ln/>
        </p:spPr>
        <p:txBody>
          <a:bodyPr wrap="square" lIns="0" tIns="0" rIns="0" bIns="0" rtlCol="0" anchor="ctr"/>
          <a:lstStyle/>
          <a:p>
            <a:pPr algn="ctr" indent="0" marL="0">
              <a:buNone/>
            </a:pPr>
            <a:r>
              <a:rPr lang="en-US" sz="1200" b="1" dirty="0">
                <a:solidFill>
                  <a:srgbClr val="0B1220"/>
                </a:solidFill>
                <a:latin typeface="Calibri" pitchFamily="34" charset="0"/>
                <a:ea typeface="Calibri" pitchFamily="34" charset="-122"/>
                <a:cs typeface="Calibri" pitchFamily="34" charset="-120"/>
              </a:rPr>
              <a:t>A 10</a:t>
            </a:r>
            <a:endParaRPr lang="en-US" sz="1200" dirty="0"/>
          </a:p>
        </p:txBody>
      </p:sp>
      <p:sp>
        <p:nvSpPr>
          <p:cNvPr id="19" name="Shape 16"/>
          <p:cNvSpPr/>
          <p:nvPr/>
        </p:nvSpPr>
        <p:spPr>
          <a:xfrm>
            <a:off x="5166360" y="3017520"/>
            <a:ext cx="1645920" cy="292608"/>
          </a:xfrm>
          <a:prstGeom prst="rect">
            <a:avLst/>
          </a:prstGeom>
          <a:solidFill>
            <a:srgbClr val="60A5FA"/>
          </a:solidFill>
          <a:ln w="12700">
            <a:solidFill>
              <a:srgbClr val="0B1220"/>
            </a:solidFill>
            <a:prstDash val="solid"/>
          </a:ln>
        </p:spPr>
      </p:sp>
      <p:sp>
        <p:nvSpPr>
          <p:cNvPr id="20" name="Text 17"/>
          <p:cNvSpPr/>
          <p:nvPr/>
        </p:nvSpPr>
        <p:spPr>
          <a:xfrm>
            <a:off x="5166360" y="3017520"/>
            <a:ext cx="1645920" cy="292608"/>
          </a:xfrm>
          <a:prstGeom prst="rect">
            <a:avLst/>
          </a:prstGeom>
          <a:noFill/>
          <a:ln/>
        </p:spPr>
        <p:txBody>
          <a:bodyPr wrap="square" lIns="0" tIns="0" rIns="0" bIns="0" rtlCol="0" anchor="ctr"/>
          <a:lstStyle/>
          <a:p>
            <a:pPr algn="ctr" indent="0" marL="0">
              <a:buNone/>
            </a:pPr>
            <a:r>
              <a:rPr lang="en-US" sz="1200" b="1" dirty="0">
                <a:solidFill>
                  <a:srgbClr val="0B1220"/>
                </a:solidFill>
                <a:latin typeface="Calibri" pitchFamily="34" charset="0"/>
                <a:ea typeface="Calibri" pitchFamily="34" charset="-122"/>
                <a:cs typeface="Calibri" pitchFamily="34" charset="-120"/>
              </a:rPr>
              <a:t>B 20</a:t>
            </a:r>
            <a:endParaRPr lang="en-US" sz="1200" dirty="0"/>
          </a:p>
        </p:txBody>
      </p:sp>
      <p:sp>
        <p:nvSpPr>
          <p:cNvPr id="21" name="Text 18"/>
          <p:cNvSpPr/>
          <p:nvPr/>
        </p:nvSpPr>
        <p:spPr>
          <a:xfrm>
            <a:off x="4343400" y="3474720"/>
            <a:ext cx="4297680" cy="256032"/>
          </a:xfrm>
          <a:prstGeom prst="rect">
            <a:avLst/>
          </a:prstGeom>
          <a:noFill/>
          <a:ln/>
        </p:spPr>
        <p:txBody>
          <a:bodyPr wrap="square" lIns="0" tIns="0" rIns="0" bIns="0" rtlCol="0" anchor="t"/>
          <a:lstStyle/>
          <a:p>
            <a:pPr indent="0" marL="0">
              <a:buNone/>
            </a:pPr>
            <a:r>
              <a:rPr lang="en-US" sz="1250" b="1" dirty="0">
                <a:solidFill>
                  <a:srgbClr val="F1F5F9"/>
                </a:solidFill>
                <a:latin typeface="Calibri" pitchFamily="34" charset="0"/>
                <a:ea typeface="Calibri" pitchFamily="34" charset="-122"/>
                <a:cs typeface="Calibri" pitchFamily="34" charset="-120"/>
              </a:rPr>
              <a:t>Add 2/3 of C (20 kg)   </a:t>
            </a:r>
            <a:pPr indent="0" marL="0">
              <a:buNone/>
            </a:pPr>
            <a:r>
              <a:rPr lang="en-US" sz="1250" b="1" dirty="0">
                <a:solidFill>
                  <a:srgbClr val="FBBF24"/>
                </a:solidFill>
                <a:latin typeface="Calibri" pitchFamily="34" charset="0"/>
                <a:ea typeface="Calibri" pitchFamily="34" charset="-122"/>
                <a:cs typeface="Calibri" pitchFamily="34" charset="-120"/>
              </a:rPr>
              <a:t>value 240</a:t>
            </a:r>
            <a:pPr indent="0" marL="0">
              <a:buNone/>
            </a:pPr>
            <a:r>
              <a:rPr lang="en-US" sz="1250" b="1" dirty="0">
                <a:solidFill>
                  <a:srgbClr val="C084FC"/>
                </a:solidFill>
                <a:latin typeface="Calibri" pitchFamily="34" charset="0"/>
                <a:ea typeface="Calibri" pitchFamily="34" charset="-122"/>
                <a:cs typeface="Calibri" pitchFamily="34" charset="-120"/>
              </a:rPr>
              <a:t>   left 0 kg</a:t>
            </a:r>
            <a:endParaRPr lang="en-US" sz="1250" dirty="0"/>
          </a:p>
        </p:txBody>
      </p:sp>
      <p:sp>
        <p:nvSpPr>
          <p:cNvPr id="22" name="Shape 19"/>
          <p:cNvSpPr/>
          <p:nvPr/>
        </p:nvSpPr>
        <p:spPr>
          <a:xfrm>
            <a:off x="4343400" y="3749040"/>
            <a:ext cx="4114800" cy="292608"/>
          </a:xfrm>
          <a:prstGeom prst="rect">
            <a:avLst/>
          </a:prstGeom>
          <a:solidFill>
            <a:srgbClr val="22324F"/>
          </a:solidFill>
          <a:ln w="12700">
            <a:solidFill>
              <a:srgbClr val="0B1220"/>
            </a:solidFill>
            <a:prstDash val="solid"/>
          </a:ln>
        </p:spPr>
      </p:sp>
      <p:sp>
        <p:nvSpPr>
          <p:cNvPr id="23" name="Shape 20"/>
          <p:cNvSpPr/>
          <p:nvPr/>
        </p:nvSpPr>
        <p:spPr>
          <a:xfrm>
            <a:off x="4343400" y="3749040"/>
            <a:ext cx="822960" cy="292608"/>
          </a:xfrm>
          <a:prstGeom prst="rect">
            <a:avLst/>
          </a:prstGeom>
          <a:solidFill>
            <a:srgbClr val="2DD4BF"/>
          </a:solidFill>
          <a:ln w="12700">
            <a:solidFill>
              <a:srgbClr val="0B1220"/>
            </a:solidFill>
            <a:prstDash val="solid"/>
          </a:ln>
        </p:spPr>
      </p:sp>
      <p:sp>
        <p:nvSpPr>
          <p:cNvPr id="24" name="Text 21"/>
          <p:cNvSpPr/>
          <p:nvPr/>
        </p:nvSpPr>
        <p:spPr>
          <a:xfrm>
            <a:off x="4343400" y="3749040"/>
            <a:ext cx="822960" cy="292608"/>
          </a:xfrm>
          <a:prstGeom prst="rect">
            <a:avLst/>
          </a:prstGeom>
          <a:noFill/>
          <a:ln/>
        </p:spPr>
        <p:txBody>
          <a:bodyPr wrap="square" lIns="0" tIns="0" rIns="0" bIns="0" rtlCol="0" anchor="ctr"/>
          <a:lstStyle/>
          <a:p>
            <a:pPr algn="ctr" indent="0" marL="0">
              <a:buNone/>
            </a:pPr>
            <a:r>
              <a:rPr lang="en-US" sz="1200" b="1" dirty="0">
                <a:solidFill>
                  <a:srgbClr val="0B1220"/>
                </a:solidFill>
                <a:latin typeface="Calibri" pitchFamily="34" charset="0"/>
                <a:ea typeface="Calibri" pitchFamily="34" charset="-122"/>
                <a:cs typeface="Calibri" pitchFamily="34" charset="-120"/>
              </a:rPr>
              <a:t>A 10</a:t>
            </a:r>
            <a:endParaRPr lang="en-US" sz="1200" dirty="0"/>
          </a:p>
        </p:txBody>
      </p:sp>
      <p:sp>
        <p:nvSpPr>
          <p:cNvPr id="25" name="Shape 22"/>
          <p:cNvSpPr/>
          <p:nvPr/>
        </p:nvSpPr>
        <p:spPr>
          <a:xfrm>
            <a:off x="5166360" y="3749040"/>
            <a:ext cx="1645920" cy="292608"/>
          </a:xfrm>
          <a:prstGeom prst="rect">
            <a:avLst/>
          </a:prstGeom>
          <a:solidFill>
            <a:srgbClr val="60A5FA"/>
          </a:solidFill>
          <a:ln w="12700">
            <a:solidFill>
              <a:srgbClr val="0B1220"/>
            </a:solidFill>
            <a:prstDash val="solid"/>
          </a:ln>
        </p:spPr>
      </p:sp>
      <p:sp>
        <p:nvSpPr>
          <p:cNvPr id="26" name="Text 23"/>
          <p:cNvSpPr/>
          <p:nvPr/>
        </p:nvSpPr>
        <p:spPr>
          <a:xfrm>
            <a:off x="5166360" y="3749040"/>
            <a:ext cx="1645920" cy="292608"/>
          </a:xfrm>
          <a:prstGeom prst="rect">
            <a:avLst/>
          </a:prstGeom>
          <a:noFill/>
          <a:ln/>
        </p:spPr>
        <p:txBody>
          <a:bodyPr wrap="square" lIns="0" tIns="0" rIns="0" bIns="0" rtlCol="0" anchor="ctr"/>
          <a:lstStyle/>
          <a:p>
            <a:pPr algn="ctr" indent="0" marL="0">
              <a:buNone/>
            </a:pPr>
            <a:r>
              <a:rPr lang="en-US" sz="1200" b="1" dirty="0">
                <a:solidFill>
                  <a:srgbClr val="0B1220"/>
                </a:solidFill>
                <a:latin typeface="Calibri" pitchFamily="34" charset="0"/>
                <a:ea typeface="Calibri" pitchFamily="34" charset="-122"/>
                <a:cs typeface="Calibri" pitchFamily="34" charset="-120"/>
              </a:rPr>
              <a:t>B 20</a:t>
            </a:r>
            <a:endParaRPr lang="en-US" sz="1200" dirty="0"/>
          </a:p>
        </p:txBody>
      </p:sp>
      <p:sp>
        <p:nvSpPr>
          <p:cNvPr id="27" name="Shape 24"/>
          <p:cNvSpPr/>
          <p:nvPr/>
        </p:nvSpPr>
        <p:spPr>
          <a:xfrm>
            <a:off x="6812280" y="3749040"/>
            <a:ext cx="1645920" cy="292608"/>
          </a:xfrm>
          <a:prstGeom prst="rect">
            <a:avLst/>
          </a:prstGeom>
          <a:solidFill>
            <a:srgbClr val="C084FC"/>
          </a:solidFill>
          <a:ln w="12700">
            <a:solidFill>
              <a:srgbClr val="0B1220"/>
            </a:solidFill>
            <a:prstDash val="solid"/>
          </a:ln>
        </p:spPr>
      </p:sp>
      <p:sp>
        <p:nvSpPr>
          <p:cNvPr id="28" name="Text 25"/>
          <p:cNvSpPr/>
          <p:nvPr/>
        </p:nvSpPr>
        <p:spPr>
          <a:xfrm>
            <a:off x="6812280" y="3749040"/>
            <a:ext cx="1645920" cy="292608"/>
          </a:xfrm>
          <a:prstGeom prst="rect">
            <a:avLst/>
          </a:prstGeom>
          <a:noFill/>
          <a:ln/>
        </p:spPr>
        <p:txBody>
          <a:bodyPr wrap="square" lIns="0" tIns="0" rIns="0" bIns="0" rtlCol="0" anchor="ctr"/>
          <a:lstStyle/>
          <a:p>
            <a:pPr algn="ctr" indent="0" marL="0">
              <a:buNone/>
            </a:pPr>
            <a:r>
              <a:rPr lang="en-US" sz="1200" b="1" dirty="0">
                <a:solidFill>
                  <a:srgbClr val="0B1220"/>
                </a:solidFill>
                <a:latin typeface="Calibri" pitchFamily="34" charset="0"/>
                <a:ea typeface="Calibri" pitchFamily="34" charset="-122"/>
                <a:cs typeface="Calibri" pitchFamily="34" charset="-120"/>
              </a:rPr>
              <a:t>C 20</a:t>
            </a:r>
            <a:endParaRPr lang="en-US" sz="1200" dirty="0"/>
          </a:p>
        </p:txBody>
      </p:sp>
      <p:sp>
        <p:nvSpPr>
          <p:cNvPr id="29" name="Shape 26"/>
          <p:cNvSpPr/>
          <p:nvPr/>
        </p:nvSpPr>
        <p:spPr>
          <a:xfrm>
            <a:off x="365760" y="4297680"/>
            <a:ext cx="8412480" cy="548640"/>
          </a:xfrm>
          <a:prstGeom prst="roundRect">
            <a:avLst>
              <a:gd name="adj" fmla="val 16667"/>
            </a:avLst>
          </a:prstGeom>
          <a:solidFill>
            <a:srgbClr val="FBBF24"/>
          </a:solidFill>
          <a:ln w="12700">
            <a:solidFill>
              <a:srgbClr val="FBBF24"/>
            </a:solidFill>
            <a:prstDash val="solid"/>
          </a:ln>
        </p:spPr>
      </p:sp>
      <p:sp>
        <p:nvSpPr>
          <p:cNvPr id="30" name="Text 27"/>
          <p:cNvSpPr/>
          <p:nvPr/>
        </p:nvSpPr>
        <p:spPr>
          <a:xfrm>
            <a:off x="365760" y="4297680"/>
            <a:ext cx="8412480" cy="548640"/>
          </a:xfrm>
          <a:prstGeom prst="rect">
            <a:avLst/>
          </a:prstGeom>
          <a:noFill/>
          <a:ln/>
        </p:spPr>
        <p:txBody>
          <a:bodyPr wrap="square" lIns="0" tIns="0" rIns="0" bIns="0" rtlCol="0" anchor="ctr"/>
          <a:lstStyle/>
          <a:p>
            <a:pPr algn="ctr" indent="0" marL="0">
              <a:buNone/>
            </a:pPr>
            <a:r>
              <a:rPr lang="en-US" sz="2200" b="1" dirty="0">
                <a:solidFill>
                  <a:srgbClr val="0B1220"/>
                </a:solidFill>
                <a:latin typeface="Calibri" pitchFamily="34" charset="0"/>
                <a:ea typeface="Calibri" pitchFamily="34" charset="-122"/>
                <a:cs typeface="Calibri" pitchFamily="34" charset="-120"/>
              </a:rPr>
              <a:t>Maximum value = 240     (weight 10 + 20 + 20 = 50 kg)</a:t>
            </a:r>
            <a:endParaRPr lang="en-US" sz="2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7315200" y="45720"/>
            <a:ext cx="1554480" cy="1005840"/>
          </a:xfrm>
          <a:prstGeom prst="rect">
            <a:avLst/>
          </a:prstGeom>
          <a:noFill/>
          <a:ln/>
        </p:spPr>
        <p:txBody>
          <a:bodyPr wrap="square" lIns="0" tIns="0" rIns="0" bIns="0" rtlCol="0" anchor="ctr"/>
          <a:lstStyle/>
          <a:p>
            <a:pPr algn="r" indent="0" marL="0">
              <a:buNone/>
            </a:pPr>
            <a:r>
              <a:rPr lang="en-US" sz="6600" b="1" dirty="0">
                <a:solidFill>
                  <a:srgbClr val="16233D"/>
                </a:solidFill>
                <a:latin typeface="Cambria" pitchFamily="34" charset="0"/>
                <a:ea typeface="Cambria" pitchFamily="34" charset="-122"/>
                <a:cs typeface="Cambria" pitchFamily="34" charset="-120"/>
              </a:rPr>
              <a:t>06</a:t>
            </a:r>
            <a:endParaRPr lang="en-US" sz="6600" dirty="0"/>
          </a:p>
        </p:txBody>
      </p:sp>
      <p:sp>
        <p:nvSpPr>
          <p:cNvPr id="3" name="Text 1"/>
          <p:cNvSpPr/>
          <p:nvPr/>
        </p:nvSpPr>
        <p:spPr>
          <a:xfrm>
            <a:off x="365760" y="228600"/>
            <a:ext cx="5486400" cy="228600"/>
          </a:xfrm>
          <a:prstGeom prst="rect">
            <a:avLst/>
          </a:prstGeom>
          <a:noFill/>
          <a:ln/>
        </p:spPr>
        <p:txBody>
          <a:bodyPr wrap="square" lIns="0" tIns="0" rIns="0" bIns="0" rtlCol="0" anchor="ctr"/>
          <a:lstStyle/>
          <a:p>
            <a:pPr indent="0" marL="0">
              <a:buNone/>
            </a:pPr>
            <a:r>
              <a:rPr lang="en-US" sz="1200" b="1" spc="400" kern="0" dirty="0">
                <a:solidFill>
                  <a:srgbClr val="2DD4BF"/>
                </a:solidFill>
                <a:latin typeface="Calibri" pitchFamily="34" charset="0"/>
                <a:ea typeface="Calibri" pitchFamily="34" charset="-122"/>
                <a:cs typeface="Calibri" pitchFamily="34" charset="-120"/>
              </a:rPr>
              <a:t>DYNAMIC PROGRAMMING</a:t>
            </a:r>
            <a:endParaRPr lang="en-US" sz="1200" dirty="0"/>
          </a:p>
        </p:txBody>
      </p:sp>
      <p:sp>
        <p:nvSpPr>
          <p:cNvPr id="4" name="Text 2"/>
          <p:cNvSpPr/>
          <p:nvPr/>
        </p:nvSpPr>
        <p:spPr>
          <a:xfrm>
            <a:off x="365760" y="457200"/>
            <a:ext cx="7498080" cy="594360"/>
          </a:xfrm>
          <a:prstGeom prst="rect">
            <a:avLst/>
          </a:prstGeom>
          <a:noFill/>
          <a:ln/>
        </p:spPr>
        <p:txBody>
          <a:bodyPr wrap="square" lIns="0" tIns="0" rIns="0" bIns="0" rtlCol="0" anchor="ctr"/>
          <a:lstStyle/>
          <a:p>
            <a:pPr indent="0" marL="0">
              <a:buNone/>
            </a:pPr>
            <a:r>
              <a:rPr lang="en-US" sz="2800" b="1" dirty="0">
                <a:solidFill>
                  <a:srgbClr val="F1F5F9"/>
                </a:solidFill>
                <a:latin typeface="Cambria" pitchFamily="34" charset="0"/>
                <a:ea typeface="Cambria" pitchFamily="34" charset="-122"/>
                <a:cs typeface="Cambria" pitchFamily="34" charset="-120"/>
              </a:rPr>
              <a:t>0/1 Knapsack: DP Method</a:t>
            </a:r>
            <a:endParaRPr lang="en-US" sz="2800" dirty="0"/>
          </a:p>
        </p:txBody>
      </p:sp>
      <p:sp>
        <p:nvSpPr>
          <p:cNvPr id="5" name="Shape 3"/>
          <p:cNvSpPr/>
          <p:nvPr/>
        </p:nvSpPr>
        <p:spPr>
          <a:xfrm>
            <a:off x="365760" y="1188720"/>
            <a:ext cx="3840480" cy="1600200"/>
          </a:xfrm>
          <a:prstGeom prst="roundRect">
            <a:avLst>
              <a:gd name="adj" fmla="val 5714"/>
            </a:avLst>
          </a:prstGeom>
          <a:solidFill>
            <a:srgbClr val="15233B"/>
          </a:solidFill>
          <a:ln w="12700">
            <a:solidFill>
              <a:srgbClr val="24365A"/>
            </a:solidFill>
            <a:prstDash val="solid"/>
          </a:ln>
        </p:spPr>
      </p:sp>
      <p:sp>
        <p:nvSpPr>
          <p:cNvPr id="6" name="Text 4"/>
          <p:cNvSpPr/>
          <p:nvPr/>
        </p:nvSpPr>
        <p:spPr>
          <a:xfrm>
            <a:off x="502920" y="1252728"/>
            <a:ext cx="3566160" cy="274320"/>
          </a:xfrm>
          <a:prstGeom prst="rect">
            <a:avLst/>
          </a:prstGeom>
          <a:noFill/>
          <a:ln/>
        </p:spPr>
        <p:txBody>
          <a:bodyPr wrap="square" lIns="0" tIns="0" rIns="0" bIns="0" rtlCol="0" anchor="t"/>
          <a:lstStyle/>
          <a:p>
            <a:pPr indent="0" marL="0">
              <a:buNone/>
            </a:pPr>
            <a:r>
              <a:rPr lang="en-US" sz="1400" b="1" dirty="0">
                <a:solidFill>
                  <a:srgbClr val="2DD4BF"/>
                </a:solidFill>
                <a:latin typeface="Calibri" pitchFamily="34" charset="0"/>
                <a:ea typeface="Calibri" pitchFamily="34" charset="-122"/>
                <a:cs typeface="Calibri" pitchFamily="34" charset="-120"/>
              </a:rPr>
              <a:t>Why DP works</a:t>
            </a:r>
            <a:endParaRPr lang="en-US" sz="1400" dirty="0"/>
          </a:p>
        </p:txBody>
      </p:sp>
      <p:sp>
        <p:nvSpPr>
          <p:cNvPr id="7" name="Text 5"/>
          <p:cNvSpPr/>
          <p:nvPr/>
        </p:nvSpPr>
        <p:spPr>
          <a:xfrm>
            <a:off x="502920" y="1554480"/>
            <a:ext cx="3611880" cy="118872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rgbClr val="F1F5F9"/>
                </a:solidFill>
                <a:latin typeface="Calibri" pitchFamily="34" charset="0"/>
                <a:ea typeface="Calibri" pitchFamily="34" charset="-122"/>
                <a:cs typeface="Calibri" pitchFamily="34" charset="-120"/>
              </a:rPr>
              <a:t>Optimal substructure: best answer uses best sub-answers</a:t>
            </a:r>
            <a:endParaRPr lang="en-US" sz="1200" dirty="0"/>
          </a:p>
          <a:p>
            <a:pPr marL="342900" indent="-342900">
              <a:spcAft>
                <a:spcPts val="300"/>
              </a:spcAft>
              <a:buSzPct val="100000"/>
              <a:buChar char="•"/>
            </a:pPr>
            <a:r>
              <a:rPr lang="en-US" sz="1200" dirty="0">
                <a:solidFill>
                  <a:srgbClr val="F1F5F9"/>
                </a:solidFill>
                <a:latin typeface="Calibri" pitchFamily="34" charset="0"/>
                <a:ea typeface="Calibri" pitchFamily="34" charset="-122"/>
                <a:cs typeface="Calibri" pitchFamily="34" charset="-120"/>
              </a:rPr>
              <a:t>Overlapping subproblems: same (i, w) is needed again and again</a:t>
            </a:r>
            <a:endParaRPr lang="en-US" sz="1200" dirty="0"/>
          </a:p>
          <a:p>
            <a:pPr marL="342900" indent="-342900">
              <a:spcAft>
                <a:spcPts val="300"/>
              </a:spcAft>
              <a:buSzPct val="100000"/>
              <a:buChar char="•"/>
            </a:pPr>
            <a:r>
              <a:rPr lang="en-US" sz="1200" dirty="0">
                <a:solidFill>
                  <a:srgbClr val="F1F5F9"/>
                </a:solidFill>
                <a:latin typeface="Calibri" pitchFamily="34" charset="0"/>
                <a:ea typeface="Calibri" pitchFamily="34" charset="-122"/>
                <a:cs typeface="Calibri" pitchFamily="34" charset="-120"/>
              </a:rPr>
              <a:t>Store results in a table to avoid recomputing</a:t>
            </a:r>
            <a:endParaRPr lang="en-US" sz="1200" dirty="0"/>
          </a:p>
        </p:txBody>
      </p:sp>
      <p:sp>
        <p:nvSpPr>
          <p:cNvPr id="8" name="Shape 6"/>
          <p:cNvSpPr/>
          <p:nvPr/>
        </p:nvSpPr>
        <p:spPr>
          <a:xfrm>
            <a:off x="4389120" y="1188720"/>
            <a:ext cx="4389120" cy="1600200"/>
          </a:xfrm>
          <a:prstGeom prst="roundRect">
            <a:avLst>
              <a:gd name="adj" fmla="val 5714"/>
            </a:avLst>
          </a:prstGeom>
          <a:solidFill>
            <a:srgbClr val="15233B"/>
          </a:solidFill>
          <a:ln w="12700">
            <a:solidFill>
              <a:srgbClr val="2DD4BF"/>
            </a:solidFill>
            <a:prstDash val="solid"/>
          </a:ln>
        </p:spPr>
      </p:sp>
      <p:sp>
        <p:nvSpPr>
          <p:cNvPr id="9" name="Text 7"/>
          <p:cNvSpPr/>
          <p:nvPr/>
        </p:nvSpPr>
        <p:spPr>
          <a:xfrm>
            <a:off x="4526280" y="1252728"/>
            <a:ext cx="4114800" cy="1508760"/>
          </a:xfrm>
          <a:prstGeom prst="rect">
            <a:avLst/>
          </a:prstGeom>
          <a:noFill/>
          <a:ln/>
        </p:spPr>
        <p:txBody>
          <a:bodyPr wrap="square" lIns="0" tIns="0" rIns="0" bIns="0" rtlCol="0" anchor="t"/>
          <a:lstStyle/>
          <a:p>
            <a:pPr indent="0" marL="0">
              <a:spcAft>
                <a:spcPts val="300"/>
              </a:spcAft>
              <a:buNone/>
            </a:pPr>
            <a:r>
              <a:rPr lang="en-US" sz="1250" b="1" dirty="0">
                <a:solidFill>
                  <a:srgbClr val="2DD4BF"/>
                </a:solidFill>
                <a:latin typeface="Calibri" pitchFamily="34" charset="0"/>
                <a:ea typeface="Calibri" pitchFamily="34" charset="-122"/>
                <a:cs typeface="Calibri" pitchFamily="34" charset="-120"/>
              </a:rPr>
              <a:t>dp[i][w] = max value using the first i items with capacity w</a:t>
            </a:r>
            <a:endParaRPr lang="en-US" sz="1250" dirty="0"/>
          </a:p>
          <a:p>
            <a:pPr indent="0" marL="0">
              <a:spcAft>
                <a:spcPts val="300"/>
              </a:spcAft>
              <a:buNone/>
            </a:pPr>
            <a:r>
              <a:rPr lang="en-US" sz="1250" dirty="0">
                <a:solidFill>
                  <a:srgbClr val="94A3B8"/>
                </a:solidFill>
                <a:latin typeface="Calibri" pitchFamily="34" charset="0"/>
                <a:ea typeface="Calibri" pitchFamily="34" charset="-122"/>
                <a:cs typeface="Calibri" pitchFamily="34" charset="-120"/>
              </a:rPr>
              <a:t>If wᵢ &gt; w (does not fit): </a:t>
            </a:r>
            <a:pPr indent="0" marL="0">
              <a:spcAft>
                <a:spcPts val="300"/>
              </a:spcAft>
              <a:buNone/>
            </a:pPr>
            <a:r>
              <a:rPr lang="en-US" sz="1250" b="1" dirty="0">
                <a:solidFill>
                  <a:srgbClr val="F1F5F9"/>
                </a:solidFill>
                <a:latin typeface="Calibri" pitchFamily="34" charset="0"/>
                <a:ea typeface="Calibri" pitchFamily="34" charset="-122"/>
                <a:cs typeface="Calibri" pitchFamily="34" charset="-120"/>
              </a:rPr>
              <a:t>dp[i][w] = dp[i−1][w]</a:t>
            </a:r>
            <a:endParaRPr lang="en-US" sz="1250" dirty="0"/>
          </a:p>
          <a:p>
            <a:pPr indent="0" marL="0">
              <a:spcAft>
                <a:spcPts val="300"/>
              </a:spcAft>
              <a:buNone/>
            </a:pPr>
            <a:r>
              <a:rPr lang="en-US" sz="1250" dirty="0">
                <a:solidFill>
                  <a:srgbClr val="94A3B8"/>
                </a:solidFill>
                <a:latin typeface="Calibri" pitchFamily="34" charset="0"/>
                <a:ea typeface="Calibri" pitchFamily="34" charset="-122"/>
                <a:cs typeface="Calibri" pitchFamily="34" charset="-120"/>
              </a:rPr>
              <a:t>Otherwise: </a:t>
            </a:r>
            <a:pPr indent="0" marL="0">
              <a:spcAft>
                <a:spcPts val="300"/>
              </a:spcAft>
              <a:buNone/>
            </a:pPr>
            <a:r>
              <a:rPr lang="en-US" sz="1250" b="1" dirty="0">
                <a:solidFill>
                  <a:srgbClr val="F1F5F9"/>
                </a:solidFill>
                <a:latin typeface="Calibri" pitchFamily="34" charset="0"/>
                <a:ea typeface="Calibri" pitchFamily="34" charset="-122"/>
                <a:cs typeface="Calibri" pitchFamily="34" charset="-120"/>
              </a:rPr>
              <a:t>dp[i][w] = max( dp[i−1][w],  vᵢ + dp[i−1][w−wᵢ] )</a:t>
            </a:r>
            <a:endParaRPr lang="en-US" sz="1250" dirty="0"/>
          </a:p>
          <a:p>
            <a:pPr indent="0" marL="0">
              <a:spcAft>
                <a:spcPts val="300"/>
              </a:spcAft>
              <a:buNone/>
            </a:pPr>
            <a:r>
              <a:rPr lang="en-US" sz="1250" dirty="0">
                <a:solidFill>
                  <a:srgbClr val="94A3B8"/>
                </a:solidFill>
                <a:latin typeface="Calibri" pitchFamily="34" charset="0"/>
                <a:ea typeface="Calibri" pitchFamily="34" charset="-122"/>
                <a:cs typeface="Calibri" pitchFamily="34" charset="-120"/>
              </a:rPr>
              <a:t>exclude item i     |     include item i</a:t>
            </a:r>
            <a:endParaRPr lang="en-US" sz="1250" dirty="0"/>
          </a:p>
        </p:txBody>
      </p:sp>
      <p:sp>
        <p:nvSpPr>
          <p:cNvPr id="10" name="Shape 8"/>
          <p:cNvSpPr/>
          <p:nvPr/>
        </p:nvSpPr>
        <p:spPr>
          <a:xfrm>
            <a:off x="365760" y="2880360"/>
            <a:ext cx="5577840" cy="1920240"/>
          </a:xfrm>
          <a:prstGeom prst="roundRect">
            <a:avLst>
              <a:gd name="adj" fmla="val 4762"/>
            </a:avLst>
          </a:prstGeom>
          <a:solidFill>
            <a:srgbClr val="060B14"/>
          </a:solidFill>
          <a:ln w="12700">
            <a:solidFill>
              <a:srgbClr val="24365A"/>
            </a:solidFill>
            <a:prstDash val="solid"/>
          </a:ln>
        </p:spPr>
      </p:sp>
      <p:sp>
        <p:nvSpPr>
          <p:cNvPr id="11" name="Text 9"/>
          <p:cNvSpPr/>
          <p:nvPr/>
        </p:nvSpPr>
        <p:spPr>
          <a:xfrm>
            <a:off x="502920" y="2971800"/>
            <a:ext cx="5303520" cy="1737360"/>
          </a:xfrm>
          <a:prstGeom prst="rect">
            <a:avLst/>
          </a:prstGeom>
          <a:noFill/>
          <a:ln/>
        </p:spPr>
        <p:txBody>
          <a:bodyPr wrap="square" lIns="0" tIns="0" rIns="0" bIns="0" rtlCol="0" anchor="t"/>
          <a:lstStyle/>
          <a:p>
            <a:pPr indent="0" marL="0">
              <a:buNone/>
            </a:pPr>
            <a:r>
              <a:rPr lang="en-US" sz="1150" dirty="0">
                <a:solidFill>
                  <a:srgbClr val="A7F3D0"/>
                </a:solidFill>
                <a:latin typeface="Courier New" pitchFamily="34" charset="0"/>
                <a:ea typeface="Courier New" pitchFamily="34" charset="-122"/>
                <a:cs typeface="Courier New" pitchFamily="34" charset="-120"/>
              </a:rPr>
              <a:t>KNAPSACK-DP(wt[1..n], val[1..n], W):</a:t>
            </a:r>
            <a:endParaRPr lang="en-US" sz="1150" dirty="0"/>
          </a:p>
          <a:p>
            <a:pPr indent="0" marL="0">
              <a:buNone/>
            </a:pPr>
            <a:r>
              <a:rPr lang="en-US" sz="1150" dirty="0">
                <a:solidFill>
                  <a:srgbClr val="A7F3D0"/>
                </a:solidFill>
                <a:latin typeface="Courier New" pitchFamily="34" charset="0"/>
                <a:ea typeface="Courier New" pitchFamily="34" charset="-122"/>
                <a:cs typeface="Courier New" pitchFamily="34" charset="-120"/>
              </a:rPr>
              <a:t>  for w = 0..W:  dp[0][w] = 0     // no items</a:t>
            </a:r>
            <a:endParaRPr lang="en-US" sz="1150" dirty="0"/>
          </a:p>
          <a:p>
            <a:pPr indent="0" marL="0">
              <a:buNone/>
            </a:pPr>
            <a:r>
              <a:rPr lang="en-US" sz="1150" dirty="0">
                <a:solidFill>
                  <a:srgbClr val="A7F3D0"/>
                </a:solidFill>
                <a:latin typeface="Courier New" pitchFamily="34" charset="0"/>
                <a:ea typeface="Courier New" pitchFamily="34" charset="-122"/>
                <a:cs typeface="Courier New" pitchFamily="34" charset="-120"/>
              </a:rPr>
              <a:t>  for i = 0..n:  dp[i][0] = 0     // no capacity</a:t>
            </a:r>
            <a:endParaRPr lang="en-US" sz="1150" dirty="0"/>
          </a:p>
          <a:p>
            <a:pPr indent="0" marL="0">
              <a:buNone/>
            </a:pPr>
            <a:r>
              <a:rPr lang="en-US" sz="1150" dirty="0">
                <a:solidFill>
                  <a:srgbClr val="A7F3D0"/>
                </a:solidFill>
                <a:latin typeface="Courier New" pitchFamily="34" charset="0"/>
                <a:ea typeface="Courier New" pitchFamily="34" charset="-122"/>
                <a:cs typeface="Courier New" pitchFamily="34" charset="-120"/>
              </a:rPr>
              <a:t>  for i = 1..n:</a:t>
            </a:r>
            <a:endParaRPr lang="en-US" sz="1150" dirty="0"/>
          </a:p>
          <a:p>
            <a:pPr indent="0" marL="0">
              <a:buNone/>
            </a:pPr>
            <a:r>
              <a:rPr lang="en-US" sz="1150" dirty="0">
                <a:solidFill>
                  <a:srgbClr val="A7F3D0"/>
                </a:solidFill>
                <a:latin typeface="Courier New" pitchFamily="34" charset="0"/>
                <a:ea typeface="Courier New" pitchFamily="34" charset="-122"/>
                <a:cs typeface="Courier New" pitchFamily="34" charset="-120"/>
              </a:rPr>
              <a:t>    for w = 1..W:</a:t>
            </a:r>
            <a:endParaRPr lang="en-US" sz="1150" dirty="0"/>
          </a:p>
          <a:p>
            <a:pPr indent="0" marL="0">
              <a:buNone/>
            </a:pPr>
            <a:r>
              <a:rPr lang="en-US" sz="1150" dirty="0">
                <a:solidFill>
                  <a:srgbClr val="A7F3D0"/>
                </a:solidFill>
                <a:latin typeface="Courier New" pitchFamily="34" charset="0"/>
                <a:ea typeface="Courier New" pitchFamily="34" charset="-122"/>
                <a:cs typeface="Courier New" pitchFamily="34" charset="-120"/>
              </a:rPr>
              <a:t>      if wt[i] &gt; w:</a:t>
            </a:r>
            <a:endParaRPr lang="en-US" sz="1150" dirty="0"/>
          </a:p>
          <a:p>
            <a:pPr indent="0" marL="0">
              <a:buNone/>
            </a:pPr>
            <a:r>
              <a:rPr lang="en-US" sz="1150" dirty="0">
                <a:solidFill>
                  <a:srgbClr val="A7F3D0"/>
                </a:solidFill>
                <a:latin typeface="Courier New" pitchFamily="34" charset="0"/>
                <a:ea typeface="Courier New" pitchFamily="34" charset="-122"/>
                <a:cs typeface="Courier New" pitchFamily="34" charset="-120"/>
              </a:rPr>
              <a:t>        dp[i][w] = dp[i-1][w]</a:t>
            </a:r>
            <a:endParaRPr lang="en-US" sz="1150" dirty="0"/>
          </a:p>
          <a:p>
            <a:pPr indent="0" marL="0">
              <a:buNone/>
            </a:pPr>
            <a:r>
              <a:rPr lang="en-US" sz="1150" dirty="0">
                <a:solidFill>
                  <a:srgbClr val="A7F3D0"/>
                </a:solidFill>
                <a:latin typeface="Courier New" pitchFamily="34" charset="0"/>
                <a:ea typeface="Courier New" pitchFamily="34" charset="-122"/>
                <a:cs typeface="Courier New" pitchFamily="34" charset="-120"/>
              </a:rPr>
              <a:t>      else:</a:t>
            </a:r>
            <a:endParaRPr lang="en-US" sz="1150" dirty="0"/>
          </a:p>
          <a:p>
            <a:pPr indent="0" marL="0">
              <a:buNone/>
            </a:pPr>
            <a:r>
              <a:rPr lang="en-US" sz="1150" dirty="0">
                <a:solidFill>
                  <a:srgbClr val="A7F3D0"/>
                </a:solidFill>
                <a:latin typeface="Courier New" pitchFamily="34" charset="0"/>
                <a:ea typeface="Courier New" pitchFamily="34" charset="-122"/>
                <a:cs typeface="Courier New" pitchFamily="34" charset="-120"/>
              </a:rPr>
              <a:t>        dp[i][w] = max(dp[i-1][w],</a:t>
            </a:r>
            <a:endParaRPr lang="en-US" sz="1150" dirty="0"/>
          </a:p>
          <a:p>
            <a:pPr indent="0" marL="0">
              <a:buNone/>
            </a:pPr>
            <a:r>
              <a:rPr lang="en-US" sz="1150" dirty="0">
                <a:solidFill>
                  <a:srgbClr val="A7F3D0"/>
                </a:solidFill>
                <a:latin typeface="Courier New" pitchFamily="34" charset="0"/>
                <a:ea typeface="Courier New" pitchFamily="34" charset="-122"/>
                <a:cs typeface="Courier New" pitchFamily="34" charset="-120"/>
              </a:rPr>
              <a:t>                       val[i] + dp[i-1][w - wt[i]])</a:t>
            </a:r>
            <a:endParaRPr lang="en-US" sz="1150" dirty="0"/>
          </a:p>
          <a:p>
            <a:pPr indent="0" marL="0">
              <a:buNone/>
            </a:pPr>
            <a:r>
              <a:rPr lang="en-US" sz="1150" dirty="0">
                <a:solidFill>
                  <a:srgbClr val="A7F3D0"/>
                </a:solidFill>
                <a:latin typeface="Courier New" pitchFamily="34" charset="0"/>
                <a:ea typeface="Courier New" pitchFamily="34" charset="-122"/>
                <a:cs typeface="Courier New" pitchFamily="34" charset="-120"/>
              </a:rPr>
              <a:t>  return dp[n][W]</a:t>
            </a:r>
            <a:endParaRPr lang="en-US" sz="1150" dirty="0"/>
          </a:p>
        </p:txBody>
      </p:sp>
      <p:sp>
        <p:nvSpPr>
          <p:cNvPr id="12" name="Shape 10"/>
          <p:cNvSpPr/>
          <p:nvPr/>
        </p:nvSpPr>
        <p:spPr>
          <a:xfrm>
            <a:off x="6126480" y="2880360"/>
            <a:ext cx="2651760" cy="1920240"/>
          </a:xfrm>
          <a:prstGeom prst="roundRect">
            <a:avLst>
              <a:gd name="adj" fmla="val 4762"/>
            </a:avLst>
          </a:prstGeom>
          <a:solidFill>
            <a:srgbClr val="15233B"/>
          </a:solidFill>
          <a:ln w="12700">
            <a:solidFill>
              <a:srgbClr val="FBBF24"/>
            </a:solidFill>
            <a:prstDash val="solid"/>
          </a:ln>
        </p:spPr>
      </p:sp>
      <p:sp>
        <p:nvSpPr>
          <p:cNvPr id="13" name="Text 11"/>
          <p:cNvSpPr/>
          <p:nvPr/>
        </p:nvSpPr>
        <p:spPr>
          <a:xfrm>
            <a:off x="6263640" y="2971800"/>
            <a:ext cx="2377440" cy="1737360"/>
          </a:xfrm>
          <a:prstGeom prst="rect">
            <a:avLst/>
          </a:prstGeom>
          <a:noFill/>
          <a:ln/>
        </p:spPr>
        <p:txBody>
          <a:bodyPr wrap="square" lIns="0" tIns="0" rIns="0" bIns="0" rtlCol="0" anchor="t"/>
          <a:lstStyle/>
          <a:p>
            <a:pPr indent="0" marL="0">
              <a:spcAft>
                <a:spcPts val="400"/>
              </a:spcAft>
              <a:buNone/>
            </a:pPr>
            <a:r>
              <a:rPr lang="en-US" sz="1300" b="1" dirty="0">
                <a:solidFill>
                  <a:srgbClr val="FBBF24"/>
                </a:solidFill>
                <a:latin typeface="Calibri" pitchFamily="34" charset="0"/>
                <a:ea typeface="Calibri" pitchFamily="34" charset="-122"/>
                <a:cs typeface="Calibri" pitchFamily="34" charset="-120"/>
              </a:rPr>
              <a:t>Exact answer</a:t>
            </a:r>
            <a:endParaRPr lang="en-US" sz="1300" dirty="0"/>
          </a:p>
          <a:p>
            <a:pPr indent="0" marL="0">
              <a:spcAft>
                <a:spcPts val="400"/>
              </a:spcAft>
              <a:buNone/>
            </a:pPr>
            <a:r>
              <a:rPr lang="en-US" sz="1300" dirty="0">
                <a:solidFill>
                  <a:srgbClr val="F1F5F9"/>
                </a:solidFill>
                <a:latin typeface="Calibri" pitchFamily="34" charset="0"/>
                <a:ea typeface="Calibri" pitchFamily="34" charset="-122"/>
                <a:cs typeface="Calibri" pitchFamily="34" charset="-120"/>
              </a:rPr>
              <a:t>Time O(nW) depends on the numeric capacity W, so it is slow when W is huge.</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7315200" y="45720"/>
            <a:ext cx="1554480" cy="1005840"/>
          </a:xfrm>
          <a:prstGeom prst="rect">
            <a:avLst/>
          </a:prstGeom>
          <a:noFill/>
          <a:ln/>
        </p:spPr>
        <p:txBody>
          <a:bodyPr wrap="square" lIns="0" tIns="0" rIns="0" bIns="0" rtlCol="0" anchor="ctr"/>
          <a:lstStyle/>
          <a:p>
            <a:pPr algn="r" indent="0" marL="0">
              <a:buNone/>
            </a:pPr>
            <a:r>
              <a:rPr lang="en-US" sz="6600" b="1" dirty="0">
                <a:solidFill>
                  <a:srgbClr val="16233D"/>
                </a:solidFill>
                <a:latin typeface="Cambria" pitchFamily="34" charset="0"/>
                <a:ea typeface="Cambria" pitchFamily="34" charset="-122"/>
                <a:cs typeface="Cambria" pitchFamily="34" charset="-120"/>
              </a:rPr>
              <a:t>07</a:t>
            </a:r>
            <a:endParaRPr lang="en-US" sz="6600" dirty="0"/>
          </a:p>
        </p:txBody>
      </p:sp>
      <p:sp>
        <p:nvSpPr>
          <p:cNvPr id="3" name="Text 1"/>
          <p:cNvSpPr/>
          <p:nvPr/>
        </p:nvSpPr>
        <p:spPr>
          <a:xfrm>
            <a:off x="365760" y="228600"/>
            <a:ext cx="5486400" cy="228600"/>
          </a:xfrm>
          <a:prstGeom prst="rect">
            <a:avLst/>
          </a:prstGeom>
          <a:noFill/>
          <a:ln/>
        </p:spPr>
        <p:txBody>
          <a:bodyPr wrap="square" lIns="0" tIns="0" rIns="0" bIns="0" rtlCol="0" anchor="ctr"/>
          <a:lstStyle/>
          <a:p>
            <a:pPr indent="0" marL="0">
              <a:buNone/>
            </a:pPr>
            <a:r>
              <a:rPr lang="en-US" sz="1200" b="1" spc="400" kern="0" dirty="0">
                <a:solidFill>
                  <a:srgbClr val="2DD4BF"/>
                </a:solidFill>
                <a:latin typeface="Calibri" pitchFamily="34" charset="0"/>
                <a:ea typeface="Calibri" pitchFamily="34" charset="-122"/>
                <a:cs typeface="Calibri" pitchFamily="34" charset="-120"/>
              </a:rPr>
              <a:t>DP EXAMPLE</a:t>
            </a:r>
            <a:endParaRPr lang="en-US" sz="1200" dirty="0"/>
          </a:p>
        </p:txBody>
      </p:sp>
      <p:sp>
        <p:nvSpPr>
          <p:cNvPr id="4" name="Text 2"/>
          <p:cNvSpPr/>
          <p:nvPr/>
        </p:nvSpPr>
        <p:spPr>
          <a:xfrm>
            <a:off x="365760" y="457200"/>
            <a:ext cx="7498080" cy="594360"/>
          </a:xfrm>
          <a:prstGeom prst="rect">
            <a:avLst/>
          </a:prstGeom>
          <a:noFill/>
          <a:ln/>
        </p:spPr>
        <p:txBody>
          <a:bodyPr wrap="square" lIns="0" tIns="0" rIns="0" bIns="0" rtlCol="0" anchor="ctr"/>
          <a:lstStyle/>
          <a:p>
            <a:pPr indent="0" marL="0">
              <a:buNone/>
            </a:pPr>
            <a:r>
              <a:rPr lang="en-US" sz="2800" b="1" dirty="0">
                <a:solidFill>
                  <a:srgbClr val="F1F5F9"/>
                </a:solidFill>
                <a:latin typeface="Cambria" pitchFamily="34" charset="0"/>
                <a:ea typeface="Cambria" pitchFamily="34" charset="-122"/>
                <a:cs typeface="Cambria" pitchFamily="34" charset="-120"/>
              </a:rPr>
              <a:t>0/1 Knapsack: Filling the Table</a:t>
            </a:r>
            <a:endParaRPr lang="en-US" sz="28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5303520" cy="914400"/>
        </p:xfrm>
        <a:graphic>
          <a:graphicData uri="http://schemas.openxmlformats.org/drawingml/2006/table">
            <a:tbl>
              <a:tblPr/>
              <a:tblGrid>
                <a:gridCol w="1737360"/>
                <a:gridCol w="594360"/>
                <a:gridCol w="594360"/>
                <a:gridCol w="594360"/>
                <a:gridCol w="594360"/>
                <a:gridCol w="594360"/>
                <a:gridCol w="594360"/>
              </a:tblGrid>
              <a:tr h="384048">
                <a:tc>
                  <a:txBody>
                    <a:bodyPr/>
                    <a:lstStyle/>
                    <a:p>
                      <a:pPr algn="ctr" indent="0" marL="0">
                        <a:buNone/>
                      </a:pPr>
                      <a:r>
                        <a:rPr lang="en-US" sz="1200" b="1" dirty="0">
                          <a:solidFill>
                            <a:srgbClr val="0B1220"/>
                          </a:solidFill>
                          <a:latin typeface="Calibri" pitchFamily="34" charset="0"/>
                          <a:ea typeface="Calibri" pitchFamily="34" charset="-122"/>
                          <a:cs typeface="Calibri" pitchFamily="34" charset="-120"/>
                        </a:rPr>
                        <a:t>W = 5  →  capacity w</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2DD4BF"/>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2DD4BF"/>
                    </a:solidFill>
                  </a:tcPr>
                </a:tc>
                <a:tc>
                  <a:txBody>
                    <a:bodyPr/>
                    <a:lstStyle/>
                    <a:p>
                      <a:pPr algn="ctr" indent="0" marL="0">
                        <a:buNone/>
                      </a:pPr>
                      <a:r>
                        <a:rPr lang="en-US" sz="1200" b="1" dirty="0">
                          <a:solidFill>
                            <a:srgbClr val="0B1220"/>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2DD4BF"/>
                    </a:solidFill>
                  </a:tcPr>
                </a:tc>
                <a:tc>
                  <a:txBody>
                    <a:bodyPr/>
                    <a:lstStyle/>
                    <a:p>
                      <a:pPr algn="ctr" indent="0" marL="0">
                        <a:buNone/>
                      </a:pPr>
                      <a:r>
                        <a:rPr lang="en-US" sz="1200" b="1" dirty="0">
                          <a:solidFill>
                            <a:srgbClr val="0B1220"/>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2DD4BF"/>
                    </a:solidFill>
                  </a:tcPr>
                </a:tc>
                <a:tc>
                  <a:txBody>
                    <a:bodyPr/>
                    <a:lstStyle/>
                    <a:p>
                      <a:pPr algn="ctr" indent="0" marL="0">
                        <a:buNone/>
                      </a:pPr>
                      <a:r>
                        <a:rPr lang="en-US" sz="1200" b="1" dirty="0">
                          <a:solidFill>
                            <a:srgbClr val="0B1220"/>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2DD4BF"/>
                    </a:solidFill>
                  </a:tcPr>
                </a:tc>
                <a:tc>
                  <a:txBody>
                    <a:bodyPr/>
                    <a:lstStyle/>
                    <a:p>
                      <a:pPr algn="ctr" indent="0" marL="0">
                        <a:buNone/>
                      </a:pPr>
                      <a:r>
                        <a:rPr lang="en-US" sz="1200" b="1" dirty="0">
                          <a:solidFill>
                            <a:srgbClr val="0B1220"/>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2DD4BF"/>
                    </a:solidFill>
                  </a:tcPr>
                </a:tc>
                <a:tc>
                  <a:txBody>
                    <a:bodyPr/>
                    <a:lstStyle/>
                    <a:p>
                      <a:pPr algn="ctr" indent="0" marL="0">
                        <a:buNone/>
                      </a:pPr>
                      <a:r>
                        <a:rPr lang="en-US" sz="1200" b="1" dirty="0">
                          <a:solidFill>
                            <a:srgbClr val="0B1220"/>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2DD4BF"/>
                    </a:solidFill>
                  </a:tcPr>
                </a:tc>
              </a:tr>
              <a:tr h="384048">
                <a:tc>
                  <a:txBody>
                    <a:bodyPr/>
                    <a:lstStyle/>
                    <a:p>
                      <a:pPr algn="ctr" indent="0" marL="0">
                        <a:buNone/>
                      </a:pPr>
                      <a:r>
                        <a:rPr lang="en-US" sz="1200" b="1" dirty="0">
                          <a:solidFill>
                            <a:srgbClr val="94A3B8"/>
                          </a:solidFill>
                          <a:latin typeface="Calibri" pitchFamily="34" charset="0"/>
                          <a:ea typeface="Calibri" pitchFamily="34" charset="-122"/>
                          <a:cs typeface="Calibri" pitchFamily="34" charset="-120"/>
                        </a:rPr>
                        <a:t>i=0  (no items)</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22324F"/>
                    </a:solidFill>
                  </a:tcPr>
                </a:tc>
                <a:tc>
                  <a:txBody>
                    <a:bodyPr/>
                    <a:lstStyle/>
                    <a:p>
                      <a:pPr algn="ctr" indent="0" marL="0">
                        <a:buNone/>
                      </a:pPr>
                      <a:r>
                        <a:rPr lang="en-US" sz="1200" dirty="0">
                          <a:solidFill>
                            <a:srgbClr val="94A3B8"/>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33B"/>
                    </a:solidFill>
                  </a:tcPr>
                </a:tc>
                <a:tc>
                  <a:txBody>
                    <a:bodyPr/>
                    <a:lstStyle/>
                    <a:p>
                      <a:pPr algn="ctr" indent="0" marL="0">
                        <a:buNone/>
                      </a:pPr>
                      <a:r>
                        <a:rPr lang="en-US" sz="1200" dirty="0">
                          <a:solidFill>
                            <a:srgbClr val="94A3B8"/>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33B"/>
                    </a:solidFill>
                  </a:tcPr>
                </a:tc>
                <a:tc>
                  <a:txBody>
                    <a:bodyPr/>
                    <a:lstStyle/>
                    <a:p>
                      <a:pPr algn="ctr" indent="0" marL="0">
                        <a:buNone/>
                      </a:pPr>
                      <a:r>
                        <a:rPr lang="en-US" sz="1200" dirty="0">
                          <a:solidFill>
                            <a:srgbClr val="94A3B8"/>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33B"/>
                    </a:solidFill>
                  </a:tcPr>
                </a:tc>
                <a:tc>
                  <a:txBody>
                    <a:bodyPr/>
                    <a:lstStyle/>
                    <a:p>
                      <a:pPr algn="ctr" indent="0" marL="0">
                        <a:buNone/>
                      </a:pPr>
                      <a:r>
                        <a:rPr lang="en-US" sz="1200" dirty="0">
                          <a:solidFill>
                            <a:srgbClr val="94A3B8"/>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33B"/>
                    </a:solidFill>
                  </a:tcPr>
                </a:tc>
                <a:tc>
                  <a:txBody>
                    <a:bodyPr/>
                    <a:lstStyle/>
                    <a:p>
                      <a:pPr algn="ctr" indent="0" marL="0">
                        <a:buNone/>
                      </a:pPr>
                      <a:r>
                        <a:rPr lang="en-US" sz="1200" dirty="0">
                          <a:solidFill>
                            <a:srgbClr val="94A3B8"/>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33B"/>
                    </a:solidFill>
                  </a:tcPr>
                </a:tc>
                <a:tc>
                  <a:txBody>
                    <a:bodyPr/>
                    <a:lstStyle/>
                    <a:p>
                      <a:pPr algn="ctr" indent="0" marL="0">
                        <a:buNone/>
                      </a:pPr>
                      <a:r>
                        <a:rPr lang="en-US" sz="1200" dirty="0">
                          <a:solidFill>
                            <a:srgbClr val="94A3B8"/>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33B"/>
                    </a:solidFill>
                  </a:tcPr>
                </a:tc>
              </a:tr>
              <a:tr h="384048">
                <a:tc>
                  <a:txBody>
                    <a:bodyPr/>
                    <a:lstStyle/>
                    <a:p>
                      <a:pPr algn="ctr" indent="0" marL="0">
                        <a:buNone/>
                      </a:pPr>
                      <a:r>
                        <a:rPr lang="en-US" sz="1200" b="1" dirty="0">
                          <a:solidFill>
                            <a:srgbClr val="F1F5F9"/>
                          </a:solidFill>
                          <a:latin typeface="Calibri" pitchFamily="34" charset="0"/>
                          <a:ea typeface="Calibri" pitchFamily="34" charset="-122"/>
                          <a:cs typeface="Calibri" pitchFamily="34" charset="-120"/>
                        </a:rPr>
                        <a:t>i=1  (w=2, v=12)</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22324F"/>
                    </a:solidFill>
                  </a:tcPr>
                </a:tc>
                <a:tc>
                  <a:txBody>
                    <a:bodyPr/>
                    <a:lstStyle/>
                    <a:p>
                      <a:pPr algn="ctr" indent="0" marL="0">
                        <a:buNone/>
                      </a:pPr>
                      <a:r>
                        <a:rPr lang="en-US" sz="1200" dirty="0">
                          <a:solidFill>
                            <a:srgbClr val="94A3B8"/>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33B"/>
                    </a:solidFill>
                  </a:tcPr>
                </a:tc>
                <a:tc>
                  <a:txBody>
                    <a:bodyPr/>
                    <a:lstStyle/>
                    <a:p>
                      <a:pPr algn="ctr" indent="0" marL="0">
                        <a:buNone/>
                      </a:pPr>
                      <a:r>
                        <a:rPr lang="en-US" sz="1200" dirty="0">
                          <a:solidFill>
                            <a:srgbClr val="F1F5F9"/>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33B"/>
                    </a:solidFill>
                  </a:tcPr>
                </a:tc>
                <a:tc>
                  <a:txBody>
                    <a:bodyPr/>
                    <a:lstStyle/>
                    <a:p>
                      <a:pPr algn="ctr" indent="0" marL="0">
                        <a:buNone/>
                      </a:pPr>
                      <a:r>
                        <a:rPr lang="en-US" sz="1200" b="1" dirty="0">
                          <a:solidFill>
                            <a:srgbClr val="0B1220"/>
                          </a:solidFill>
                          <a:latin typeface="Calibri" pitchFamily="34" charset="0"/>
                          <a:ea typeface="Calibri" pitchFamily="34" charset="-122"/>
                          <a:cs typeface="Calibri" pitchFamily="34" charset="-120"/>
                        </a:rPr>
                        <a:t>12</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4ADE80"/>
                    </a:solidFill>
                  </a:tcPr>
                </a:tc>
                <a:tc>
                  <a:txBody>
                    <a:bodyPr/>
                    <a:lstStyle/>
                    <a:p>
                      <a:pPr algn="ctr" indent="0" marL="0">
                        <a:buNone/>
                      </a:pPr>
                      <a:r>
                        <a:rPr lang="en-US" sz="1200" dirty="0">
                          <a:solidFill>
                            <a:srgbClr val="F1F5F9"/>
                          </a:solidFill>
                          <a:latin typeface="Calibri" pitchFamily="34" charset="0"/>
                          <a:ea typeface="Calibri" pitchFamily="34" charset="-122"/>
                          <a:cs typeface="Calibri" pitchFamily="34" charset="-120"/>
                        </a:rPr>
                        <a:t>12</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33B"/>
                    </a:solidFill>
                  </a:tcPr>
                </a:tc>
                <a:tc>
                  <a:txBody>
                    <a:bodyPr/>
                    <a:lstStyle/>
                    <a:p>
                      <a:pPr algn="ctr" indent="0" marL="0">
                        <a:buNone/>
                      </a:pPr>
                      <a:r>
                        <a:rPr lang="en-US" sz="1200" dirty="0">
                          <a:solidFill>
                            <a:srgbClr val="F1F5F9"/>
                          </a:solidFill>
                          <a:latin typeface="Calibri" pitchFamily="34" charset="0"/>
                          <a:ea typeface="Calibri" pitchFamily="34" charset="-122"/>
                          <a:cs typeface="Calibri" pitchFamily="34" charset="-120"/>
                        </a:rPr>
                        <a:t>12</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33B"/>
                    </a:solidFill>
                  </a:tcPr>
                </a:tc>
                <a:tc>
                  <a:txBody>
                    <a:bodyPr/>
                    <a:lstStyle/>
                    <a:p>
                      <a:pPr algn="ctr" indent="0" marL="0">
                        <a:buNone/>
                      </a:pPr>
                      <a:r>
                        <a:rPr lang="en-US" sz="1200" dirty="0">
                          <a:solidFill>
                            <a:srgbClr val="F1F5F9"/>
                          </a:solidFill>
                          <a:latin typeface="Calibri" pitchFamily="34" charset="0"/>
                          <a:ea typeface="Calibri" pitchFamily="34" charset="-122"/>
                          <a:cs typeface="Calibri" pitchFamily="34" charset="-120"/>
                        </a:rPr>
                        <a:t>12</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33B"/>
                    </a:solidFill>
                  </a:tcPr>
                </a:tc>
              </a:tr>
              <a:tr h="384048">
                <a:tc>
                  <a:txBody>
                    <a:bodyPr/>
                    <a:lstStyle/>
                    <a:p>
                      <a:pPr algn="ctr" indent="0" marL="0">
                        <a:buNone/>
                      </a:pPr>
                      <a:r>
                        <a:rPr lang="en-US" sz="1200" b="1" dirty="0">
                          <a:solidFill>
                            <a:srgbClr val="F1F5F9"/>
                          </a:solidFill>
                          <a:latin typeface="Calibri" pitchFamily="34" charset="0"/>
                          <a:ea typeface="Calibri" pitchFamily="34" charset="-122"/>
                          <a:cs typeface="Calibri" pitchFamily="34" charset="-120"/>
                        </a:rPr>
                        <a:t>i=2  (w=1, v=10)</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22324F"/>
                    </a:solidFill>
                  </a:tcPr>
                </a:tc>
                <a:tc>
                  <a:txBody>
                    <a:bodyPr/>
                    <a:lstStyle/>
                    <a:p>
                      <a:pPr algn="ctr" indent="0" marL="0">
                        <a:buNone/>
                      </a:pPr>
                      <a:r>
                        <a:rPr lang="en-US" sz="1200" dirty="0">
                          <a:solidFill>
                            <a:srgbClr val="94A3B8"/>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33B"/>
                    </a:solidFill>
                  </a:tcPr>
                </a:tc>
                <a:tc>
                  <a:txBody>
                    <a:bodyPr/>
                    <a:lstStyle/>
                    <a:p>
                      <a:pPr algn="ctr" indent="0" marL="0">
                        <a:buNone/>
                      </a:pPr>
                      <a:r>
                        <a:rPr lang="en-US" sz="1200" dirty="0">
                          <a:solidFill>
                            <a:srgbClr val="F1F5F9"/>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33B"/>
                    </a:solidFill>
                  </a:tcPr>
                </a:tc>
                <a:tc>
                  <a:txBody>
                    <a:bodyPr/>
                    <a:lstStyle/>
                    <a:p>
                      <a:pPr algn="ctr" indent="0" marL="0">
                        <a:buNone/>
                      </a:pPr>
                      <a:r>
                        <a:rPr lang="en-US" sz="1200" dirty="0">
                          <a:solidFill>
                            <a:srgbClr val="F1F5F9"/>
                          </a:solidFill>
                          <a:latin typeface="Calibri" pitchFamily="34" charset="0"/>
                          <a:ea typeface="Calibri" pitchFamily="34" charset="-122"/>
                          <a:cs typeface="Calibri" pitchFamily="34" charset="-120"/>
                        </a:rPr>
                        <a:t>12</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33B"/>
                    </a:solidFill>
                  </a:tcPr>
                </a:tc>
                <a:tc>
                  <a:txBody>
                    <a:bodyPr/>
                    <a:lstStyle/>
                    <a:p>
                      <a:pPr algn="ctr" indent="0" marL="0">
                        <a:buNone/>
                      </a:pPr>
                      <a:r>
                        <a:rPr lang="en-US" sz="1200" b="1" dirty="0">
                          <a:solidFill>
                            <a:srgbClr val="0B1220"/>
                          </a:solidFill>
                          <a:latin typeface="Calibri" pitchFamily="34" charset="0"/>
                          <a:ea typeface="Calibri" pitchFamily="34" charset="-122"/>
                          <a:cs typeface="Calibri" pitchFamily="34" charset="-120"/>
                        </a:rPr>
                        <a:t>22</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4ADE80"/>
                    </a:solidFill>
                  </a:tcPr>
                </a:tc>
                <a:tc>
                  <a:txBody>
                    <a:bodyPr/>
                    <a:lstStyle/>
                    <a:p>
                      <a:pPr algn="ctr" indent="0" marL="0">
                        <a:buNone/>
                      </a:pPr>
                      <a:r>
                        <a:rPr lang="en-US" sz="1200" dirty="0">
                          <a:solidFill>
                            <a:srgbClr val="F1F5F9"/>
                          </a:solidFill>
                          <a:latin typeface="Calibri" pitchFamily="34" charset="0"/>
                          <a:ea typeface="Calibri" pitchFamily="34" charset="-122"/>
                          <a:cs typeface="Calibri" pitchFamily="34" charset="-120"/>
                        </a:rPr>
                        <a:t>22</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33B"/>
                    </a:solidFill>
                  </a:tcPr>
                </a:tc>
                <a:tc>
                  <a:txBody>
                    <a:bodyPr/>
                    <a:lstStyle/>
                    <a:p>
                      <a:pPr algn="ctr" indent="0" marL="0">
                        <a:buNone/>
                      </a:pPr>
                      <a:r>
                        <a:rPr lang="en-US" sz="1200" dirty="0">
                          <a:solidFill>
                            <a:srgbClr val="F1F5F9"/>
                          </a:solidFill>
                          <a:latin typeface="Calibri" pitchFamily="34" charset="0"/>
                          <a:ea typeface="Calibri" pitchFamily="34" charset="-122"/>
                          <a:cs typeface="Calibri" pitchFamily="34" charset="-120"/>
                        </a:rPr>
                        <a:t>22</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33B"/>
                    </a:solidFill>
                  </a:tcPr>
                </a:tc>
              </a:tr>
              <a:tr h="384048">
                <a:tc>
                  <a:txBody>
                    <a:bodyPr/>
                    <a:lstStyle/>
                    <a:p>
                      <a:pPr algn="ctr" indent="0" marL="0">
                        <a:buNone/>
                      </a:pPr>
                      <a:r>
                        <a:rPr lang="en-US" sz="1200" b="1" dirty="0">
                          <a:solidFill>
                            <a:srgbClr val="F1F5F9"/>
                          </a:solidFill>
                          <a:latin typeface="Calibri" pitchFamily="34" charset="0"/>
                          <a:ea typeface="Calibri" pitchFamily="34" charset="-122"/>
                          <a:cs typeface="Calibri" pitchFamily="34" charset="-120"/>
                        </a:rPr>
                        <a:t>i=3  (w=3, v=20)</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22324F"/>
                    </a:solidFill>
                  </a:tcPr>
                </a:tc>
                <a:tc>
                  <a:txBody>
                    <a:bodyPr/>
                    <a:lstStyle/>
                    <a:p>
                      <a:pPr algn="ctr" indent="0" marL="0">
                        <a:buNone/>
                      </a:pPr>
                      <a:r>
                        <a:rPr lang="en-US" sz="1200" dirty="0">
                          <a:solidFill>
                            <a:srgbClr val="94A3B8"/>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33B"/>
                    </a:solidFill>
                  </a:tcPr>
                </a:tc>
                <a:tc>
                  <a:txBody>
                    <a:bodyPr/>
                    <a:lstStyle/>
                    <a:p>
                      <a:pPr algn="ctr" indent="0" marL="0">
                        <a:buNone/>
                      </a:pPr>
                      <a:r>
                        <a:rPr lang="en-US" sz="1200" dirty="0">
                          <a:solidFill>
                            <a:srgbClr val="F1F5F9"/>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33B"/>
                    </a:solidFill>
                  </a:tcPr>
                </a:tc>
                <a:tc>
                  <a:txBody>
                    <a:bodyPr/>
                    <a:lstStyle/>
                    <a:p>
                      <a:pPr algn="ctr" indent="0" marL="0">
                        <a:buNone/>
                      </a:pPr>
                      <a:r>
                        <a:rPr lang="en-US" sz="1200" dirty="0">
                          <a:solidFill>
                            <a:srgbClr val="F1F5F9"/>
                          </a:solidFill>
                          <a:latin typeface="Calibri" pitchFamily="34" charset="0"/>
                          <a:ea typeface="Calibri" pitchFamily="34" charset="-122"/>
                          <a:cs typeface="Calibri" pitchFamily="34" charset="-120"/>
                        </a:rPr>
                        <a:t>12</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33B"/>
                    </a:solidFill>
                  </a:tcPr>
                </a:tc>
                <a:tc>
                  <a:txBody>
                    <a:bodyPr/>
                    <a:lstStyle/>
                    <a:p>
                      <a:pPr algn="ctr" indent="0" marL="0">
                        <a:buNone/>
                      </a:pPr>
                      <a:r>
                        <a:rPr lang="en-US" sz="1200" b="1" dirty="0">
                          <a:solidFill>
                            <a:srgbClr val="0B1220"/>
                          </a:solidFill>
                          <a:latin typeface="Calibri" pitchFamily="34" charset="0"/>
                          <a:ea typeface="Calibri" pitchFamily="34" charset="-122"/>
                          <a:cs typeface="Calibri" pitchFamily="34" charset="-120"/>
                        </a:rPr>
                        <a:t>22</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4ADE80"/>
                    </a:solidFill>
                  </a:tcPr>
                </a:tc>
                <a:tc>
                  <a:txBody>
                    <a:bodyPr/>
                    <a:lstStyle/>
                    <a:p>
                      <a:pPr algn="ctr" indent="0" marL="0">
                        <a:buNone/>
                      </a:pPr>
                      <a:r>
                        <a:rPr lang="en-US" sz="1200" dirty="0">
                          <a:solidFill>
                            <a:srgbClr val="F1F5F9"/>
                          </a:solidFill>
                          <a:latin typeface="Calibri" pitchFamily="34" charset="0"/>
                          <a:ea typeface="Calibri" pitchFamily="34" charset="-122"/>
                          <a:cs typeface="Calibri" pitchFamily="34" charset="-120"/>
                        </a:rPr>
                        <a:t>30</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33B"/>
                    </a:solidFill>
                  </a:tcPr>
                </a:tc>
                <a:tc>
                  <a:txBody>
                    <a:bodyPr/>
                    <a:lstStyle/>
                    <a:p>
                      <a:pPr algn="ctr" indent="0" marL="0">
                        <a:buNone/>
                      </a:pPr>
                      <a:r>
                        <a:rPr lang="en-US" sz="1200" dirty="0">
                          <a:solidFill>
                            <a:srgbClr val="F1F5F9"/>
                          </a:solidFill>
                          <a:latin typeface="Calibri" pitchFamily="34" charset="0"/>
                          <a:ea typeface="Calibri" pitchFamily="34" charset="-122"/>
                          <a:cs typeface="Calibri" pitchFamily="34" charset="-120"/>
                        </a:rPr>
                        <a:t>32</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33B"/>
                    </a:solidFill>
                  </a:tcPr>
                </a:tc>
              </a:tr>
              <a:tr h="384048">
                <a:tc>
                  <a:txBody>
                    <a:bodyPr/>
                    <a:lstStyle/>
                    <a:p>
                      <a:pPr algn="ctr" indent="0" marL="0">
                        <a:buNone/>
                      </a:pPr>
                      <a:r>
                        <a:rPr lang="en-US" sz="1200" b="1" dirty="0">
                          <a:solidFill>
                            <a:srgbClr val="F1F5F9"/>
                          </a:solidFill>
                          <a:latin typeface="Calibri" pitchFamily="34" charset="0"/>
                          <a:ea typeface="Calibri" pitchFamily="34" charset="-122"/>
                          <a:cs typeface="Calibri" pitchFamily="34" charset="-120"/>
                        </a:rPr>
                        <a:t>i=4  (w=2, v=15)</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22324F"/>
                    </a:solidFill>
                  </a:tcPr>
                </a:tc>
                <a:tc>
                  <a:txBody>
                    <a:bodyPr/>
                    <a:lstStyle/>
                    <a:p>
                      <a:pPr algn="ctr" indent="0" marL="0">
                        <a:buNone/>
                      </a:pPr>
                      <a:r>
                        <a:rPr lang="en-US" sz="1200" dirty="0">
                          <a:solidFill>
                            <a:srgbClr val="94A3B8"/>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33B"/>
                    </a:solidFill>
                  </a:tcPr>
                </a:tc>
                <a:tc>
                  <a:txBody>
                    <a:bodyPr/>
                    <a:lstStyle/>
                    <a:p>
                      <a:pPr algn="ctr" indent="0" marL="0">
                        <a:buNone/>
                      </a:pPr>
                      <a:r>
                        <a:rPr lang="en-US" sz="1200" dirty="0">
                          <a:solidFill>
                            <a:srgbClr val="F1F5F9"/>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33B"/>
                    </a:solidFill>
                  </a:tcPr>
                </a:tc>
                <a:tc>
                  <a:txBody>
                    <a:bodyPr/>
                    <a:lstStyle/>
                    <a:p>
                      <a:pPr algn="ctr" indent="0" marL="0">
                        <a:buNone/>
                      </a:pPr>
                      <a:r>
                        <a:rPr lang="en-US" sz="1200" dirty="0">
                          <a:solidFill>
                            <a:srgbClr val="F1F5F9"/>
                          </a:solidFill>
                          <a:latin typeface="Calibri" pitchFamily="34" charset="0"/>
                          <a:ea typeface="Calibri" pitchFamily="34" charset="-122"/>
                          <a:cs typeface="Calibri" pitchFamily="34" charset="-120"/>
                        </a:rPr>
                        <a:t>15</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33B"/>
                    </a:solidFill>
                  </a:tcPr>
                </a:tc>
                <a:tc>
                  <a:txBody>
                    <a:bodyPr/>
                    <a:lstStyle/>
                    <a:p>
                      <a:pPr algn="ctr" indent="0" marL="0">
                        <a:buNone/>
                      </a:pPr>
                      <a:r>
                        <a:rPr lang="en-US" sz="1200" dirty="0">
                          <a:solidFill>
                            <a:srgbClr val="F1F5F9"/>
                          </a:solidFill>
                          <a:latin typeface="Calibri" pitchFamily="34" charset="0"/>
                          <a:ea typeface="Calibri" pitchFamily="34" charset="-122"/>
                          <a:cs typeface="Calibri" pitchFamily="34" charset="-120"/>
                        </a:rPr>
                        <a:t>25</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33B"/>
                    </a:solidFill>
                  </a:tcPr>
                </a:tc>
                <a:tc>
                  <a:txBody>
                    <a:bodyPr/>
                    <a:lstStyle/>
                    <a:p>
                      <a:pPr algn="ctr" indent="0" marL="0">
                        <a:buNone/>
                      </a:pPr>
                      <a:r>
                        <a:rPr lang="en-US" sz="1200" dirty="0">
                          <a:solidFill>
                            <a:srgbClr val="F1F5F9"/>
                          </a:solidFill>
                          <a:latin typeface="Calibri" pitchFamily="34" charset="0"/>
                          <a:ea typeface="Calibri" pitchFamily="34" charset="-122"/>
                          <a:cs typeface="Calibri" pitchFamily="34" charset="-120"/>
                        </a:rPr>
                        <a:t>30</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33B"/>
                    </a:solidFill>
                  </a:tcPr>
                </a:tc>
                <a:tc>
                  <a:txBody>
                    <a:bodyPr/>
                    <a:lstStyle/>
                    <a:p>
                      <a:pPr algn="ctr" indent="0" marL="0">
                        <a:buNone/>
                      </a:pPr>
                      <a:r>
                        <a:rPr lang="en-US" sz="1200" b="1" dirty="0">
                          <a:solidFill>
                            <a:srgbClr val="0B1220"/>
                          </a:solidFill>
                          <a:latin typeface="Calibri" pitchFamily="34" charset="0"/>
                          <a:ea typeface="Calibri" pitchFamily="34" charset="-122"/>
                          <a:cs typeface="Calibri" pitchFamily="34" charset="-120"/>
                        </a:rPr>
                        <a:t>37</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4ADE80"/>
                    </a:solidFill>
                  </a:tcPr>
                </a:tc>
              </a:tr>
            </a:tbl>
          </a:graphicData>
        </a:graphic>
      </p:graphicFrame>
      <p:sp>
        <p:nvSpPr>
          <p:cNvPr id="6" name="Shape 3"/>
          <p:cNvSpPr/>
          <p:nvPr/>
        </p:nvSpPr>
        <p:spPr>
          <a:xfrm>
            <a:off x="365760" y="3611880"/>
            <a:ext cx="5303520" cy="1143000"/>
          </a:xfrm>
          <a:prstGeom prst="roundRect">
            <a:avLst>
              <a:gd name="adj" fmla="val 8000"/>
            </a:avLst>
          </a:prstGeom>
          <a:solidFill>
            <a:srgbClr val="15233B"/>
          </a:solidFill>
          <a:ln w="12700">
            <a:solidFill>
              <a:srgbClr val="24365A"/>
            </a:solidFill>
            <a:prstDash val="solid"/>
          </a:ln>
        </p:spPr>
      </p:sp>
      <p:sp>
        <p:nvSpPr>
          <p:cNvPr id="7" name="Text 4"/>
          <p:cNvSpPr/>
          <p:nvPr/>
        </p:nvSpPr>
        <p:spPr>
          <a:xfrm>
            <a:off x="502920" y="3675888"/>
            <a:ext cx="5029200" cy="1005840"/>
          </a:xfrm>
          <a:prstGeom prst="rect">
            <a:avLst/>
          </a:prstGeom>
          <a:noFill/>
          <a:ln/>
        </p:spPr>
        <p:txBody>
          <a:bodyPr wrap="square" lIns="0" tIns="0" rIns="0" bIns="0" rtlCol="0" anchor="t"/>
          <a:lstStyle/>
          <a:p>
            <a:pPr indent="0" marL="0">
              <a:buNone/>
            </a:pPr>
            <a:r>
              <a:rPr lang="en-US" sz="1250" b="1" dirty="0">
                <a:solidFill>
                  <a:srgbClr val="4ADE80"/>
                </a:solidFill>
                <a:latin typeface="Calibri" pitchFamily="34" charset="0"/>
                <a:ea typeface="Calibri" pitchFamily="34" charset="-122"/>
                <a:cs typeface="Calibri" pitchFamily="34" charset="-120"/>
              </a:rPr>
              <a:t>Traceback (green cells): </a:t>
            </a:r>
            <a:pPr indent="0" marL="0">
              <a:buNone/>
            </a:pPr>
            <a:r>
              <a:rPr lang="en-US" sz="1250" dirty="0">
                <a:solidFill>
                  <a:srgbClr val="F1F5F9"/>
                </a:solidFill>
                <a:latin typeface="Calibri" pitchFamily="34" charset="0"/>
                <a:ea typeface="Calibri" pitchFamily="34" charset="-122"/>
                <a:cs typeface="Calibri" pitchFamily="34" charset="-120"/>
              </a:rPr>
              <a:t>37 ≠ 32 so take item 4 (w left 3); 22 = 22 so skip item 3; 22 ≠ 12 so take item 2 (w left 2); 12 ≠ 0 so take item 1.</a:t>
            </a:r>
            <a:endParaRPr lang="en-US" sz="1250" dirty="0"/>
          </a:p>
        </p:txBody>
      </p:sp>
      <p:sp>
        <p:nvSpPr>
          <p:cNvPr id="8" name="Shape 5"/>
          <p:cNvSpPr/>
          <p:nvPr/>
        </p:nvSpPr>
        <p:spPr>
          <a:xfrm>
            <a:off x="5852160" y="1188720"/>
            <a:ext cx="2926080" cy="2331720"/>
          </a:xfrm>
          <a:prstGeom prst="roundRect">
            <a:avLst>
              <a:gd name="adj" fmla="val 3922"/>
            </a:avLst>
          </a:prstGeom>
          <a:solidFill>
            <a:srgbClr val="15233B"/>
          </a:solidFill>
          <a:ln w="12700">
            <a:solidFill>
              <a:srgbClr val="24365A"/>
            </a:solidFill>
            <a:prstDash val="solid"/>
          </a:ln>
        </p:spPr>
      </p:sp>
      <p:sp>
        <p:nvSpPr>
          <p:cNvPr id="9" name="Text 6"/>
          <p:cNvSpPr/>
          <p:nvPr/>
        </p:nvSpPr>
        <p:spPr>
          <a:xfrm>
            <a:off x="5989320" y="1252728"/>
            <a:ext cx="2651760" cy="274320"/>
          </a:xfrm>
          <a:prstGeom prst="rect">
            <a:avLst/>
          </a:prstGeom>
          <a:noFill/>
          <a:ln/>
        </p:spPr>
        <p:txBody>
          <a:bodyPr wrap="square" lIns="0" tIns="0" rIns="0" bIns="0" rtlCol="0" anchor="t"/>
          <a:lstStyle/>
          <a:p>
            <a:pPr indent="0" marL="0">
              <a:buNone/>
            </a:pPr>
            <a:r>
              <a:rPr lang="en-US" sz="1400" b="1" dirty="0">
                <a:solidFill>
                  <a:srgbClr val="2DD4BF"/>
                </a:solidFill>
                <a:latin typeface="Calibri" pitchFamily="34" charset="0"/>
                <a:ea typeface="Calibri" pitchFamily="34" charset="-122"/>
                <a:cs typeface="Calibri" pitchFamily="34" charset="-120"/>
              </a:rPr>
              <a:t>Key calculations</a:t>
            </a:r>
            <a:endParaRPr lang="en-US" sz="1400" dirty="0"/>
          </a:p>
        </p:txBody>
      </p:sp>
      <p:sp>
        <p:nvSpPr>
          <p:cNvPr id="10" name="Text 7"/>
          <p:cNvSpPr/>
          <p:nvPr/>
        </p:nvSpPr>
        <p:spPr>
          <a:xfrm>
            <a:off x="5989320" y="1572768"/>
            <a:ext cx="2697480" cy="1920240"/>
          </a:xfrm>
          <a:prstGeom prst="rect">
            <a:avLst/>
          </a:prstGeom>
          <a:noFill/>
          <a:ln/>
        </p:spPr>
        <p:txBody>
          <a:bodyPr wrap="square" lIns="0" tIns="0" rIns="0" bIns="0" rtlCol="0" anchor="t"/>
          <a:lstStyle/>
          <a:p>
            <a:pPr indent="0" marL="0">
              <a:spcAft>
                <a:spcPts val="500"/>
              </a:spcAft>
              <a:buNone/>
            </a:pPr>
            <a:r>
              <a:rPr lang="en-US" sz="1200" dirty="0">
                <a:solidFill>
                  <a:srgbClr val="A7F3D0"/>
                </a:solidFill>
                <a:latin typeface="Courier New" pitchFamily="34" charset="0"/>
                <a:ea typeface="Courier New" pitchFamily="34" charset="-122"/>
                <a:cs typeface="Courier New" pitchFamily="34" charset="-120"/>
              </a:rPr>
              <a:t>dp[1][2] = max(0, 12 + 0) = 12</a:t>
            </a:r>
            <a:endParaRPr lang="en-US" sz="1200" dirty="0"/>
          </a:p>
          <a:p>
            <a:pPr indent="0" marL="0">
              <a:spcAft>
                <a:spcPts val="500"/>
              </a:spcAft>
              <a:buNone/>
            </a:pPr>
            <a:r>
              <a:rPr lang="en-US" sz="1200" dirty="0">
                <a:solidFill>
                  <a:srgbClr val="A7F3D0"/>
                </a:solidFill>
                <a:latin typeface="Courier New" pitchFamily="34" charset="0"/>
                <a:ea typeface="Courier New" pitchFamily="34" charset="-122"/>
                <a:cs typeface="Courier New" pitchFamily="34" charset="-120"/>
              </a:rPr>
              <a:t>dp[2][3] = max(12, 10 + dp[1][2]) = 22</a:t>
            </a:r>
            <a:endParaRPr lang="en-US" sz="1200" dirty="0"/>
          </a:p>
          <a:p>
            <a:pPr indent="0" marL="0">
              <a:spcAft>
                <a:spcPts val="500"/>
              </a:spcAft>
              <a:buNone/>
            </a:pPr>
            <a:r>
              <a:rPr lang="en-US" sz="1200" dirty="0">
                <a:solidFill>
                  <a:srgbClr val="A7F3D0"/>
                </a:solidFill>
                <a:latin typeface="Courier New" pitchFamily="34" charset="0"/>
                <a:ea typeface="Courier New" pitchFamily="34" charset="-122"/>
                <a:cs typeface="Courier New" pitchFamily="34" charset="-120"/>
              </a:rPr>
              <a:t>dp[3][5] = max(22, 20 + dp[2][2]) = 32</a:t>
            </a:r>
            <a:endParaRPr lang="en-US" sz="1200" dirty="0"/>
          </a:p>
          <a:p>
            <a:pPr indent="0" marL="0">
              <a:spcAft>
                <a:spcPts val="500"/>
              </a:spcAft>
              <a:buNone/>
            </a:pPr>
            <a:r>
              <a:rPr lang="en-US" sz="1200" dirty="0">
                <a:solidFill>
                  <a:srgbClr val="A7F3D0"/>
                </a:solidFill>
                <a:latin typeface="Courier New" pitchFamily="34" charset="0"/>
                <a:ea typeface="Courier New" pitchFamily="34" charset="-122"/>
                <a:cs typeface="Courier New" pitchFamily="34" charset="-120"/>
              </a:rPr>
              <a:t>dp[4][3] = max(22, 15 + dp[3][1]) = 25</a:t>
            </a:r>
            <a:endParaRPr lang="en-US" sz="1200" dirty="0"/>
          </a:p>
          <a:p>
            <a:pPr indent="0" marL="0">
              <a:spcAft>
                <a:spcPts val="500"/>
              </a:spcAft>
              <a:buNone/>
            </a:pPr>
            <a:r>
              <a:rPr lang="en-US" sz="1200" dirty="0">
                <a:solidFill>
                  <a:srgbClr val="A7F3D0"/>
                </a:solidFill>
                <a:latin typeface="Courier New" pitchFamily="34" charset="0"/>
                <a:ea typeface="Courier New" pitchFamily="34" charset="-122"/>
                <a:cs typeface="Courier New" pitchFamily="34" charset="-120"/>
              </a:rPr>
              <a:t>dp[4][5] = max(32, 15 + dp[3][3]) = 37</a:t>
            </a:r>
            <a:endParaRPr lang="en-US" sz="1200" dirty="0"/>
          </a:p>
        </p:txBody>
      </p:sp>
      <p:sp>
        <p:nvSpPr>
          <p:cNvPr id="11" name="Shape 8"/>
          <p:cNvSpPr/>
          <p:nvPr/>
        </p:nvSpPr>
        <p:spPr>
          <a:xfrm>
            <a:off x="5852160" y="3611880"/>
            <a:ext cx="2926080" cy="1143000"/>
          </a:xfrm>
          <a:prstGeom prst="roundRect">
            <a:avLst>
              <a:gd name="adj" fmla="val 8000"/>
            </a:avLst>
          </a:prstGeom>
          <a:solidFill>
            <a:srgbClr val="4ADE80"/>
          </a:solidFill>
          <a:ln w="12700">
            <a:solidFill>
              <a:srgbClr val="4ADE80"/>
            </a:solidFill>
            <a:prstDash val="solid"/>
          </a:ln>
        </p:spPr>
      </p:sp>
      <p:sp>
        <p:nvSpPr>
          <p:cNvPr id="12" name="Text 9"/>
          <p:cNvSpPr/>
          <p:nvPr/>
        </p:nvSpPr>
        <p:spPr>
          <a:xfrm>
            <a:off x="5852160" y="3611880"/>
            <a:ext cx="2926080" cy="1143000"/>
          </a:xfrm>
          <a:prstGeom prst="rect">
            <a:avLst/>
          </a:prstGeom>
          <a:noFill/>
          <a:ln/>
        </p:spPr>
        <p:txBody>
          <a:bodyPr wrap="square" lIns="0" tIns="0" rIns="0" bIns="0" rtlCol="0" anchor="ctr"/>
          <a:lstStyle/>
          <a:p>
            <a:pPr algn="ctr" indent="0" marL="0">
              <a:buNone/>
            </a:pPr>
            <a:r>
              <a:rPr lang="en-US" sz="2200" b="1" dirty="0">
                <a:solidFill>
                  <a:srgbClr val="0B1220"/>
                </a:solidFill>
                <a:latin typeface="Calibri" pitchFamily="34" charset="0"/>
                <a:ea typeface="Calibri" pitchFamily="34" charset="-122"/>
                <a:cs typeface="Calibri" pitchFamily="34" charset="-120"/>
              </a:rPr>
              <a:t>Answer: 37</a:t>
            </a:r>
            <a:endParaRPr lang="en-US" sz="1400" dirty="0"/>
          </a:p>
          <a:p>
            <a:pPr algn="ctr" indent="0" marL="0">
              <a:buNone/>
            </a:pPr>
            <a:r>
              <a:rPr lang="en-US" sz="1300" dirty="0">
                <a:solidFill>
                  <a:srgbClr val="0B1220"/>
                </a:solidFill>
                <a:latin typeface="Calibri" pitchFamily="34" charset="0"/>
                <a:ea typeface="Calibri" pitchFamily="34" charset="-122"/>
                <a:cs typeface="Calibri" pitchFamily="34" charset="-120"/>
              </a:rPr>
              <a:t>items 1, 2, 4  (weight 2+1+2 = 5)</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7315200" y="45720"/>
            <a:ext cx="1554480" cy="1005840"/>
          </a:xfrm>
          <a:prstGeom prst="rect">
            <a:avLst/>
          </a:prstGeom>
          <a:noFill/>
          <a:ln/>
        </p:spPr>
        <p:txBody>
          <a:bodyPr wrap="square" lIns="0" tIns="0" rIns="0" bIns="0" rtlCol="0" anchor="ctr"/>
          <a:lstStyle/>
          <a:p>
            <a:pPr algn="r" indent="0" marL="0">
              <a:buNone/>
            </a:pPr>
            <a:r>
              <a:rPr lang="en-US" sz="6600" b="1" dirty="0">
                <a:solidFill>
                  <a:srgbClr val="16233D"/>
                </a:solidFill>
                <a:latin typeface="Cambria" pitchFamily="34" charset="0"/>
                <a:ea typeface="Cambria" pitchFamily="34" charset="-122"/>
                <a:cs typeface="Cambria" pitchFamily="34" charset="-120"/>
              </a:rPr>
              <a:t>08</a:t>
            </a:r>
            <a:endParaRPr lang="en-US" sz="6600" dirty="0"/>
          </a:p>
        </p:txBody>
      </p:sp>
      <p:sp>
        <p:nvSpPr>
          <p:cNvPr id="3" name="Text 1"/>
          <p:cNvSpPr/>
          <p:nvPr/>
        </p:nvSpPr>
        <p:spPr>
          <a:xfrm>
            <a:off x="365760" y="228600"/>
            <a:ext cx="5486400" cy="228600"/>
          </a:xfrm>
          <a:prstGeom prst="rect">
            <a:avLst/>
          </a:prstGeom>
          <a:noFill/>
          <a:ln/>
        </p:spPr>
        <p:txBody>
          <a:bodyPr wrap="square" lIns="0" tIns="0" rIns="0" bIns="0" rtlCol="0" anchor="ctr"/>
          <a:lstStyle/>
          <a:p>
            <a:pPr indent="0" marL="0">
              <a:buNone/>
            </a:pPr>
            <a:r>
              <a:rPr lang="en-US" sz="1200" b="1" spc="400" kern="0" dirty="0">
                <a:solidFill>
                  <a:srgbClr val="2DD4BF"/>
                </a:solidFill>
                <a:latin typeface="Calibri" pitchFamily="34" charset="0"/>
                <a:ea typeface="Calibri" pitchFamily="34" charset="-122"/>
                <a:cs typeface="Calibri" pitchFamily="34" charset="-120"/>
              </a:rPr>
              <a:t>REUSE AND ALTERNATIVES</a:t>
            </a:r>
            <a:endParaRPr lang="en-US" sz="1200" dirty="0"/>
          </a:p>
        </p:txBody>
      </p:sp>
      <p:sp>
        <p:nvSpPr>
          <p:cNvPr id="4" name="Text 2"/>
          <p:cNvSpPr/>
          <p:nvPr/>
        </p:nvSpPr>
        <p:spPr>
          <a:xfrm>
            <a:off x="365760" y="457200"/>
            <a:ext cx="7498080" cy="594360"/>
          </a:xfrm>
          <a:prstGeom prst="rect">
            <a:avLst/>
          </a:prstGeom>
          <a:noFill/>
          <a:ln/>
        </p:spPr>
        <p:txBody>
          <a:bodyPr wrap="square" lIns="0" tIns="0" rIns="0" bIns="0" rtlCol="0" anchor="ctr"/>
          <a:lstStyle/>
          <a:p>
            <a:pPr indent="0" marL="0">
              <a:buNone/>
            </a:pPr>
            <a:r>
              <a:rPr lang="en-US" sz="2800" b="1" dirty="0">
                <a:solidFill>
                  <a:srgbClr val="F1F5F9"/>
                </a:solidFill>
                <a:latin typeface="Cambria" pitchFamily="34" charset="0"/>
                <a:ea typeface="Cambria" pitchFamily="34" charset="-122"/>
                <a:cs typeface="Cambria" pitchFamily="34" charset="-120"/>
              </a:rPr>
              <a:t>Unbounded Knapsack and Other Methods</a:t>
            </a:r>
            <a:endParaRPr lang="en-US" sz="2800" dirty="0"/>
          </a:p>
        </p:txBody>
      </p:sp>
      <p:sp>
        <p:nvSpPr>
          <p:cNvPr id="5" name="Shape 3"/>
          <p:cNvSpPr/>
          <p:nvPr/>
        </p:nvSpPr>
        <p:spPr>
          <a:xfrm>
            <a:off x="365760" y="1188720"/>
            <a:ext cx="4754880" cy="1234440"/>
          </a:xfrm>
          <a:prstGeom prst="roundRect">
            <a:avLst>
              <a:gd name="adj" fmla="val 7407"/>
            </a:avLst>
          </a:prstGeom>
          <a:solidFill>
            <a:srgbClr val="15233B"/>
          </a:solidFill>
          <a:ln w="12700">
            <a:solidFill>
              <a:srgbClr val="24365A"/>
            </a:solidFill>
            <a:prstDash val="solid"/>
          </a:ln>
        </p:spPr>
      </p:sp>
      <p:sp>
        <p:nvSpPr>
          <p:cNvPr id="6" name="Text 4"/>
          <p:cNvSpPr/>
          <p:nvPr/>
        </p:nvSpPr>
        <p:spPr>
          <a:xfrm>
            <a:off x="502920" y="1261872"/>
            <a:ext cx="4526280" cy="1143000"/>
          </a:xfrm>
          <a:prstGeom prst="rect">
            <a:avLst/>
          </a:prstGeom>
          <a:noFill/>
          <a:ln/>
        </p:spPr>
        <p:txBody>
          <a:bodyPr wrap="square" lIns="0" tIns="0" rIns="0" bIns="0" rtlCol="0" anchor="t"/>
          <a:lstStyle/>
          <a:p>
            <a:pPr marL="342900" indent="-342900">
              <a:spcAft>
                <a:spcPts val="200"/>
              </a:spcAft>
              <a:buSzPct val="100000"/>
              <a:buChar char="•"/>
            </a:pPr>
            <a:r>
              <a:rPr lang="en-US" sz="1200" dirty="0">
                <a:solidFill>
                  <a:srgbClr val="F1F5F9"/>
                </a:solidFill>
                <a:latin typeface="Calibri" pitchFamily="34" charset="0"/>
                <a:ea typeface="Calibri" pitchFamily="34" charset="-122"/>
                <a:cs typeface="Calibri" pitchFamily="34" charset="-120"/>
              </a:rPr>
              <a:t>Each item type can be used any number of times (whole items only)</a:t>
            </a:r>
            <a:endParaRPr lang="en-US" sz="1200" dirty="0"/>
          </a:p>
          <a:p>
            <a:pPr marL="342900" indent="-342900">
              <a:spcAft>
                <a:spcPts val="200"/>
              </a:spcAft>
              <a:buSzPct val="100000"/>
              <a:buChar char="•"/>
            </a:pPr>
            <a:r>
              <a:rPr lang="en-US" sz="1200" dirty="0">
                <a:solidFill>
                  <a:srgbClr val="F1F5F9"/>
                </a:solidFill>
                <a:latin typeface="Calibri" pitchFamily="34" charset="0"/>
                <a:ea typeface="Calibri" pitchFamily="34" charset="-122"/>
                <a:cs typeface="Calibri" pitchFamily="34" charset="-120"/>
              </a:rPr>
              <a:t>dp[w] = best value with capacity w</a:t>
            </a:r>
            <a:endParaRPr lang="en-US" sz="1200" dirty="0"/>
          </a:p>
          <a:p>
            <a:pPr marL="342900" indent="-342900">
              <a:spcAft>
                <a:spcPts val="200"/>
              </a:spcAft>
              <a:buSzPct val="100000"/>
              <a:buChar char="•"/>
            </a:pPr>
            <a:r>
              <a:rPr lang="en-US" sz="1200" dirty="0">
                <a:solidFill>
                  <a:srgbClr val="F1F5F9"/>
                </a:solidFill>
                <a:latin typeface="Calibri" pitchFamily="34" charset="0"/>
                <a:ea typeface="Calibri" pitchFamily="34" charset="-122"/>
                <a:cs typeface="Calibri" pitchFamily="34" charset="-120"/>
              </a:rPr>
              <a:t>Loop w upward, so dp[w − wᵢ] may already contain item i: that is how reuse happens</a:t>
            </a:r>
            <a:endParaRPr lang="en-US" sz="1200" dirty="0"/>
          </a:p>
        </p:txBody>
      </p:sp>
      <p:sp>
        <p:nvSpPr>
          <p:cNvPr id="7" name="Shape 5"/>
          <p:cNvSpPr/>
          <p:nvPr/>
        </p:nvSpPr>
        <p:spPr>
          <a:xfrm>
            <a:off x="365760" y="2514600"/>
            <a:ext cx="4754880" cy="777240"/>
          </a:xfrm>
          <a:prstGeom prst="roundRect">
            <a:avLst>
              <a:gd name="adj" fmla="val 11765"/>
            </a:avLst>
          </a:prstGeom>
          <a:solidFill>
            <a:srgbClr val="060B14"/>
          </a:solidFill>
          <a:ln w="12700">
            <a:solidFill>
              <a:srgbClr val="24365A"/>
            </a:solidFill>
            <a:prstDash val="solid"/>
          </a:ln>
        </p:spPr>
      </p:sp>
      <p:sp>
        <p:nvSpPr>
          <p:cNvPr id="8" name="Text 6"/>
          <p:cNvSpPr/>
          <p:nvPr/>
        </p:nvSpPr>
        <p:spPr>
          <a:xfrm>
            <a:off x="502920" y="2606040"/>
            <a:ext cx="4480560" cy="594360"/>
          </a:xfrm>
          <a:prstGeom prst="rect">
            <a:avLst/>
          </a:prstGeom>
          <a:noFill/>
          <a:ln/>
        </p:spPr>
        <p:txBody>
          <a:bodyPr wrap="square" lIns="0" tIns="0" rIns="0" bIns="0" rtlCol="0" anchor="t"/>
          <a:lstStyle/>
          <a:p>
            <a:pPr indent="0" marL="0">
              <a:buNone/>
            </a:pPr>
            <a:r>
              <a:rPr lang="en-US" sz="1100" dirty="0">
                <a:solidFill>
                  <a:srgbClr val="A7F3D0"/>
                </a:solidFill>
                <a:latin typeface="Courier New" pitchFamily="34" charset="0"/>
                <a:ea typeface="Courier New" pitchFamily="34" charset="-122"/>
                <a:cs typeface="Courier New" pitchFamily="34" charset="-120"/>
              </a:rPr>
              <a:t>for each item i:</a:t>
            </a:r>
            <a:endParaRPr lang="en-US" sz="1100" dirty="0"/>
          </a:p>
          <a:p>
            <a:pPr indent="0" marL="0">
              <a:buNone/>
            </a:pPr>
            <a:r>
              <a:rPr lang="en-US" sz="1100" dirty="0">
                <a:solidFill>
                  <a:srgbClr val="A7F3D0"/>
                </a:solidFill>
                <a:latin typeface="Courier New" pitchFamily="34" charset="0"/>
                <a:ea typeface="Courier New" pitchFamily="34" charset="-122"/>
                <a:cs typeface="Courier New" pitchFamily="34" charset="-120"/>
              </a:rPr>
              <a:t>  for w = wt[i] .. W:      // ascending</a:t>
            </a:r>
            <a:endParaRPr lang="en-US" sz="1100" dirty="0"/>
          </a:p>
          <a:p>
            <a:pPr indent="0" marL="0">
              <a:buNone/>
            </a:pPr>
            <a:r>
              <a:rPr lang="en-US" sz="1100" dirty="0">
                <a:solidFill>
                  <a:srgbClr val="A7F3D0"/>
                </a:solidFill>
                <a:latin typeface="Courier New" pitchFamily="34" charset="0"/>
                <a:ea typeface="Courier New" pitchFamily="34" charset="-122"/>
                <a:cs typeface="Courier New" pitchFamily="34" charset="-120"/>
              </a:rPr>
              <a:t>    dp[w] = max(dp[w], val[i] + dp[w - wt[i]])</a:t>
            </a:r>
            <a:endParaRPr lang="en-US" sz="11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365760" y="3383280"/>
          <a:ext cx="4754880" cy="914400"/>
        </p:xfrm>
        <a:graphic>
          <a:graphicData uri="http://schemas.openxmlformats.org/drawingml/2006/table">
            <a:tbl>
              <a:tblPr/>
              <a:tblGrid>
                <a:gridCol w="640080"/>
                <a:gridCol w="457200"/>
                <a:gridCol w="457200"/>
                <a:gridCol w="457200"/>
                <a:gridCol w="457200"/>
                <a:gridCol w="457200"/>
                <a:gridCol w="457200"/>
                <a:gridCol w="457200"/>
                <a:gridCol w="457200"/>
                <a:gridCol w="457200"/>
              </a:tblGrid>
              <a:tr h="310896">
                <a:tc>
                  <a:txBody>
                    <a:bodyPr/>
                    <a:lstStyle/>
                    <a:p>
                      <a:pPr algn="ctr" indent="0" marL="0">
                        <a:buNone/>
                      </a:pPr>
                      <a:r>
                        <a:rPr lang="en-US" sz="1200" b="1" dirty="0">
                          <a:solidFill>
                            <a:srgbClr val="0B1220"/>
                          </a:solidFill>
                          <a:latin typeface="Calibri" pitchFamily="34" charset="0"/>
                          <a:ea typeface="Calibri" pitchFamily="34" charset="-122"/>
                          <a:cs typeface="Calibri" pitchFamily="34" charset="-120"/>
                        </a:rPr>
                        <a:t>w</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2DD4BF"/>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2DD4BF"/>
                    </a:solidFill>
                  </a:tcPr>
                </a:tc>
                <a:tc>
                  <a:txBody>
                    <a:bodyPr/>
                    <a:lstStyle/>
                    <a:p>
                      <a:pPr algn="ctr" indent="0" marL="0">
                        <a:buNone/>
                      </a:pPr>
                      <a:r>
                        <a:rPr lang="en-US" sz="1200" b="1" dirty="0">
                          <a:solidFill>
                            <a:srgbClr val="0B1220"/>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2DD4BF"/>
                    </a:solidFill>
                  </a:tcPr>
                </a:tc>
                <a:tc>
                  <a:txBody>
                    <a:bodyPr/>
                    <a:lstStyle/>
                    <a:p>
                      <a:pPr algn="ctr" indent="0" marL="0">
                        <a:buNone/>
                      </a:pPr>
                      <a:r>
                        <a:rPr lang="en-US" sz="1200" b="1" dirty="0">
                          <a:solidFill>
                            <a:srgbClr val="0B1220"/>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2DD4BF"/>
                    </a:solidFill>
                  </a:tcPr>
                </a:tc>
                <a:tc>
                  <a:txBody>
                    <a:bodyPr/>
                    <a:lstStyle/>
                    <a:p>
                      <a:pPr algn="ctr" indent="0" marL="0">
                        <a:buNone/>
                      </a:pPr>
                      <a:r>
                        <a:rPr lang="en-US" sz="1200" b="1" dirty="0">
                          <a:solidFill>
                            <a:srgbClr val="0B1220"/>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2DD4BF"/>
                    </a:solidFill>
                  </a:tcPr>
                </a:tc>
                <a:tc>
                  <a:txBody>
                    <a:bodyPr/>
                    <a:lstStyle/>
                    <a:p>
                      <a:pPr algn="ctr" indent="0" marL="0">
                        <a:buNone/>
                      </a:pPr>
                      <a:r>
                        <a:rPr lang="en-US" sz="1200" b="1" dirty="0">
                          <a:solidFill>
                            <a:srgbClr val="0B1220"/>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2DD4BF"/>
                    </a:solidFill>
                  </a:tcPr>
                </a:tc>
                <a:tc>
                  <a:txBody>
                    <a:bodyPr/>
                    <a:lstStyle/>
                    <a:p>
                      <a:pPr algn="ctr" indent="0" marL="0">
                        <a:buNone/>
                      </a:pPr>
                      <a:r>
                        <a:rPr lang="en-US" sz="1200" b="1" dirty="0">
                          <a:solidFill>
                            <a:srgbClr val="0B1220"/>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2DD4BF"/>
                    </a:solidFill>
                  </a:tcPr>
                </a:tc>
                <a:tc>
                  <a:txBody>
                    <a:bodyPr/>
                    <a:lstStyle/>
                    <a:p>
                      <a:pPr algn="ctr" indent="0" marL="0">
                        <a:buNone/>
                      </a:pPr>
                      <a:r>
                        <a:rPr lang="en-US" sz="1200" b="1" dirty="0">
                          <a:solidFill>
                            <a:srgbClr val="0B1220"/>
                          </a:solidFill>
                          <a:latin typeface="Calibri" pitchFamily="34" charset="0"/>
                          <a:ea typeface="Calibri" pitchFamily="34" charset="-122"/>
                          <a:cs typeface="Calibri" pitchFamily="34" charset="-120"/>
                        </a:rPr>
                        <a:t>6</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2DD4BF"/>
                    </a:solidFill>
                  </a:tcPr>
                </a:tc>
                <a:tc>
                  <a:txBody>
                    <a:bodyPr/>
                    <a:lstStyle/>
                    <a:p>
                      <a:pPr algn="ctr" indent="0" marL="0">
                        <a:buNone/>
                      </a:pPr>
                      <a:r>
                        <a:rPr lang="en-US" sz="1200" b="1" dirty="0">
                          <a:solidFill>
                            <a:srgbClr val="0B1220"/>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2DD4BF"/>
                    </a:solidFill>
                  </a:tcPr>
                </a:tc>
                <a:tc>
                  <a:txBody>
                    <a:bodyPr/>
                    <a:lstStyle/>
                    <a:p>
                      <a:pPr algn="ctr" indent="0" marL="0">
                        <a:buNone/>
                      </a:pPr>
                      <a:r>
                        <a:rPr lang="en-US" sz="1200" b="1" dirty="0">
                          <a:solidFill>
                            <a:srgbClr val="0B1220"/>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2DD4BF"/>
                    </a:solidFill>
                  </a:tcPr>
                </a:tc>
              </a:tr>
              <a:tr h="310896">
                <a:tc>
                  <a:txBody>
                    <a:bodyPr/>
                    <a:lstStyle/>
                    <a:p>
                      <a:pPr algn="ctr" indent="0" marL="0">
                        <a:buNone/>
                      </a:pPr>
                      <a:r>
                        <a:rPr lang="en-US" sz="1200" b="1" dirty="0">
                          <a:solidFill>
                            <a:srgbClr val="FBBF24"/>
                          </a:solidFill>
                          <a:latin typeface="Calibri" pitchFamily="34" charset="0"/>
                          <a:ea typeface="Calibri" pitchFamily="34" charset="-122"/>
                          <a:cs typeface="Calibri" pitchFamily="34" charset="-120"/>
                        </a:rPr>
                        <a:t>dp[w]</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22324F"/>
                    </a:solidFill>
                  </a:tcPr>
                </a:tc>
                <a:tc>
                  <a:txBody>
                    <a:bodyPr/>
                    <a:lstStyle/>
                    <a:p>
                      <a:pPr algn="ctr" indent="0" marL="0">
                        <a:buNone/>
                      </a:pPr>
                      <a:r>
                        <a:rPr lang="en-US" sz="1200" dirty="0">
                          <a:solidFill>
                            <a:srgbClr val="F1F5F9"/>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33B"/>
                    </a:solidFill>
                  </a:tcPr>
                </a:tc>
                <a:tc>
                  <a:txBody>
                    <a:bodyPr/>
                    <a:lstStyle/>
                    <a:p>
                      <a:pPr algn="ctr" indent="0" marL="0">
                        <a:buNone/>
                      </a:pPr>
                      <a:r>
                        <a:rPr lang="en-US" sz="1200" dirty="0">
                          <a:solidFill>
                            <a:srgbClr val="F1F5F9"/>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33B"/>
                    </a:solidFill>
                  </a:tcPr>
                </a:tc>
                <a:tc>
                  <a:txBody>
                    <a:bodyPr/>
                    <a:lstStyle/>
                    <a:p>
                      <a:pPr algn="ctr" indent="0" marL="0">
                        <a:buNone/>
                      </a:pPr>
                      <a:r>
                        <a:rPr lang="en-US" sz="1200" dirty="0">
                          <a:solidFill>
                            <a:srgbClr val="F1F5F9"/>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33B"/>
                    </a:solidFill>
                  </a:tcPr>
                </a:tc>
                <a:tc>
                  <a:txBody>
                    <a:bodyPr/>
                    <a:lstStyle/>
                    <a:p>
                      <a:pPr algn="ctr" indent="0" marL="0">
                        <a:buNone/>
                      </a:pPr>
                      <a:r>
                        <a:rPr lang="en-US" sz="1200" dirty="0">
                          <a:solidFill>
                            <a:srgbClr val="F1F5F9"/>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33B"/>
                    </a:solidFill>
                  </a:tcPr>
                </a:tc>
                <a:tc>
                  <a:txBody>
                    <a:bodyPr/>
                    <a:lstStyle/>
                    <a:p>
                      <a:pPr algn="ctr" indent="0" marL="0">
                        <a:buNone/>
                      </a:pPr>
                      <a:r>
                        <a:rPr lang="en-US" sz="1200" dirty="0">
                          <a:solidFill>
                            <a:srgbClr val="F1F5F9"/>
                          </a:solidFill>
                          <a:latin typeface="Calibri" pitchFamily="34" charset="0"/>
                          <a:ea typeface="Calibri" pitchFamily="34" charset="-122"/>
                          <a:cs typeface="Calibri" pitchFamily="34" charset="-120"/>
                        </a:rPr>
                        <a:t>6</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33B"/>
                    </a:solidFill>
                  </a:tcPr>
                </a:tc>
                <a:tc>
                  <a:txBody>
                    <a:bodyPr/>
                    <a:lstStyle/>
                    <a:p>
                      <a:pPr algn="ctr" indent="0" marL="0">
                        <a:buNone/>
                      </a:pPr>
                      <a:r>
                        <a:rPr lang="en-US" sz="1200" dirty="0">
                          <a:solidFill>
                            <a:srgbClr val="F1F5F9"/>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33B"/>
                    </a:solidFill>
                  </a:tcPr>
                </a:tc>
                <a:tc>
                  <a:txBody>
                    <a:bodyPr/>
                    <a:lstStyle/>
                    <a:p>
                      <a:pPr algn="ctr" indent="0" marL="0">
                        <a:buNone/>
                      </a:pPr>
                      <a:r>
                        <a:rPr lang="en-US" sz="1200" dirty="0">
                          <a:solidFill>
                            <a:srgbClr val="F1F5F9"/>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33B"/>
                    </a:solidFill>
                  </a:tcPr>
                </a:tc>
                <a:tc>
                  <a:txBody>
                    <a:bodyPr/>
                    <a:lstStyle/>
                    <a:p>
                      <a:pPr algn="ctr" indent="0" marL="0">
                        <a:buNone/>
                      </a:pPr>
                      <a:r>
                        <a:rPr lang="en-US" sz="1200" dirty="0">
                          <a:solidFill>
                            <a:srgbClr val="F1F5F9"/>
                          </a:solidFill>
                          <a:latin typeface="Calibri" pitchFamily="34" charset="0"/>
                          <a:ea typeface="Calibri" pitchFamily="34" charset="-122"/>
                          <a:cs typeface="Calibri" pitchFamily="34" charset="-120"/>
                        </a:rPr>
                        <a:t>11</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33B"/>
                    </a:solidFill>
                  </a:tcPr>
                </a:tc>
                <a:tc>
                  <a:txBody>
                    <a:bodyPr/>
                    <a:lstStyle/>
                    <a:p>
                      <a:pPr algn="ctr" indent="0" marL="0">
                        <a:buNone/>
                      </a:pPr>
                      <a:r>
                        <a:rPr lang="en-US" sz="1200" b="1" dirty="0">
                          <a:solidFill>
                            <a:srgbClr val="0B1220"/>
                          </a:solidFill>
                          <a:latin typeface="Calibri" pitchFamily="34" charset="0"/>
                          <a:ea typeface="Calibri" pitchFamily="34" charset="-122"/>
                          <a:cs typeface="Calibri" pitchFamily="34" charset="-120"/>
                        </a:rPr>
                        <a:t>13</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4ADE80"/>
                    </a:solidFill>
                  </a:tcPr>
                </a:tc>
              </a:tr>
            </a:tbl>
          </a:graphicData>
        </a:graphic>
      </p:graphicFrame>
      <p:sp>
        <p:nvSpPr>
          <p:cNvPr id="10" name="Text 7"/>
          <p:cNvSpPr/>
          <p:nvPr/>
        </p:nvSpPr>
        <p:spPr>
          <a:xfrm>
            <a:off x="365760" y="4114800"/>
            <a:ext cx="4754880" cy="640080"/>
          </a:xfrm>
          <a:prstGeom prst="rect">
            <a:avLst/>
          </a:prstGeom>
          <a:noFill/>
          <a:ln/>
        </p:spPr>
        <p:txBody>
          <a:bodyPr wrap="square" lIns="0" tIns="0" rIns="0" bIns="0" rtlCol="0" anchor="t"/>
          <a:lstStyle/>
          <a:p>
            <a:pPr indent="0" marL="0">
              <a:buNone/>
            </a:pPr>
            <a:r>
              <a:rPr lang="en-US" sz="1200" dirty="0">
                <a:solidFill>
                  <a:srgbClr val="94A3B8"/>
                </a:solidFill>
                <a:latin typeface="Calibri" pitchFamily="34" charset="0"/>
                <a:ea typeface="Calibri" pitchFamily="34" charset="-122"/>
                <a:cs typeface="Calibri" pitchFamily="34" charset="-120"/>
              </a:rPr>
              <a:t>Items P (w=2, v=3), Q (w=3, v=5), W=8. </a:t>
            </a:r>
            <a:pPr indent="0" marL="0">
              <a:buNone/>
            </a:pPr>
            <a:r>
              <a:rPr lang="en-US" sz="1200" b="1" dirty="0">
                <a:solidFill>
                  <a:srgbClr val="4ADE80"/>
                </a:solidFill>
                <a:latin typeface="Calibri" pitchFamily="34" charset="0"/>
                <a:ea typeface="Calibri" pitchFamily="34" charset="-122"/>
                <a:cs typeface="Calibri" pitchFamily="34" charset="-120"/>
              </a:rPr>
              <a:t>Unbounded: 13 (Q+Q+P). Same items as 0/1: only 8.</a:t>
            </a:r>
            <a:endParaRPr lang="en-US" sz="1200" dirty="0"/>
          </a:p>
        </p:txBody>
      </p:sp>
      <p:sp>
        <p:nvSpPr>
          <p:cNvPr id="11" name="Shape 8"/>
          <p:cNvSpPr/>
          <p:nvPr/>
        </p:nvSpPr>
        <p:spPr>
          <a:xfrm>
            <a:off x="5303520" y="1188720"/>
            <a:ext cx="3474720" cy="1097280"/>
          </a:xfrm>
          <a:prstGeom prst="roundRect">
            <a:avLst>
              <a:gd name="adj" fmla="val 8333"/>
            </a:avLst>
          </a:prstGeom>
          <a:solidFill>
            <a:srgbClr val="15233B"/>
          </a:solidFill>
          <a:ln w="12700">
            <a:solidFill>
              <a:srgbClr val="FB7185"/>
            </a:solidFill>
            <a:prstDash val="solid"/>
          </a:ln>
        </p:spPr>
      </p:sp>
      <p:sp>
        <p:nvSpPr>
          <p:cNvPr id="12" name="Text 9"/>
          <p:cNvSpPr/>
          <p:nvPr/>
        </p:nvSpPr>
        <p:spPr>
          <a:xfrm>
            <a:off x="5440680" y="1252728"/>
            <a:ext cx="3200400" cy="274320"/>
          </a:xfrm>
          <a:prstGeom prst="rect">
            <a:avLst/>
          </a:prstGeom>
          <a:noFill/>
          <a:ln/>
        </p:spPr>
        <p:txBody>
          <a:bodyPr wrap="square" lIns="0" tIns="0" rIns="0" bIns="0" rtlCol="0" anchor="t"/>
          <a:lstStyle/>
          <a:p>
            <a:pPr indent="0" marL="0">
              <a:buNone/>
            </a:pPr>
            <a:r>
              <a:rPr lang="en-US" sz="1400" b="1" dirty="0">
                <a:solidFill>
                  <a:srgbClr val="FB7185"/>
                </a:solidFill>
                <a:latin typeface="Calibri" pitchFamily="34" charset="0"/>
                <a:ea typeface="Calibri" pitchFamily="34" charset="-122"/>
                <a:cs typeface="Calibri" pitchFamily="34" charset="-120"/>
              </a:rPr>
              <a:t>Brute force</a:t>
            </a:r>
            <a:endParaRPr lang="en-US" sz="1400" dirty="0"/>
          </a:p>
        </p:txBody>
      </p:sp>
      <p:sp>
        <p:nvSpPr>
          <p:cNvPr id="13" name="Text 10"/>
          <p:cNvSpPr/>
          <p:nvPr/>
        </p:nvSpPr>
        <p:spPr>
          <a:xfrm>
            <a:off x="5440680" y="1554480"/>
            <a:ext cx="3200400" cy="685800"/>
          </a:xfrm>
          <a:prstGeom prst="rect">
            <a:avLst/>
          </a:prstGeom>
          <a:noFill/>
          <a:ln/>
        </p:spPr>
        <p:txBody>
          <a:bodyPr wrap="square" lIns="0" tIns="0" rIns="0" bIns="0" rtlCol="0" anchor="t"/>
          <a:lstStyle/>
          <a:p>
            <a:pPr indent="0" marL="0">
              <a:buNone/>
            </a:pPr>
            <a:r>
              <a:rPr lang="en-US" sz="1200" dirty="0">
                <a:solidFill>
                  <a:srgbClr val="F1F5F9"/>
                </a:solidFill>
                <a:latin typeface="Calibri" pitchFamily="34" charset="0"/>
                <a:ea typeface="Calibri" pitchFamily="34" charset="-122"/>
                <a:cs typeface="Calibri" pitchFamily="34" charset="-120"/>
              </a:rPr>
              <a:t>Try all 2ⁿ subsets and keep the best valid one. Simple, but only for very small n.</a:t>
            </a:r>
            <a:endParaRPr lang="en-US" sz="1200" dirty="0"/>
          </a:p>
        </p:txBody>
      </p:sp>
      <p:sp>
        <p:nvSpPr>
          <p:cNvPr id="14" name="Shape 11"/>
          <p:cNvSpPr/>
          <p:nvPr/>
        </p:nvSpPr>
        <p:spPr>
          <a:xfrm>
            <a:off x="5303520" y="2377440"/>
            <a:ext cx="3474720" cy="1097280"/>
          </a:xfrm>
          <a:prstGeom prst="roundRect">
            <a:avLst>
              <a:gd name="adj" fmla="val 8333"/>
            </a:avLst>
          </a:prstGeom>
          <a:solidFill>
            <a:srgbClr val="15233B"/>
          </a:solidFill>
          <a:ln w="12700">
            <a:solidFill>
              <a:srgbClr val="FBBF24"/>
            </a:solidFill>
            <a:prstDash val="solid"/>
          </a:ln>
        </p:spPr>
      </p:sp>
      <p:sp>
        <p:nvSpPr>
          <p:cNvPr id="15" name="Text 12"/>
          <p:cNvSpPr/>
          <p:nvPr/>
        </p:nvSpPr>
        <p:spPr>
          <a:xfrm>
            <a:off x="5440680" y="2441448"/>
            <a:ext cx="3200400" cy="274320"/>
          </a:xfrm>
          <a:prstGeom prst="rect">
            <a:avLst/>
          </a:prstGeom>
          <a:noFill/>
          <a:ln/>
        </p:spPr>
        <p:txBody>
          <a:bodyPr wrap="square" lIns="0" tIns="0" rIns="0" bIns="0" rtlCol="0" anchor="t"/>
          <a:lstStyle/>
          <a:p>
            <a:pPr indent="0" marL="0">
              <a:buNone/>
            </a:pPr>
            <a:r>
              <a:rPr lang="en-US" sz="1400" b="1" dirty="0">
                <a:solidFill>
                  <a:srgbClr val="FBBF24"/>
                </a:solidFill>
                <a:latin typeface="Calibri" pitchFamily="34" charset="0"/>
                <a:ea typeface="Calibri" pitchFamily="34" charset="-122"/>
                <a:cs typeface="Calibri" pitchFamily="34" charset="-120"/>
              </a:rPr>
              <a:t>Backtracking</a:t>
            </a:r>
            <a:endParaRPr lang="en-US" sz="1400" dirty="0"/>
          </a:p>
        </p:txBody>
      </p:sp>
      <p:sp>
        <p:nvSpPr>
          <p:cNvPr id="16" name="Text 13"/>
          <p:cNvSpPr/>
          <p:nvPr/>
        </p:nvSpPr>
        <p:spPr>
          <a:xfrm>
            <a:off x="5440680" y="2743200"/>
            <a:ext cx="3200400" cy="685800"/>
          </a:xfrm>
          <a:prstGeom prst="rect">
            <a:avLst/>
          </a:prstGeom>
          <a:noFill/>
          <a:ln/>
        </p:spPr>
        <p:txBody>
          <a:bodyPr wrap="square" lIns="0" tIns="0" rIns="0" bIns="0" rtlCol="0" anchor="t"/>
          <a:lstStyle/>
          <a:p>
            <a:pPr indent="0" marL="0">
              <a:buNone/>
            </a:pPr>
            <a:r>
              <a:rPr lang="en-US" sz="1200" dirty="0">
                <a:solidFill>
                  <a:srgbClr val="F1F5F9"/>
                </a:solidFill>
                <a:latin typeface="Calibri" pitchFamily="34" charset="0"/>
                <a:ea typeface="Calibri" pitchFamily="34" charset="-122"/>
                <a:cs typeface="Calibri" pitchFamily="34" charset="-120"/>
              </a:rPr>
              <a:t>Build selections item by item; abandon a branch as soon as weight exceeds W.</a:t>
            </a:r>
            <a:endParaRPr lang="en-US" sz="1200" dirty="0"/>
          </a:p>
        </p:txBody>
      </p:sp>
      <p:sp>
        <p:nvSpPr>
          <p:cNvPr id="17" name="Shape 14"/>
          <p:cNvSpPr/>
          <p:nvPr/>
        </p:nvSpPr>
        <p:spPr>
          <a:xfrm>
            <a:off x="5303520" y="3566160"/>
            <a:ext cx="3474720" cy="1097280"/>
          </a:xfrm>
          <a:prstGeom prst="roundRect">
            <a:avLst>
              <a:gd name="adj" fmla="val 8333"/>
            </a:avLst>
          </a:prstGeom>
          <a:solidFill>
            <a:srgbClr val="15233B"/>
          </a:solidFill>
          <a:ln w="12700">
            <a:solidFill>
              <a:srgbClr val="2DD4BF"/>
            </a:solidFill>
            <a:prstDash val="solid"/>
          </a:ln>
        </p:spPr>
      </p:sp>
      <p:sp>
        <p:nvSpPr>
          <p:cNvPr id="18" name="Text 15"/>
          <p:cNvSpPr/>
          <p:nvPr/>
        </p:nvSpPr>
        <p:spPr>
          <a:xfrm>
            <a:off x="5440680" y="3630168"/>
            <a:ext cx="3200400" cy="274320"/>
          </a:xfrm>
          <a:prstGeom prst="rect">
            <a:avLst/>
          </a:prstGeom>
          <a:noFill/>
          <a:ln/>
        </p:spPr>
        <p:txBody>
          <a:bodyPr wrap="square" lIns="0" tIns="0" rIns="0" bIns="0" rtlCol="0" anchor="t"/>
          <a:lstStyle/>
          <a:p>
            <a:pPr indent="0" marL="0">
              <a:buNone/>
            </a:pPr>
            <a:r>
              <a:rPr lang="en-US" sz="1400" b="1" dirty="0">
                <a:solidFill>
                  <a:srgbClr val="2DD4BF"/>
                </a:solidFill>
                <a:latin typeface="Calibri" pitchFamily="34" charset="0"/>
                <a:ea typeface="Calibri" pitchFamily="34" charset="-122"/>
                <a:cs typeface="Calibri" pitchFamily="34" charset="-120"/>
              </a:rPr>
              <a:t>Branch and bound</a:t>
            </a:r>
            <a:endParaRPr lang="en-US" sz="1400" dirty="0"/>
          </a:p>
        </p:txBody>
      </p:sp>
      <p:sp>
        <p:nvSpPr>
          <p:cNvPr id="19" name="Text 16"/>
          <p:cNvSpPr/>
          <p:nvPr/>
        </p:nvSpPr>
        <p:spPr>
          <a:xfrm>
            <a:off x="5440680" y="3931920"/>
            <a:ext cx="3200400" cy="685800"/>
          </a:xfrm>
          <a:prstGeom prst="rect">
            <a:avLst/>
          </a:prstGeom>
          <a:noFill/>
          <a:ln/>
        </p:spPr>
        <p:txBody>
          <a:bodyPr wrap="square" lIns="0" tIns="0" rIns="0" bIns="0" rtlCol="0" anchor="t"/>
          <a:lstStyle/>
          <a:p>
            <a:pPr indent="0" marL="0">
              <a:buNone/>
            </a:pPr>
            <a:r>
              <a:rPr lang="en-US" sz="1200" dirty="0">
                <a:solidFill>
                  <a:srgbClr val="F1F5F9"/>
                </a:solidFill>
                <a:latin typeface="Calibri" pitchFamily="34" charset="0"/>
                <a:ea typeface="Calibri" pitchFamily="34" charset="-122"/>
                <a:cs typeface="Calibri" pitchFamily="34" charset="-120"/>
              </a:rPr>
              <a:t>Compute an upper bound for each branch; skip branches that cannot beat the best found so far.</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7315200" y="45720"/>
            <a:ext cx="1554480" cy="1005840"/>
          </a:xfrm>
          <a:prstGeom prst="rect">
            <a:avLst/>
          </a:prstGeom>
          <a:noFill/>
          <a:ln/>
        </p:spPr>
        <p:txBody>
          <a:bodyPr wrap="square" lIns="0" tIns="0" rIns="0" bIns="0" rtlCol="0" anchor="ctr"/>
          <a:lstStyle/>
          <a:p>
            <a:pPr algn="r" indent="0" marL="0">
              <a:buNone/>
            </a:pPr>
            <a:r>
              <a:rPr lang="en-US" sz="6600" b="1" dirty="0">
                <a:solidFill>
                  <a:srgbClr val="16233D"/>
                </a:solidFill>
                <a:latin typeface="Cambria" pitchFamily="34" charset="0"/>
                <a:ea typeface="Cambria" pitchFamily="34" charset="-122"/>
                <a:cs typeface="Cambria" pitchFamily="34" charset="-120"/>
              </a:rPr>
              <a:t>09</a:t>
            </a:r>
            <a:endParaRPr lang="en-US" sz="6600" dirty="0"/>
          </a:p>
        </p:txBody>
      </p:sp>
      <p:sp>
        <p:nvSpPr>
          <p:cNvPr id="3" name="Text 1"/>
          <p:cNvSpPr/>
          <p:nvPr/>
        </p:nvSpPr>
        <p:spPr>
          <a:xfrm>
            <a:off x="365760" y="228600"/>
            <a:ext cx="5486400" cy="228600"/>
          </a:xfrm>
          <a:prstGeom prst="rect">
            <a:avLst/>
          </a:prstGeom>
          <a:noFill/>
          <a:ln/>
        </p:spPr>
        <p:txBody>
          <a:bodyPr wrap="square" lIns="0" tIns="0" rIns="0" bIns="0" rtlCol="0" anchor="ctr"/>
          <a:lstStyle/>
          <a:p>
            <a:pPr indent="0" marL="0">
              <a:buNone/>
            </a:pPr>
            <a:r>
              <a:rPr lang="en-US" sz="1200" b="1" spc="400" kern="0" dirty="0">
                <a:solidFill>
                  <a:srgbClr val="2DD4BF"/>
                </a:solidFill>
                <a:latin typeface="Calibri" pitchFamily="34" charset="0"/>
                <a:ea typeface="Calibri" pitchFamily="34" charset="-122"/>
                <a:cs typeface="Calibri" pitchFamily="34" charset="-120"/>
              </a:rPr>
              <a:t>COMPARISON</a:t>
            </a:r>
            <a:endParaRPr lang="en-US" sz="1200" dirty="0"/>
          </a:p>
        </p:txBody>
      </p:sp>
      <p:sp>
        <p:nvSpPr>
          <p:cNvPr id="4" name="Text 2"/>
          <p:cNvSpPr/>
          <p:nvPr/>
        </p:nvSpPr>
        <p:spPr>
          <a:xfrm>
            <a:off x="365760" y="457200"/>
            <a:ext cx="7498080" cy="594360"/>
          </a:xfrm>
          <a:prstGeom prst="rect">
            <a:avLst/>
          </a:prstGeom>
          <a:noFill/>
          <a:ln/>
        </p:spPr>
        <p:txBody>
          <a:bodyPr wrap="square" lIns="0" tIns="0" rIns="0" bIns="0" rtlCol="0" anchor="ctr"/>
          <a:lstStyle/>
          <a:p>
            <a:pPr indent="0" marL="0">
              <a:buNone/>
            </a:pPr>
            <a:r>
              <a:rPr lang="en-US" sz="2800" b="1" dirty="0">
                <a:solidFill>
                  <a:srgbClr val="F1F5F9"/>
                </a:solidFill>
                <a:latin typeface="Cambria" pitchFamily="34" charset="0"/>
                <a:ea typeface="Cambria" pitchFamily="34" charset="-122"/>
                <a:cs typeface="Cambria" pitchFamily="34" charset="-120"/>
              </a:rPr>
              <a:t>Algorithms and Complexity</a:t>
            </a:r>
            <a:endParaRPr lang="en-US" sz="28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8412480" cy="914400"/>
        </p:xfrm>
        <a:graphic>
          <a:graphicData uri="http://schemas.openxmlformats.org/drawingml/2006/table">
            <a:tbl>
              <a:tblPr/>
              <a:tblGrid>
                <a:gridCol w="2286000"/>
                <a:gridCol w="1554480"/>
                <a:gridCol w="1371600"/>
                <a:gridCol w="822960"/>
                <a:gridCol w="2377440"/>
              </a:tblGrid>
              <a:tr h="402336">
                <a:tc>
                  <a:txBody>
                    <a:bodyPr/>
                    <a:lstStyle/>
                    <a:p>
                      <a:pPr algn="ctr" indent="0" marL="0">
                        <a:buNone/>
                      </a:pPr>
                      <a:r>
                        <a:rPr lang="en-US" sz="1200" b="1" dirty="0">
                          <a:solidFill>
                            <a:srgbClr val="0B1220"/>
                          </a:solidFill>
                          <a:latin typeface="Calibri" pitchFamily="34" charset="0"/>
                          <a:ea typeface="Calibri" pitchFamily="34" charset="-122"/>
                          <a:cs typeface="Calibri" pitchFamily="34" charset="-120"/>
                        </a:rPr>
                        <a:t>Approach</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2DD4BF"/>
                    </a:solidFill>
                  </a:tcPr>
                </a:tc>
                <a:tc>
                  <a:txBody>
                    <a:bodyPr/>
                    <a:lstStyle/>
                    <a:p>
                      <a:pPr algn="ctr" indent="0" marL="0">
                        <a:buNone/>
                      </a:pPr>
                      <a:r>
                        <a:rPr lang="en-US" sz="1200" b="1" dirty="0">
                          <a:solidFill>
                            <a:srgbClr val="0B1220"/>
                          </a:solidFill>
                          <a:latin typeface="Calibri" pitchFamily="34" charset="0"/>
                          <a:ea typeface="Calibri" pitchFamily="34" charset="-122"/>
                          <a:cs typeface="Calibri" pitchFamily="34" charset="-120"/>
                        </a:rPr>
                        <a:t>Time</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2DD4BF"/>
                    </a:solidFill>
                  </a:tcPr>
                </a:tc>
                <a:tc>
                  <a:txBody>
                    <a:bodyPr/>
                    <a:lstStyle/>
                    <a:p>
                      <a:pPr algn="ctr" indent="0" marL="0">
                        <a:buNone/>
                      </a:pPr>
                      <a:r>
                        <a:rPr lang="en-US" sz="1200" b="1" dirty="0">
                          <a:solidFill>
                            <a:srgbClr val="0B1220"/>
                          </a:solidFill>
                          <a:latin typeface="Calibri" pitchFamily="34" charset="0"/>
                          <a:ea typeface="Calibri" pitchFamily="34" charset="-122"/>
                          <a:cs typeface="Calibri" pitchFamily="34" charset="-120"/>
                        </a:rPr>
                        <a:t>Space</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2DD4BF"/>
                    </a:solidFill>
                  </a:tcPr>
                </a:tc>
                <a:tc>
                  <a:txBody>
                    <a:bodyPr/>
                    <a:lstStyle/>
                    <a:p>
                      <a:pPr algn="ctr" indent="0" marL="0">
                        <a:buNone/>
                      </a:pPr>
                      <a:r>
                        <a:rPr lang="en-US" sz="1200" b="1" dirty="0">
                          <a:solidFill>
                            <a:srgbClr val="0B1220"/>
                          </a:solidFill>
                          <a:latin typeface="Calibri" pitchFamily="34" charset="0"/>
                          <a:ea typeface="Calibri" pitchFamily="34" charset="-122"/>
                          <a:cs typeface="Calibri" pitchFamily="34" charset="-120"/>
                        </a:rPr>
                        <a:t>Exact?</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2DD4BF"/>
                    </a:solidFill>
                  </a:tcPr>
                </a:tc>
                <a:tc>
                  <a:txBody>
                    <a:bodyPr/>
                    <a:lstStyle/>
                    <a:p>
                      <a:pPr algn="ctr" indent="0" marL="0">
                        <a:buNone/>
                      </a:pPr>
                      <a:r>
                        <a:rPr lang="en-US" sz="1200" b="1" dirty="0">
                          <a:solidFill>
                            <a:srgbClr val="0B1220"/>
                          </a:solidFill>
                          <a:latin typeface="Calibri" pitchFamily="34" charset="0"/>
                          <a:ea typeface="Calibri" pitchFamily="34" charset="-122"/>
                          <a:cs typeface="Calibri" pitchFamily="34" charset="-120"/>
                        </a:rPr>
                        <a:t>Best used when</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2DD4BF"/>
                    </a:solidFill>
                  </a:tcPr>
                </a:tc>
              </a:tr>
              <a:tr h="402336">
                <a:tc>
                  <a:txBody>
                    <a:bodyPr/>
                    <a:lstStyle/>
                    <a:p>
                      <a:pPr algn="ctr" indent="0" marL="0">
                        <a:buNone/>
                      </a:pPr>
                      <a:r>
                        <a:rPr lang="en-US" sz="1200" b="1" dirty="0">
                          <a:solidFill>
                            <a:srgbClr val="2DD4BF"/>
                          </a:solidFill>
                          <a:latin typeface="Calibri" pitchFamily="34" charset="0"/>
                          <a:ea typeface="Calibri" pitchFamily="34" charset="-122"/>
                          <a:cs typeface="Calibri" pitchFamily="34" charset="-120"/>
                        </a:rPr>
                        <a:t>Fractional: Greedy</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33B"/>
                    </a:solidFill>
                  </a:tcPr>
                </a:tc>
                <a:tc>
                  <a:txBody>
                    <a:bodyPr/>
                    <a:lstStyle/>
                    <a:p>
                      <a:pPr algn="ctr" indent="0" marL="0">
                        <a:buNone/>
                      </a:pPr>
                      <a:r>
                        <a:rPr lang="en-US" sz="1200" dirty="0">
                          <a:solidFill>
                            <a:srgbClr val="F1F5F9"/>
                          </a:solidFill>
                          <a:latin typeface="Calibri" pitchFamily="34" charset="0"/>
                          <a:ea typeface="Calibri" pitchFamily="34" charset="-122"/>
                          <a:cs typeface="Calibri" pitchFamily="34" charset="-120"/>
                        </a:rPr>
                        <a:t>O(n log n)</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33B"/>
                    </a:solidFill>
                  </a:tcPr>
                </a:tc>
                <a:tc>
                  <a:txBody>
                    <a:bodyPr/>
                    <a:lstStyle/>
                    <a:p>
                      <a:pPr algn="ctr" indent="0" marL="0">
                        <a:buNone/>
                      </a:pPr>
                      <a:r>
                        <a:rPr lang="en-US" sz="1200" dirty="0">
                          <a:solidFill>
                            <a:srgbClr val="F1F5F9"/>
                          </a:solidFill>
                          <a:latin typeface="Calibri" pitchFamily="34" charset="0"/>
                          <a:ea typeface="Calibri" pitchFamily="34" charset="-122"/>
                          <a:cs typeface="Calibri" pitchFamily="34" charset="-120"/>
                        </a:rPr>
                        <a:t>O(n)</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33B"/>
                    </a:solidFill>
                  </a:tcPr>
                </a:tc>
                <a:tc>
                  <a:txBody>
                    <a:bodyPr/>
                    <a:lstStyle/>
                    <a:p>
                      <a:pPr algn="ctr" indent="0" marL="0">
                        <a:buNone/>
                      </a:pPr>
                      <a:r>
                        <a:rPr lang="en-US" sz="1200" dirty="0">
                          <a:solidFill>
                            <a:srgbClr val="F1F5F9"/>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33B"/>
                    </a:solidFill>
                  </a:tcPr>
                </a:tc>
                <a:tc>
                  <a:txBody>
                    <a:bodyPr/>
                    <a:lstStyle/>
                    <a:p>
                      <a:pPr algn="ctr" indent="0" marL="0">
                        <a:buNone/>
                      </a:pPr>
                      <a:r>
                        <a:rPr lang="en-US" sz="1200" dirty="0">
                          <a:solidFill>
                            <a:srgbClr val="F1F5F9"/>
                          </a:solidFill>
                          <a:latin typeface="Calibri" pitchFamily="34" charset="0"/>
                          <a:ea typeface="Calibri" pitchFamily="34" charset="-122"/>
                          <a:cs typeface="Calibri" pitchFamily="34" charset="-120"/>
                        </a:rPr>
                        <a:t>Items can be split</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33B"/>
                    </a:solidFill>
                  </a:tcPr>
                </a:tc>
              </a:tr>
              <a:tr h="402336">
                <a:tc>
                  <a:txBody>
                    <a:bodyPr/>
                    <a:lstStyle/>
                    <a:p>
                      <a:pPr algn="ctr" indent="0" marL="0">
                        <a:buNone/>
                      </a:pPr>
                      <a:r>
                        <a:rPr lang="en-US" sz="1200" b="1" dirty="0">
                          <a:solidFill>
                            <a:srgbClr val="FB7185"/>
                          </a:solidFill>
                          <a:latin typeface="Calibri" pitchFamily="34" charset="0"/>
                          <a:ea typeface="Calibri" pitchFamily="34" charset="-122"/>
                          <a:cs typeface="Calibri" pitchFamily="34" charset="-120"/>
                        </a:rPr>
                        <a:t>0/1: Brute force</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33B"/>
                    </a:solidFill>
                  </a:tcPr>
                </a:tc>
                <a:tc>
                  <a:txBody>
                    <a:bodyPr/>
                    <a:lstStyle/>
                    <a:p>
                      <a:pPr algn="ctr" indent="0" marL="0">
                        <a:buNone/>
                      </a:pPr>
                      <a:r>
                        <a:rPr lang="en-US" sz="1200" dirty="0">
                          <a:solidFill>
                            <a:srgbClr val="F1F5F9"/>
                          </a:solidFill>
                          <a:latin typeface="Calibri" pitchFamily="34" charset="0"/>
                          <a:ea typeface="Calibri" pitchFamily="34" charset="-122"/>
                          <a:cs typeface="Calibri" pitchFamily="34" charset="-120"/>
                        </a:rPr>
                        <a:t>O(2ⁿ)</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33B"/>
                    </a:solidFill>
                  </a:tcPr>
                </a:tc>
                <a:tc>
                  <a:txBody>
                    <a:bodyPr/>
                    <a:lstStyle/>
                    <a:p>
                      <a:pPr algn="ctr" indent="0" marL="0">
                        <a:buNone/>
                      </a:pPr>
                      <a:r>
                        <a:rPr lang="en-US" sz="1200" dirty="0">
                          <a:solidFill>
                            <a:srgbClr val="F1F5F9"/>
                          </a:solidFill>
                          <a:latin typeface="Calibri" pitchFamily="34" charset="0"/>
                          <a:ea typeface="Calibri" pitchFamily="34" charset="-122"/>
                          <a:cs typeface="Calibri" pitchFamily="34" charset="-120"/>
                        </a:rPr>
                        <a:t>O(n)</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33B"/>
                    </a:solidFill>
                  </a:tcPr>
                </a:tc>
                <a:tc>
                  <a:txBody>
                    <a:bodyPr/>
                    <a:lstStyle/>
                    <a:p>
                      <a:pPr algn="ctr" indent="0" marL="0">
                        <a:buNone/>
                      </a:pPr>
                      <a:r>
                        <a:rPr lang="en-US" sz="1200" dirty="0">
                          <a:solidFill>
                            <a:srgbClr val="F1F5F9"/>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33B"/>
                    </a:solidFill>
                  </a:tcPr>
                </a:tc>
                <a:tc>
                  <a:txBody>
                    <a:bodyPr/>
                    <a:lstStyle/>
                    <a:p>
                      <a:pPr algn="ctr" indent="0" marL="0">
                        <a:buNone/>
                      </a:pPr>
                      <a:r>
                        <a:rPr lang="en-US" sz="1200" dirty="0">
                          <a:solidFill>
                            <a:srgbClr val="F1F5F9"/>
                          </a:solidFill>
                          <a:latin typeface="Calibri" pitchFamily="34" charset="0"/>
                          <a:ea typeface="Calibri" pitchFamily="34" charset="-122"/>
                          <a:cs typeface="Calibri" pitchFamily="34" charset="-120"/>
                        </a:rPr>
                        <a:t>n is very small</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33B"/>
                    </a:solidFill>
                  </a:tcPr>
                </a:tc>
              </a:tr>
              <a:tr h="402336">
                <a:tc>
                  <a:txBody>
                    <a:bodyPr/>
                    <a:lstStyle/>
                    <a:p>
                      <a:pPr algn="ctr" indent="0" marL="0">
                        <a:buNone/>
                      </a:pPr>
                      <a:r>
                        <a:rPr lang="en-US" sz="1200" b="1" dirty="0">
                          <a:solidFill>
                            <a:srgbClr val="4ADE80"/>
                          </a:solidFill>
                          <a:latin typeface="Calibri" pitchFamily="34" charset="0"/>
                          <a:ea typeface="Calibri" pitchFamily="34" charset="-122"/>
                          <a:cs typeface="Calibri" pitchFamily="34" charset="-120"/>
                        </a:rPr>
                        <a:t>0/1: DP (2D / 1D)</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33B"/>
                    </a:solidFill>
                  </a:tcPr>
                </a:tc>
                <a:tc>
                  <a:txBody>
                    <a:bodyPr/>
                    <a:lstStyle/>
                    <a:p>
                      <a:pPr algn="ctr" indent="0" marL="0">
                        <a:buNone/>
                      </a:pPr>
                      <a:r>
                        <a:rPr lang="en-US" sz="1200" dirty="0">
                          <a:solidFill>
                            <a:srgbClr val="F1F5F9"/>
                          </a:solidFill>
                          <a:latin typeface="Calibri" pitchFamily="34" charset="0"/>
                          <a:ea typeface="Calibri" pitchFamily="34" charset="-122"/>
                          <a:cs typeface="Calibri" pitchFamily="34" charset="-120"/>
                        </a:rPr>
                        <a:t>O(nW)</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33B"/>
                    </a:solidFill>
                  </a:tcPr>
                </a:tc>
                <a:tc>
                  <a:txBody>
                    <a:bodyPr/>
                    <a:lstStyle/>
                    <a:p>
                      <a:pPr algn="ctr" indent="0" marL="0">
                        <a:buNone/>
                      </a:pPr>
                      <a:r>
                        <a:rPr lang="en-US" sz="1200" dirty="0">
                          <a:solidFill>
                            <a:srgbClr val="F1F5F9"/>
                          </a:solidFill>
                          <a:latin typeface="Calibri" pitchFamily="34" charset="0"/>
                          <a:ea typeface="Calibri" pitchFamily="34" charset="-122"/>
                          <a:cs typeface="Calibri" pitchFamily="34" charset="-120"/>
                        </a:rPr>
                        <a:t>O(nW) / O(W)</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33B"/>
                    </a:solidFill>
                  </a:tcPr>
                </a:tc>
                <a:tc>
                  <a:txBody>
                    <a:bodyPr/>
                    <a:lstStyle/>
                    <a:p>
                      <a:pPr algn="ctr" indent="0" marL="0">
                        <a:buNone/>
                      </a:pPr>
                      <a:r>
                        <a:rPr lang="en-US" sz="1200" dirty="0">
                          <a:solidFill>
                            <a:srgbClr val="F1F5F9"/>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33B"/>
                    </a:solidFill>
                  </a:tcPr>
                </a:tc>
                <a:tc>
                  <a:txBody>
                    <a:bodyPr/>
                    <a:lstStyle/>
                    <a:p>
                      <a:pPr algn="ctr" indent="0" marL="0">
                        <a:buNone/>
                      </a:pPr>
                      <a:r>
                        <a:rPr lang="en-US" sz="1200" dirty="0">
                          <a:solidFill>
                            <a:srgbClr val="F1F5F9"/>
                          </a:solidFill>
                          <a:latin typeface="Calibri" pitchFamily="34" charset="0"/>
                          <a:ea typeface="Calibri" pitchFamily="34" charset="-122"/>
                          <a:cs typeface="Calibri" pitchFamily="34" charset="-120"/>
                        </a:rPr>
                        <a:t>W is moderate</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33B"/>
                    </a:solidFill>
                  </a:tcPr>
                </a:tc>
              </a:tr>
              <a:tr h="402336">
                <a:tc>
                  <a:txBody>
                    <a:bodyPr/>
                    <a:lstStyle/>
                    <a:p>
                      <a:pPr algn="ctr" indent="0" marL="0">
                        <a:buNone/>
                      </a:pPr>
                      <a:r>
                        <a:rPr lang="en-US" sz="1200" b="1" dirty="0">
                          <a:solidFill>
                            <a:srgbClr val="C084FC"/>
                          </a:solidFill>
                          <a:latin typeface="Calibri" pitchFamily="34" charset="0"/>
                          <a:ea typeface="Calibri" pitchFamily="34" charset="-122"/>
                          <a:cs typeface="Calibri" pitchFamily="34" charset="-120"/>
                        </a:rPr>
                        <a:t>Unbounded: DP</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33B"/>
                    </a:solidFill>
                  </a:tcPr>
                </a:tc>
                <a:tc>
                  <a:txBody>
                    <a:bodyPr/>
                    <a:lstStyle/>
                    <a:p>
                      <a:pPr algn="ctr" indent="0" marL="0">
                        <a:buNone/>
                      </a:pPr>
                      <a:r>
                        <a:rPr lang="en-US" sz="1200" dirty="0">
                          <a:solidFill>
                            <a:srgbClr val="F1F5F9"/>
                          </a:solidFill>
                          <a:latin typeface="Calibri" pitchFamily="34" charset="0"/>
                          <a:ea typeface="Calibri" pitchFamily="34" charset="-122"/>
                          <a:cs typeface="Calibri" pitchFamily="34" charset="-120"/>
                        </a:rPr>
                        <a:t>O(nW)</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33B"/>
                    </a:solidFill>
                  </a:tcPr>
                </a:tc>
                <a:tc>
                  <a:txBody>
                    <a:bodyPr/>
                    <a:lstStyle/>
                    <a:p>
                      <a:pPr algn="ctr" indent="0" marL="0">
                        <a:buNone/>
                      </a:pPr>
                      <a:r>
                        <a:rPr lang="en-US" sz="1200" dirty="0">
                          <a:solidFill>
                            <a:srgbClr val="F1F5F9"/>
                          </a:solidFill>
                          <a:latin typeface="Calibri" pitchFamily="34" charset="0"/>
                          <a:ea typeface="Calibri" pitchFamily="34" charset="-122"/>
                          <a:cs typeface="Calibri" pitchFamily="34" charset="-120"/>
                        </a:rPr>
                        <a:t>O(W)</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33B"/>
                    </a:solidFill>
                  </a:tcPr>
                </a:tc>
                <a:tc>
                  <a:txBody>
                    <a:bodyPr/>
                    <a:lstStyle/>
                    <a:p>
                      <a:pPr algn="ctr" indent="0" marL="0">
                        <a:buNone/>
                      </a:pPr>
                      <a:r>
                        <a:rPr lang="en-US" sz="1200" dirty="0">
                          <a:solidFill>
                            <a:srgbClr val="F1F5F9"/>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33B"/>
                    </a:solidFill>
                  </a:tcPr>
                </a:tc>
                <a:tc>
                  <a:txBody>
                    <a:bodyPr/>
                    <a:lstStyle/>
                    <a:p>
                      <a:pPr algn="ctr" indent="0" marL="0">
                        <a:buNone/>
                      </a:pPr>
                      <a:r>
                        <a:rPr lang="en-US" sz="1200" dirty="0">
                          <a:solidFill>
                            <a:srgbClr val="F1F5F9"/>
                          </a:solidFill>
                          <a:latin typeface="Calibri" pitchFamily="34" charset="0"/>
                          <a:ea typeface="Calibri" pitchFamily="34" charset="-122"/>
                          <a:cs typeface="Calibri" pitchFamily="34" charset="-120"/>
                        </a:rPr>
                        <a:t>Items can repeat</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33B"/>
                    </a:solidFill>
                  </a:tcPr>
                </a:tc>
              </a:tr>
              <a:tr h="402336">
                <a:tc>
                  <a:txBody>
                    <a:bodyPr/>
                    <a:lstStyle/>
                    <a:p>
                      <a:pPr algn="ctr" indent="0" marL="0">
                        <a:buNone/>
                      </a:pPr>
                      <a:r>
                        <a:rPr lang="en-US" sz="1200" b="1" dirty="0">
                          <a:solidFill>
                            <a:srgbClr val="FBBF24"/>
                          </a:solidFill>
                          <a:latin typeface="Calibri" pitchFamily="34" charset="0"/>
                          <a:ea typeface="Calibri" pitchFamily="34" charset="-122"/>
                          <a:cs typeface="Calibri" pitchFamily="34" charset="-120"/>
                        </a:rPr>
                        <a:t>0/1: Backtracking / B&amp;B</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33B"/>
                    </a:solidFill>
                  </a:tcPr>
                </a:tc>
                <a:tc>
                  <a:txBody>
                    <a:bodyPr/>
                    <a:lstStyle/>
                    <a:p>
                      <a:pPr algn="ctr" indent="0" marL="0">
                        <a:buNone/>
                      </a:pPr>
                      <a:r>
                        <a:rPr lang="en-US" sz="1200" dirty="0">
                          <a:solidFill>
                            <a:srgbClr val="F1F5F9"/>
                          </a:solidFill>
                          <a:latin typeface="Calibri" pitchFamily="34" charset="0"/>
                          <a:ea typeface="Calibri" pitchFamily="34" charset="-122"/>
                          <a:cs typeface="Calibri" pitchFamily="34" charset="-120"/>
                        </a:rPr>
                        <a:t>O(2ⁿ) worst case</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33B"/>
                    </a:solidFill>
                  </a:tcPr>
                </a:tc>
                <a:tc>
                  <a:txBody>
                    <a:bodyPr/>
                    <a:lstStyle/>
                    <a:p>
                      <a:pPr algn="ctr" indent="0" marL="0">
                        <a:buNone/>
                      </a:pPr>
                      <a:r>
                        <a:rPr lang="en-US" sz="1200" dirty="0">
                          <a:solidFill>
                            <a:srgbClr val="F1F5F9"/>
                          </a:solidFill>
                          <a:latin typeface="Calibri" pitchFamily="34" charset="0"/>
                          <a:ea typeface="Calibri" pitchFamily="34" charset="-122"/>
                          <a:cs typeface="Calibri" pitchFamily="34" charset="-120"/>
                        </a:rPr>
                        <a:t>O(n)</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33B"/>
                    </a:solidFill>
                  </a:tcPr>
                </a:tc>
                <a:tc>
                  <a:txBody>
                    <a:bodyPr/>
                    <a:lstStyle/>
                    <a:p>
                      <a:pPr algn="ctr" indent="0" marL="0">
                        <a:buNone/>
                      </a:pPr>
                      <a:r>
                        <a:rPr lang="en-US" sz="1200" dirty="0">
                          <a:solidFill>
                            <a:srgbClr val="F1F5F9"/>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33B"/>
                    </a:solidFill>
                  </a:tcPr>
                </a:tc>
                <a:tc>
                  <a:txBody>
                    <a:bodyPr/>
                    <a:lstStyle/>
                    <a:p>
                      <a:pPr algn="ctr" indent="0" marL="0">
                        <a:buNone/>
                      </a:pPr>
                      <a:r>
                        <a:rPr lang="en-US" sz="1200" dirty="0">
                          <a:solidFill>
                            <a:srgbClr val="F1F5F9"/>
                          </a:solidFill>
                          <a:latin typeface="Calibri" pitchFamily="34" charset="0"/>
                          <a:ea typeface="Calibri" pitchFamily="34" charset="-122"/>
                          <a:cs typeface="Calibri" pitchFamily="34" charset="-120"/>
                        </a:rPr>
                        <a:t>Good bounds prune a lot</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33B"/>
                    </a:solidFill>
                  </a:tcPr>
                </a:tc>
              </a:tr>
            </a:tbl>
          </a:graphicData>
        </a:graphic>
      </p:graphicFrame>
      <p:sp>
        <p:nvSpPr>
          <p:cNvPr id="6" name="Shape 3"/>
          <p:cNvSpPr/>
          <p:nvPr/>
        </p:nvSpPr>
        <p:spPr>
          <a:xfrm>
            <a:off x="365760" y="3703320"/>
            <a:ext cx="4114800" cy="1097280"/>
          </a:xfrm>
          <a:prstGeom prst="roundRect">
            <a:avLst>
              <a:gd name="adj" fmla="val 8333"/>
            </a:avLst>
          </a:prstGeom>
          <a:solidFill>
            <a:srgbClr val="15233B"/>
          </a:solidFill>
          <a:ln w="12700">
            <a:solidFill>
              <a:srgbClr val="FBBF24"/>
            </a:solidFill>
            <a:prstDash val="solid"/>
          </a:ln>
        </p:spPr>
      </p:sp>
      <p:sp>
        <p:nvSpPr>
          <p:cNvPr id="7" name="Text 4"/>
          <p:cNvSpPr/>
          <p:nvPr/>
        </p:nvSpPr>
        <p:spPr>
          <a:xfrm>
            <a:off x="502920" y="3749040"/>
            <a:ext cx="3840480" cy="1005840"/>
          </a:xfrm>
          <a:prstGeom prst="rect">
            <a:avLst/>
          </a:prstGeom>
          <a:noFill/>
          <a:ln/>
        </p:spPr>
        <p:txBody>
          <a:bodyPr wrap="square" lIns="0" tIns="0" rIns="0" bIns="0" rtlCol="0" anchor="ctr"/>
          <a:lstStyle/>
          <a:p>
            <a:pPr indent="0" marL="0">
              <a:buNone/>
            </a:pPr>
            <a:r>
              <a:rPr lang="en-US" sz="1150" b="1" dirty="0">
                <a:solidFill>
                  <a:srgbClr val="FBBF24"/>
                </a:solidFill>
                <a:latin typeface="Calibri" pitchFamily="34" charset="0"/>
                <a:ea typeface="Calibri" pitchFamily="34" charset="-122"/>
                <a:cs typeface="Calibri" pitchFamily="34" charset="-120"/>
              </a:rPr>
              <a:t>Pseudo-polynomial: </a:t>
            </a:r>
            <a:pPr indent="0" marL="0">
              <a:buNone/>
            </a:pPr>
            <a:r>
              <a:rPr lang="en-US" sz="1150" dirty="0">
                <a:solidFill>
                  <a:srgbClr val="F1F5F9"/>
                </a:solidFill>
                <a:latin typeface="Calibri" pitchFamily="34" charset="0"/>
                <a:ea typeface="Calibri" pitchFamily="34" charset="-122"/>
                <a:cs typeface="Calibri" pitchFamily="34" charset="-120"/>
              </a:rPr>
              <a:t>O(nW) grows with the value of W, not the number of bits needed to write W. Doubling the bits squares W, so it is not polynomial in input size.</a:t>
            </a:r>
            <a:endParaRPr lang="en-US" sz="1150" dirty="0"/>
          </a:p>
        </p:txBody>
      </p:sp>
      <p:sp>
        <p:nvSpPr>
          <p:cNvPr id="8" name="Shape 5"/>
          <p:cNvSpPr/>
          <p:nvPr/>
        </p:nvSpPr>
        <p:spPr>
          <a:xfrm>
            <a:off x="4663440" y="3703320"/>
            <a:ext cx="4114800" cy="1097280"/>
          </a:xfrm>
          <a:prstGeom prst="roundRect">
            <a:avLst>
              <a:gd name="adj" fmla="val 8333"/>
            </a:avLst>
          </a:prstGeom>
          <a:solidFill>
            <a:srgbClr val="15233B"/>
          </a:solidFill>
          <a:ln w="12700">
            <a:solidFill>
              <a:srgbClr val="2DD4BF"/>
            </a:solidFill>
            <a:prstDash val="solid"/>
          </a:ln>
        </p:spPr>
      </p:sp>
      <p:sp>
        <p:nvSpPr>
          <p:cNvPr id="9" name="Text 6"/>
          <p:cNvSpPr/>
          <p:nvPr/>
        </p:nvSpPr>
        <p:spPr>
          <a:xfrm>
            <a:off x="4800600" y="3749040"/>
            <a:ext cx="3840480" cy="1005840"/>
          </a:xfrm>
          <a:prstGeom prst="rect">
            <a:avLst/>
          </a:prstGeom>
          <a:noFill/>
          <a:ln/>
        </p:spPr>
        <p:txBody>
          <a:bodyPr wrap="square" lIns="0" tIns="0" rIns="0" bIns="0" rtlCol="0" anchor="ctr"/>
          <a:lstStyle/>
          <a:p>
            <a:pPr indent="0" marL="0">
              <a:buNone/>
            </a:pPr>
            <a:r>
              <a:rPr lang="en-US" sz="1150" b="1" dirty="0">
                <a:solidFill>
                  <a:srgbClr val="2DD4BF"/>
                </a:solidFill>
                <a:latin typeface="Calibri" pitchFamily="34" charset="0"/>
                <a:ea typeface="Calibri" pitchFamily="34" charset="-122"/>
                <a:cs typeface="Calibri" pitchFamily="34" charset="-120"/>
              </a:rPr>
              <a:t>1D DP loop order: </a:t>
            </a:r>
            <a:pPr indent="0" marL="0">
              <a:buNone/>
            </a:pPr>
            <a:r>
              <a:rPr lang="en-US" sz="1150" dirty="0">
                <a:solidFill>
                  <a:srgbClr val="F1F5F9"/>
                </a:solidFill>
                <a:latin typeface="Calibri" pitchFamily="34" charset="0"/>
                <a:ea typeface="Calibri" pitchFamily="34" charset="-122"/>
                <a:cs typeface="Calibri" pitchFamily="34" charset="-120"/>
              </a:rPr>
              <a:t>0/1 uses w from W down to wt[i] (each item once). Unbounded uses w upward (reuse). Greedy by v/w is optimal only for fractional. Sorting costs O(n log n); picking after is O(n).</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7315200" y="45720"/>
            <a:ext cx="1554480" cy="1005840"/>
          </a:xfrm>
          <a:prstGeom prst="rect">
            <a:avLst/>
          </a:prstGeom>
          <a:noFill/>
          <a:ln/>
        </p:spPr>
        <p:txBody>
          <a:bodyPr wrap="square" lIns="0" tIns="0" rIns="0" bIns="0" rtlCol="0" anchor="ctr"/>
          <a:lstStyle/>
          <a:p>
            <a:pPr algn="r" indent="0" marL="0">
              <a:buNone/>
            </a:pPr>
            <a:r>
              <a:rPr lang="en-US" sz="6600" b="1" dirty="0">
                <a:solidFill>
                  <a:srgbClr val="16233D"/>
                </a:solidFill>
                <a:latin typeface="Cambria" pitchFamily="34" charset="0"/>
                <a:ea typeface="Cambria" pitchFamily="34" charset="-122"/>
                <a:cs typeface="Cambria" pitchFamily="34" charset="-120"/>
              </a:rPr>
              <a:t>10</a:t>
            </a:r>
            <a:endParaRPr lang="en-US" sz="6600" dirty="0"/>
          </a:p>
        </p:txBody>
      </p:sp>
      <p:sp>
        <p:nvSpPr>
          <p:cNvPr id="3" name="Text 1"/>
          <p:cNvSpPr/>
          <p:nvPr/>
        </p:nvSpPr>
        <p:spPr>
          <a:xfrm>
            <a:off x="365760" y="228600"/>
            <a:ext cx="5486400" cy="228600"/>
          </a:xfrm>
          <a:prstGeom prst="rect">
            <a:avLst/>
          </a:prstGeom>
          <a:noFill/>
          <a:ln/>
        </p:spPr>
        <p:txBody>
          <a:bodyPr wrap="square" lIns="0" tIns="0" rIns="0" bIns="0" rtlCol="0" anchor="ctr"/>
          <a:lstStyle/>
          <a:p>
            <a:pPr indent="0" marL="0">
              <a:buNone/>
            </a:pPr>
            <a:r>
              <a:rPr lang="en-US" sz="1200" b="1" spc="400" kern="0" dirty="0">
                <a:solidFill>
                  <a:srgbClr val="2DD4BF"/>
                </a:solidFill>
                <a:latin typeface="Calibri" pitchFamily="34" charset="0"/>
                <a:ea typeface="Calibri" pitchFamily="34" charset="-122"/>
                <a:cs typeface="Calibri" pitchFamily="34" charset="-120"/>
              </a:rPr>
              <a:t>THE BIG PICTURE</a:t>
            </a:r>
            <a:endParaRPr lang="en-US" sz="1200" dirty="0"/>
          </a:p>
        </p:txBody>
      </p:sp>
      <p:sp>
        <p:nvSpPr>
          <p:cNvPr id="4" name="Text 2"/>
          <p:cNvSpPr/>
          <p:nvPr/>
        </p:nvSpPr>
        <p:spPr>
          <a:xfrm>
            <a:off x="365760" y="457200"/>
            <a:ext cx="7498080" cy="594360"/>
          </a:xfrm>
          <a:prstGeom prst="rect">
            <a:avLst/>
          </a:prstGeom>
          <a:noFill/>
          <a:ln/>
        </p:spPr>
        <p:txBody>
          <a:bodyPr wrap="square" lIns="0" tIns="0" rIns="0" bIns="0" rtlCol="0" anchor="ctr"/>
          <a:lstStyle/>
          <a:p>
            <a:pPr indent="0" marL="0">
              <a:buNone/>
            </a:pPr>
            <a:r>
              <a:rPr lang="en-US" sz="2800" b="1" dirty="0">
                <a:solidFill>
                  <a:srgbClr val="F1F5F9"/>
                </a:solidFill>
                <a:latin typeface="Cambria" pitchFamily="34" charset="0"/>
                <a:ea typeface="Cambria" pitchFamily="34" charset="-122"/>
                <a:cs typeface="Cambria" pitchFamily="34" charset="-120"/>
              </a:rPr>
              <a:t>Applications, Advantages, Limitations</a:t>
            </a:r>
            <a:endParaRPr lang="en-US" sz="2800" dirty="0"/>
          </a:p>
        </p:txBody>
      </p:sp>
      <p:sp>
        <p:nvSpPr>
          <p:cNvPr id="5" name="Shape 3"/>
          <p:cNvSpPr/>
          <p:nvPr/>
        </p:nvSpPr>
        <p:spPr>
          <a:xfrm>
            <a:off x="365760" y="1188720"/>
            <a:ext cx="2697480" cy="3566160"/>
          </a:xfrm>
          <a:prstGeom prst="roundRect">
            <a:avLst>
              <a:gd name="adj" fmla="val 3390"/>
            </a:avLst>
          </a:prstGeom>
          <a:solidFill>
            <a:srgbClr val="15233B"/>
          </a:solidFill>
          <a:ln w="12700">
            <a:solidFill>
              <a:srgbClr val="2DD4BF"/>
            </a:solidFill>
            <a:prstDash val="solid"/>
          </a:ln>
        </p:spPr>
      </p:sp>
      <p:sp>
        <p:nvSpPr>
          <p:cNvPr id="6" name="Text 4"/>
          <p:cNvSpPr/>
          <p:nvPr/>
        </p:nvSpPr>
        <p:spPr>
          <a:xfrm>
            <a:off x="502920" y="1261872"/>
            <a:ext cx="2423160" cy="320040"/>
          </a:xfrm>
          <a:prstGeom prst="rect">
            <a:avLst/>
          </a:prstGeom>
          <a:noFill/>
          <a:ln/>
        </p:spPr>
        <p:txBody>
          <a:bodyPr wrap="square" lIns="0" tIns="0" rIns="0" bIns="0" rtlCol="0" anchor="t"/>
          <a:lstStyle/>
          <a:p>
            <a:pPr indent="0" marL="0">
              <a:buNone/>
            </a:pPr>
            <a:r>
              <a:rPr lang="en-US" sz="1700" b="1" dirty="0">
                <a:solidFill>
                  <a:srgbClr val="2DD4BF"/>
                </a:solidFill>
                <a:latin typeface="Calibri" pitchFamily="34" charset="0"/>
                <a:ea typeface="Calibri" pitchFamily="34" charset="-122"/>
                <a:cs typeface="Calibri" pitchFamily="34" charset="-120"/>
              </a:rPr>
              <a:t>Applications</a:t>
            </a:r>
            <a:endParaRPr lang="en-US" sz="1700" dirty="0"/>
          </a:p>
        </p:txBody>
      </p:sp>
      <p:sp>
        <p:nvSpPr>
          <p:cNvPr id="7" name="Text 5"/>
          <p:cNvSpPr/>
          <p:nvPr/>
        </p:nvSpPr>
        <p:spPr>
          <a:xfrm>
            <a:off x="502920" y="1691640"/>
            <a:ext cx="2423160" cy="297180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F1F5F9"/>
                </a:solidFill>
                <a:latin typeface="Calibri" pitchFamily="34" charset="0"/>
                <a:ea typeface="Calibri" pitchFamily="34" charset="-122"/>
                <a:cs typeface="Calibri" pitchFamily="34" charset="-120"/>
              </a:rPr>
              <a:t>Cargo and weight-limited transport</a:t>
            </a:r>
            <a:endParaRPr lang="en-US" sz="1250" dirty="0"/>
          </a:p>
          <a:p>
            <a:pPr marL="342900" indent="-342900">
              <a:spcAft>
                <a:spcPts val="600"/>
              </a:spcAft>
              <a:buSzPct val="100000"/>
              <a:buChar char="•"/>
            </a:pPr>
            <a:r>
              <a:rPr lang="en-US" sz="1250" dirty="0">
                <a:solidFill>
                  <a:srgbClr val="F1F5F9"/>
                </a:solidFill>
                <a:latin typeface="Calibri" pitchFamily="34" charset="0"/>
                <a:ea typeface="Calibri" pitchFamily="34" charset="-122"/>
                <a:cs typeface="Calibri" pitchFamily="34" charset="-120"/>
              </a:rPr>
              <a:t>Budget allocation</a:t>
            </a:r>
            <a:endParaRPr lang="en-US" sz="1250" dirty="0"/>
          </a:p>
          <a:p>
            <a:pPr marL="342900" indent="-342900">
              <a:spcAft>
                <a:spcPts val="600"/>
              </a:spcAft>
              <a:buSzPct val="100000"/>
              <a:buChar char="•"/>
            </a:pPr>
            <a:r>
              <a:rPr lang="en-US" sz="1250" dirty="0">
                <a:solidFill>
                  <a:srgbClr val="F1F5F9"/>
                </a:solidFill>
                <a:latin typeface="Calibri" pitchFamily="34" charset="0"/>
                <a:ea typeface="Calibri" pitchFamily="34" charset="-122"/>
                <a:cs typeface="Calibri" pitchFamily="34" charset="-120"/>
              </a:rPr>
              <a:t>Resource allocation</a:t>
            </a:r>
            <a:endParaRPr lang="en-US" sz="1250" dirty="0"/>
          </a:p>
          <a:p>
            <a:pPr marL="342900" indent="-342900">
              <a:spcAft>
                <a:spcPts val="600"/>
              </a:spcAft>
              <a:buSzPct val="100000"/>
              <a:buChar char="•"/>
            </a:pPr>
            <a:r>
              <a:rPr lang="en-US" sz="1250" dirty="0">
                <a:solidFill>
                  <a:srgbClr val="F1F5F9"/>
                </a:solidFill>
                <a:latin typeface="Calibri" pitchFamily="34" charset="0"/>
                <a:ea typeface="Calibri" pitchFamily="34" charset="-122"/>
                <a:cs typeface="Calibri" pitchFamily="34" charset="-120"/>
              </a:rPr>
              <a:t>Project selection</a:t>
            </a:r>
            <a:endParaRPr lang="en-US" sz="1250" dirty="0"/>
          </a:p>
          <a:p>
            <a:pPr marL="342900" indent="-342900">
              <a:spcAft>
                <a:spcPts val="600"/>
              </a:spcAft>
              <a:buSzPct val="100000"/>
              <a:buChar char="•"/>
            </a:pPr>
            <a:r>
              <a:rPr lang="en-US" sz="1250" dirty="0">
                <a:solidFill>
                  <a:srgbClr val="F1F5F9"/>
                </a:solidFill>
                <a:latin typeface="Calibri" pitchFamily="34" charset="0"/>
                <a:ea typeface="Calibri" pitchFamily="34" charset="-122"/>
                <a:cs typeface="Calibri" pitchFamily="34" charset="-120"/>
              </a:rPr>
              <a:t>Investment selection</a:t>
            </a:r>
            <a:endParaRPr lang="en-US" sz="1250" dirty="0"/>
          </a:p>
          <a:p>
            <a:pPr marL="342900" indent="-342900">
              <a:spcAft>
                <a:spcPts val="600"/>
              </a:spcAft>
              <a:buSzPct val="100000"/>
              <a:buChar char="•"/>
            </a:pPr>
            <a:r>
              <a:rPr lang="en-US" sz="1250" dirty="0">
                <a:solidFill>
                  <a:srgbClr val="F1F5F9"/>
                </a:solidFill>
                <a:latin typeface="Calibri" pitchFamily="34" charset="0"/>
                <a:ea typeface="Calibri" pitchFamily="34" charset="-122"/>
                <a:cs typeface="Calibri" pitchFamily="34" charset="-120"/>
              </a:rPr>
              <a:t>Files that fit in storage</a:t>
            </a:r>
            <a:endParaRPr lang="en-US" sz="1250" dirty="0"/>
          </a:p>
          <a:p>
            <a:pPr marL="342900" indent="-342900">
              <a:spcAft>
                <a:spcPts val="600"/>
              </a:spcAft>
              <a:buSzPct val="100000"/>
              <a:buChar char="•"/>
            </a:pPr>
            <a:r>
              <a:rPr lang="en-US" sz="1250" dirty="0">
                <a:solidFill>
                  <a:srgbClr val="F1F5F9"/>
                </a:solidFill>
                <a:latin typeface="Calibri" pitchFamily="34" charset="0"/>
                <a:ea typeface="Calibri" pitchFamily="34" charset="-122"/>
                <a:cs typeface="Calibri" pitchFamily="34" charset="-120"/>
              </a:rPr>
              <a:t>Scheduling, capacity planning</a:t>
            </a:r>
            <a:endParaRPr lang="en-US" sz="1250" dirty="0"/>
          </a:p>
        </p:txBody>
      </p:sp>
      <p:sp>
        <p:nvSpPr>
          <p:cNvPr id="8" name="Shape 6"/>
          <p:cNvSpPr/>
          <p:nvPr/>
        </p:nvSpPr>
        <p:spPr>
          <a:xfrm>
            <a:off x="3200400" y="1188720"/>
            <a:ext cx="2697480" cy="3566160"/>
          </a:xfrm>
          <a:prstGeom prst="roundRect">
            <a:avLst>
              <a:gd name="adj" fmla="val 3390"/>
            </a:avLst>
          </a:prstGeom>
          <a:solidFill>
            <a:srgbClr val="15233B"/>
          </a:solidFill>
          <a:ln w="12700">
            <a:solidFill>
              <a:srgbClr val="4ADE80"/>
            </a:solidFill>
            <a:prstDash val="solid"/>
          </a:ln>
        </p:spPr>
      </p:sp>
      <p:sp>
        <p:nvSpPr>
          <p:cNvPr id="9" name="Text 7"/>
          <p:cNvSpPr/>
          <p:nvPr/>
        </p:nvSpPr>
        <p:spPr>
          <a:xfrm>
            <a:off x="3337560" y="1261872"/>
            <a:ext cx="2423160" cy="320040"/>
          </a:xfrm>
          <a:prstGeom prst="rect">
            <a:avLst/>
          </a:prstGeom>
          <a:noFill/>
          <a:ln/>
        </p:spPr>
        <p:txBody>
          <a:bodyPr wrap="square" lIns="0" tIns="0" rIns="0" bIns="0" rtlCol="0" anchor="t"/>
          <a:lstStyle/>
          <a:p>
            <a:pPr indent="0" marL="0">
              <a:buNone/>
            </a:pPr>
            <a:r>
              <a:rPr lang="en-US" sz="1700" b="1" dirty="0">
                <a:solidFill>
                  <a:srgbClr val="4ADE80"/>
                </a:solidFill>
                <a:latin typeface="Calibri" pitchFamily="34" charset="0"/>
                <a:ea typeface="Calibri" pitchFamily="34" charset="-122"/>
                <a:cs typeface="Calibri" pitchFamily="34" charset="-120"/>
              </a:rPr>
              <a:t>Advantages</a:t>
            </a:r>
            <a:endParaRPr lang="en-US" sz="1700" dirty="0"/>
          </a:p>
        </p:txBody>
      </p:sp>
      <p:sp>
        <p:nvSpPr>
          <p:cNvPr id="10" name="Text 8"/>
          <p:cNvSpPr/>
          <p:nvPr/>
        </p:nvSpPr>
        <p:spPr>
          <a:xfrm>
            <a:off x="3337560" y="1691640"/>
            <a:ext cx="2423160" cy="297180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F1F5F9"/>
                </a:solidFill>
                <a:latin typeface="Calibri" pitchFamily="34" charset="0"/>
                <a:ea typeface="Calibri" pitchFamily="34" charset="-122"/>
                <a:cs typeface="Calibri" pitchFamily="34" charset="-120"/>
              </a:rPr>
              <a:t>Framework for constrained optimization</a:t>
            </a:r>
            <a:endParaRPr lang="en-US" sz="1250" dirty="0"/>
          </a:p>
          <a:p>
            <a:pPr marL="342900" indent="-342900">
              <a:spcAft>
                <a:spcPts val="600"/>
              </a:spcAft>
              <a:buSzPct val="100000"/>
              <a:buChar char="•"/>
            </a:pPr>
            <a:r>
              <a:rPr lang="en-US" sz="1250" dirty="0">
                <a:solidFill>
                  <a:srgbClr val="F1F5F9"/>
                </a:solidFill>
                <a:latin typeface="Calibri" pitchFamily="34" charset="0"/>
                <a:ea typeface="Calibri" pitchFamily="34" charset="-122"/>
                <a:cs typeface="Calibri" pitchFamily="34" charset="-120"/>
              </a:rPr>
              <a:t>Different algorithms for different types</a:t>
            </a:r>
            <a:endParaRPr lang="en-US" sz="1250" dirty="0"/>
          </a:p>
          <a:p>
            <a:pPr marL="342900" indent="-342900">
              <a:spcAft>
                <a:spcPts val="600"/>
              </a:spcAft>
              <a:buSzPct val="100000"/>
              <a:buChar char="•"/>
            </a:pPr>
            <a:r>
              <a:rPr lang="en-US" sz="1250" dirty="0">
                <a:solidFill>
                  <a:srgbClr val="F1F5F9"/>
                </a:solidFill>
                <a:latin typeface="Calibri" pitchFamily="34" charset="0"/>
                <a:ea typeface="Calibri" pitchFamily="34" charset="-122"/>
                <a:cs typeface="Calibri" pitchFamily="34" charset="-120"/>
              </a:rPr>
              <a:t>DP gives exact answers when W is manageable</a:t>
            </a:r>
            <a:endParaRPr lang="en-US" sz="1250" dirty="0"/>
          </a:p>
          <a:p>
            <a:pPr marL="342900" indent="-342900">
              <a:spcAft>
                <a:spcPts val="600"/>
              </a:spcAft>
              <a:buSzPct val="100000"/>
              <a:buChar char="•"/>
            </a:pPr>
            <a:r>
              <a:rPr lang="en-US" sz="1250" dirty="0">
                <a:solidFill>
                  <a:srgbClr val="F1F5F9"/>
                </a:solidFill>
                <a:latin typeface="Calibri" pitchFamily="34" charset="0"/>
                <a:ea typeface="Calibri" pitchFamily="34" charset="-122"/>
                <a:cs typeface="Calibri" pitchFamily="34" charset="-120"/>
              </a:rPr>
              <a:t>Greedy is fast and optimal for fractional</a:t>
            </a:r>
            <a:endParaRPr lang="en-US" sz="1250" dirty="0"/>
          </a:p>
        </p:txBody>
      </p:sp>
      <p:sp>
        <p:nvSpPr>
          <p:cNvPr id="11" name="Shape 9"/>
          <p:cNvSpPr/>
          <p:nvPr/>
        </p:nvSpPr>
        <p:spPr>
          <a:xfrm>
            <a:off x="6035040" y="1188720"/>
            <a:ext cx="2697480" cy="3566160"/>
          </a:xfrm>
          <a:prstGeom prst="roundRect">
            <a:avLst>
              <a:gd name="adj" fmla="val 3390"/>
            </a:avLst>
          </a:prstGeom>
          <a:solidFill>
            <a:srgbClr val="15233B"/>
          </a:solidFill>
          <a:ln w="12700">
            <a:solidFill>
              <a:srgbClr val="FB7185"/>
            </a:solidFill>
            <a:prstDash val="solid"/>
          </a:ln>
        </p:spPr>
      </p:sp>
      <p:sp>
        <p:nvSpPr>
          <p:cNvPr id="12" name="Text 10"/>
          <p:cNvSpPr/>
          <p:nvPr/>
        </p:nvSpPr>
        <p:spPr>
          <a:xfrm>
            <a:off x="6172200" y="1261872"/>
            <a:ext cx="2423160" cy="320040"/>
          </a:xfrm>
          <a:prstGeom prst="rect">
            <a:avLst/>
          </a:prstGeom>
          <a:noFill/>
          <a:ln/>
        </p:spPr>
        <p:txBody>
          <a:bodyPr wrap="square" lIns="0" tIns="0" rIns="0" bIns="0" rtlCol="0" anchor="t"/>
          <a:lstStyle/>
          <a:p>
            <a:pPr indent="0" marL="0">
              <a:buNone/>
            </a:pPr>
            <a:r>
              <a:rPr lang="en-US" sz="1700" b="1" dirty="0">
                <a:solidFill>
                  <a:srgbClr val="FB7185"/>
                </a:solidFill>
                <a:latin typeface="Calibri" pitchFamily="34" charset="0"/>
                <a:ea typeface="Calibri" pitchFamily="34" charset="-122"/>
                <a:cs typeface="Calibri" pitchFamily="34" charset="-120"/>
              </a:rPr>
              <a:t>Limitations</a:t>
            </a:r>
            <a:endParaRPr lang="en-US" sz="1700" dirty="0"/>
          </a:p>
        </p:txBody>
      </p:sp>
      <p:sp>
        <p:nvSpPr>
          <p:cNvPr id="13" name="Text 11"/>
          <p:cNvSpPr/>
          <p:nvPr/>
        </p:nvSpPr>
        <p:spPr>
          <a:xfrm>
            <a:off x="6172200" y="1691640"/>
            <a:ext cx="2423160" cy="297180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F1F5F9"/>
                </a:solidFill>
                <a:latin typeface="Calibri" pitchFamily="34" charset="0"/>
                <a:ea typeface="Calibri" pitchFamily="34" charset="-122"/>
                <a:cs typeface="Calibri" pitchFamily="34" charset="-120"/>
              </a:rPr>
              <a:t>0/1 knapsack is NP-hard</a:t>
            </a:r>
            <a:endParaRPr lang="en-US" sz="1250" dirty="0"/>
          </a:p>
          <a:p>
            <a:pPr marL="342900" indent="-342900">
              <a:spcAft>
                <a:spcPts val="600"/>
              </a:spcAft>
              <a:buSzPct val="100000"/>
              <a:buChar char="•"/>
            </a:pPr>
            <a:r>
              <a:rPr lang="en-US" sz="1250" dirty="0">
                <a:solidFill>
                  <a:srgbClr val="F1F5F9"/>
                </a:solidFill>
                <a:latin typeface="Calibri" pitchFamily="34" charset="0"/>
                <a:ea typeface="Calibri" pitchFamily="34" charset="-122"/>
                <a:cs typeface="Calibri" pitchFamily="34" charset="-120"/>
              </a:rPr>
              <a:t>Brute force explodes as n grows</a:t>
            </a:r>
            <a:endParaRPr lang="en-US" sz="1250" dirty="0"/>
          </a:p>
          <a:p>
            <a:pPr marL="342900" indent="-342900">
              <a:spcAft>
                <a:spcPts val="600"/>
              </a:spcAft>
              <a:buSzPct val="100000"/>
              <a:buChar char="•"/>
            </a:pPr>
            <a:r>
              <a:rPr lang="en-US" sz="1250" dirty="0">
                <a:solidFill>
                  <a:srgbClr val="F1F5F9"/>
                </a:solidFill>
                <a:latin typeface="Calibri" pitchFamily="34" charset="0"/>
                <a:ea typeface="Calibri" pitchFamily="34" charset="-122"/>
                <a:cs typeface="Calibri" pitchFamily="34" charset="-120"/>
              </a:rPr>
              <a:t>DP needs lots of time and memory for large W</a:t>
            </a:r>
            <a:endParaRPr lang="en-US" sz="1250" dirty="0"/>
          </a:p>
          <a:p>
            <a:pPr marL="342900" indent="-342900">
              <a:spcAft>
                <a:spcPts val="600"/>
              </a:spcAft>
              <a:buSzPct val="100000"/>
              <a:buChar char="•"/>
            </a:pPr>
            <a:r>
              <a:rPr lang="en-US" sz="1250" dirty="0">
                <a:solidFill>
                  <a:srgbClr val="F1F5F9"/>
                </a:solidFill>
                <a:latin typeface="Calibri" pitchFamily="34" charset="0"/>
                <a:ea typeface="Calibri" pitchFamily="34" charset="-122"/>
                <a:cs typeface="Calibri" pitchFamily="34" charset="-120"/>
              </a:rPr>
              <a:t>Greedy can fail on 0/1</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7315200" y="45720"/>
            <a:ext cx="1554480" cy="1005840"/>
          </a:xfrm>
          <a:prstGeom prst="rect">
            <a:avLst/>
          </a:prstGeom>
          <a:noFill/>
          <a:ln/>
        </p:spPr>
        <p:txBody>
          <a:bodyPr wrap="square" lIns="0" tIns="0" rIns="0" bIns="0" rtlCol="0" anchor="ctr"/>
          <a:lstStyle/>
          <a:p>
            <a:pPr algn="r" indent="0" marL="0">
              <a:buNone/>
            </a:pPr>
            <a:r>
              <a:rPr lang="en-US" sz="6600" b="1" dirty="0">
                <a:solidFill>
                  <a:srgbClr val="16233D"/>
                </a:solidFill>
                <a:latin typeface="Cambria" pitchFamily="34" charset="0"/>
                <a:ea typeface="Cambria" pitchFamily="34" charset="-122"/>
                <a:cs typeface="Cambria" pitchFamily="34" charset="-120"/>
              </a:rPr>
              <a:t>11</a:t>
            </a:r>
            <a:endParaRPr lang="en-US" sz="6600" dirty="0"/>
          </a:p>
        </p:txBody>
      </p:sp>
      <p:sp>
        <p:nvSpPr>
          <p:cNvPr id="3" name="Text 1"/>
          <p:cNvSpPr/>
          <p:nvPr/>
        </p:nvSpPr>
        <p:spPr>
          <a:xfrm>
            <a:off x="365760" y="228600"/>
            <a:ext cx="5486400" cy="228600"/>
          </a:xfrm>
          <a:prstGeom prst="rect">
            <a:avLst/>
          </a:prstGeom>
          <a:noFill/>
          <a:ln/>
        </p:spPr>
        <p:txBody>
          <a:bodyPr wrap="square" lIns="0" tIns="0" rIns="0" bIns="0" rtlCol="0" anchor="ctr"/>
          <a:lstStyle/>
          <a:p>
            <a:pPr indent="0" marL="0">
              <a:buNone/>
            </a:pPr>
            <a:r>
              <a:rPr lang="en-US" sz="1200" b="1" spc="400" kern="0" dirty="0">
                <a:solidFill>
                  <a:srgbClr val="2DD4BF"/>
                </a:solidFill>
                <a:latin typeface="Calibri" pitchFamily="34" charset="0"/>
                <a:ea typeface="Calibri" pitchFamily="34" charset="-122"/>
                <a:cs typeface="Calibri" pitchFamily="34" charset="-120"/>
              </a:rPr>
              <a:t>SUMMARY</a:t>
            </a:r>
            <a:endParaRPr lang="en-US" sz="1200" dirty="0"/>
          </a:p>
        </p:txBody>
      </p:sp>
      <p:sp>
        <p:nvSpPr>
          <p:cNvPr id="4" name="Text 2"/>
          <p:cNvSpPr/>
          <p:nvPr/>
        </p:nvSpPr>
        <p:spPr>
          <a:xfrm>
            <a:off x="365760" y="457200"/>
            <a:ext cx="7498080" cy="594360"/>
          </a:xfrm>
          <a:prstGeom prst="rect">
            <a:avLst/>
          </a:prstGeom>
          <a:noFill/>
          <a:ln/>
        </p:spPr>
        <p:txBody>
          <a:bodyPr wrap="square" lIns="0" tIns="0" rIns="0" bIns="0" rtlCol="0" anchor="ctr"/>
          <a:lstStyle/>
          <a:p>
            <a:pPr indent="0" marL="0">
              <a:buNone/>
            </a:pPr>
            <a:r>
              <a:rPr lang="en-US" sz="2800" b="1" dirty="0">
                <a:solidFill>
                  <a:srgbClr val="F1F5F9"/>
                </a:solidFill>
                <a:latin typeface="Cambria" pitchFamily="34" charset="0"/>
                <a:ea typeface="Cambria" pitchFamily="34" charset="-122"/>
                <a:cs typeface="Cambria" pitchFamily="34" charset="-120"/>
              </a:rPr>
              <a:t>Remember the Three Types</a:t>
            </a:r>
            <a:endParaRPr lang="en-US" sz="28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754880" y="1188720"/>
          <a:ext cx="4023360" cy="914400"/>
        </p:xfrm>
        <a:graphic>
          <a:graphicData uri="http://schemas.openxmlformats.org/drawingml/2006/table">
            <a:tbl>
              <a:tblPr/>
              <a:tblGrid>
                <a:gridCol w="1097280"/>
                <a:gridCol w="1463040"/>
                <a:gridCol w="1463040"/>
              </a:tblGrid>
              <a:tr h="457200">
                <a:tc>
                  <a:txBody>
                    <a:bodyPr/>
                    <a:lstStyle/>
                    <a:p>
                      <a:pPr algn="ctr" indent="0" marL="0">
                        <a:buNone/>
                      </a:pPr>
                      <a:r>
                        <a:rPr lang="en-US" sz="1200" b="1" dirty="0">
                          <a:solidFill>
                            <a:srgbClr val="0B1220"/>
                          </a:solidFill>
                          <a:latin typeface="Calibri" pitchFamily="34" charset="0"/>
                          <a:ea typeface="Calibri" pitchFamily="34" charset="-122"/>
                          <a:cs typeface="Calibri" pitchFamily="34" charset="-120"/>
                        </a:rPr>
                        <a:t>Type</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2DD4BF"/>
                    </a:solidFill>
                  </a:tcPr>
                </a:tc>
                <a:tc>
                  <a:txBody>
                    <a:bodyPr/>
                    <a:lstStyle/>
                    <a:p>
                      <a:pPr algn="ctr" indent="0" marL="0">
                        <a:buNone/>
                      </a:pPr>
                      <a:r>
                        <a:rPr lang="en-US" sz="1200" b="1" dirty="0">
                          <a:solidFill>
                            <a:srgbClr val="0B1220"/>
                          </a:solidFill>
                          <a:latin typeface="Calibri" pitchFamily="34" charset="0"/>
                          <a:ea typeface="Calibri" pitchFamily="34" charset="-122"/>
                          <a:cs typeface="Calibri" pitchFamily="34" charset="-120"/>
                        </a:rPr>
                        <a:t>Items</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2DD4BF"/>
                    </a:solidFill>
                  </a:tcPr>
                </a:tc>
                <a:tc>
                  <a:txBody>
                    <a:bodyPr/>
                    <a:lstStyle/>
                    <a:p>
                      <a:pPr algn="ctr" indent="0" marL="0">
                        <a:buNone/>
                      </a:pPr>
                      <a:r>
                        <a:rPr lang="en-US" sz="1200" b="1" dirty="0">
                          <a:solidFill>
                            <a:srgbClr val="0B1220"/>
                          </a:solidFill>
                          <a:latin typeface="Calibri" pitchFamily="34" charset="0"/>
                          <a:ea typeface="Calibri" pitchFamily="34" charset="-122"/>
                          <a:cs typeface="Calibri" pitchFamily="34" charset="-120"/>
                        </a:rPr>
                        <a:t>Method</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2DD4BF"/>
                    </a:solidFill>
                  </a:tcPr>
                </a:tc>
              </a:tr>
              <a:tr h="457200">
                <a:tc>
                  <a:txBody>
                    <a:bodyPr/>
                    <a:lstStyle/>
                    <a:p>
                      <a:pPr algn="ctr" indent="0" marL="0">
                        <a:buNone/>
                      </a:pPr>
                      <a:r>
                        <a:rPr lang="en-US" sz="1200" b="1" dirty="0">
                          <a:solidFill>
                            <a:srgbClr val="2DD4BF"/>
                          </a:solidFill>
                          <a:latin typeface="Calibri" pitchFamily="34" charset="0"/>
                          <a:ea typeface="Calibri" pitchFamily="34" charset="-122"/>
                          <a:cs typeface="Calibri" pitchFamily="34" charset="-120"/>
                        </a:rPr>
                        <a:t>0/1</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33B"/>
                    </a:solidFill>
                  </a:tcPr>
                </a:tc>
                <a:tc>
                  <a:txBody>
                    <a:bodyPr/>
                    <a:lstStyle/>
                    <a:p>
                      <a:pPr algn="ctr" indent="0" marL="0">
                        <a:buNone/>
                      </a:pPr>
                      <a:r>
                        <a:rPr lang="en-US" sz="1200" dirty="0">
                          <a:solidFill>
                            <a:srgbClr val="F1F5F9"/>
                          </a:solidFill>
                          <a:latin typeface="Calibri" pitchFamily="34" charset="0"/>
                          <a:ea typeface="Calibri" pitchFamily="34" charset="-122"/>
                          <a:cs typeface="Calibri" pitchFamily="34" charset="-120"/>
                        </a:rPr>
                        <a:t>whole, once</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33B"/>
                    </a:solidFill>
                  </a:tcPr>
                </a:tc>
                <a:tc>
                  <a:txBody>
                    <a:bodyPr/>
                    <a:lstStyle/>
                    <a:p>
                      <a:pPr algn="ctr" indent="0" marL="0">
                        <a:buNone/>
                      </a:pPr>
                      <a:r>
                        <a:rPr lang="en-US" sz="1200" dirty="0">
                          <a:solidFill>
                            <a:srgbClr val="F1F5F9"/>
                          </a:solidFill>
                          <a:latin typeface="Calibri" pitchFamily="34" charset="0"/>
                          <a:ea typeface="Calibri" pitchFamily="34" charset="-122"/>
                          <a:cs typeface="Calibri" pitchFamily="34" charset="-120"/>
                        </a:rPr>
                        <a:t>DP</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33B"/>
                    </a:solidFill>
                  </a:tcPr>
                </a:tc>
              </a:tr>
              <a:tr h="457200">
                <a:tc>
                  <a:txBody>
                    <a:bodyPr/>
                    <a:lstStyle/>
                    <a:p>
                      <a:pPr algn="ctr" indent="0" marL="0">
                        <a:buNone/>
                      </a:pPr>
                      <a:r>
                        <a:rPr lang="en-US" sz="1200" b="1" dirty="0">
                          <a:solidFill>
                            <a:srgbClr val="FBBF24"/>
                          </a:solidFill>
                          <a:latin typeface="Calibri" pitchFamily="34" charset="0"/>
                          <a:ea typeface="Calibri" pitchFamily="34" charset="-122"/>
                          <a:cs typeface="Calibri" pitchFamily="34" charset="-120"/>
                        </a:rPr>
                        <a:t>Fractional</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33B"/>
                    </a:solidFill>
                  </a:tcPr>
                </a:tc>
                <a:tc>
                  <a:txBody>
                    <a:bodyPr/>
                    <a:lstStyle/>
                    <a:p>
                      <a:pPr algn="ctr" indent="0" marL="0">
                        <a:buNone/>
                      </a:pPr>
                      <a:r>
                        <a:rPr lang="en-US" sz="1200" dirty="0">
                          <a:solidFill>
                            <a:srgbClr val="F1F5F9"/>
                          </a:solidFill>
                          <a:latin typeface="Calibri" pitchFamily="34" charset="0"/>
                          <a:ea typeface="Calibri" pitchFamily="34" charset="-122"/>
                          <a:cs typeface="Calibri" pitchFamily="34" charset="-120"/>
                        </a:rPr>
                        <a:t>can be split</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33B"/>
                    </a:solidFill>
                  </a:tcPr>
                </a:tc>
                <a:tc>
                  <a:txBody>
                    <a:bodyPr/>
                    <a:lstStyle/>
                    <a:p>
                      <a:pPr algn="ctr" indent="0" marL="0">
                        <a:buNone/>
                      </a:pPr>
                      <a:r>
                        <a:rPr lang="en-US" sz="1200" dirty="0">
                          <a:solidFill>
                            <a:srgbClr val="F1F5F9"/>
                          </a:solidFill>
                          <a:latin typeface="Calibri" pitchFamily="34" charset="0"/>
                          <a:ea typeface="Calibri" pitchFamily="34" charset="-122"/>
                          <a:cs typeface="Calibri" pitchFamily="34" charset="-120"/>
                        </a:rPr>
                        <a:t>Greedy by v/w</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33B"/>
                    </a:solidFill>
                  </a:tcPr>
                </a:tc>
              </a:tr>
              <a:tr h="457200">
                <a:tc>
                  <a:txBody>
                    <a:bodyPr/>
                    <a:lstStyle/>
                    <a:p>
                      <a:pPr algn="ctr" indent="0" marL="0">
                        <a:buNone/>
                      </a:pPr>
                      <a:r>
                        <a:rPr lang="en-US" sz="1200" b="1" dirty="0">
                          <a:solidFill>
                            <a:srgbClr val="C084FC"/>
                          </a:solidFill>
                          <a:latin typeface="Calibri" pitchFamily="34" charset="0"/>
                          <a:ea typeface="Calibri" pitchFamily="34" charset="-122"/>
                          <a:cs typeface="Calibri" pitchFamily="34" charset="-120"/>
                        </a:rPr>
                        <a:t>Unbounded</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33B"/>
                    </a:solidFill>
                  </a:tcPr>
                </a:tc>
                <a:tc>
                  <a:txBody>
                    <a:bodyPr/>
                    <a:lstStyle/>
                    <a:p>
                      <a:pPr algn="ctr" indent="0" marL="0">
                        <a:buNone/>
                      </a:pPr>
                      <a:r>
                        <a:rPr lang="en-US" sz="1200" dirty="0">
                          <a:solidFill>
                            <a:srgbClr val="F1F5F9"/>
                          </a:solidFill>
                          <a:latin typeface="Calibri" pitchFamily="34" charset="0"/>
                          <a:ea typeface="Calibri" pitchFamily="34" charset="-122"/>
                          <a:cs typeface="Calibri" pitchFamily="34" charset="-120"/>
                        </a:rPr>
                        <a:t>whole, repeatable</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33B"/>
                    </a:solidFill>
                  </a:tcPr>
                </a:tc>
                <a:tc>
                  <a:txBody>
                    <a:bodyPr/>
                    <a:lstStyle/>
                    <a:p>
                      <a:pPr algn="ctr" indent="0" marL="0">
                        <a:buNone/>
                      </a:pPr>
                      <a:r>
                        <a:rPr lang="en-US" sz="1200" dirty="0">
                          <a:solidFill>
                            <a:srgbClr val="F1F5F9"/>
                          </a:solidFill>
                          <a:latin typeface="Calibri" pitchFamily="34" charset="0"/>
                          <a:ea typeface="Calibri" pitchFamily="34" charset="-122"/>
                          <a:cs typeface="Calibri" pitchFamily="34" charset="-120"/>
                        </a:rPr>
                        <a:t>DP, ascending loop</a:t>
                      </a:r>
                      <a:endParaRPr lang="en-US" sz="12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33B"/>
                    </a:solidFill>
                  </a:tcPr>
                </a:tc>
              </a:tr>
            </a:tbl>
          </a:graphicData>
        </a:graphic>
      </p:graphicFrame>
      <p:sp>
        <p:nvSpPr>
          <p:cNvPr id="6" name="Shape 3"/>
          <p:cNvSpPr/>
          <p:nvPr/>
        </p:nvSpPr>
        <p:spPr>
          <a:xfrm>
            <a:off x="365760" y="1188720"/>
            <a:ext cx="4206240" cy="2743200"/>
          </a:xfrm>
          <a:prstGeom prst="roundRect">
            <a:avLst>
              <a:gd name="adj" fmla="val 3333"/>
            </a:avLst>
          </a:prstGeom>
          <a:solidFill>
            <a:srgbClr val="15233B"/>
          </a:solidFill>
          <a:ln w="12700">
            <a:solidFill>
              <a:srgbClr val="24365A"/>
            </a:solidFill>
            <a:prstDash val="solid"/>
          </a:ln>
        </p:spPr>
      </p:sp>
      <p:sp>
        <p:nvSpPr>
          <p:cNvPr id="7" name="Text 4"/>
          <p:cNvSpPr/>
          <p:nvPr/>
        </p:nvSpPr>
        <p:spPr>
          <a:xfrm>
            <a:off x="502920" y="1280160"/>
            <a:ext cx="3931920" cy="25603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F1F5F9"/>
                </a:solidFill>
                <a:latin typeface="Calibri" pitchFamily="34" charset="0"/>
                <a:ea typeface="Calibri" pitchFamily="34" charset="-122"/>
                <a:cs typeface="Calibri" pitchFamily="34" charset="-120"/>
              </a:rPr>
              <a:t>Maximize total value within a capacity limit</a:t>
            </a:r>
            <a:endParaRPr lang="en-US" sz="1300" dirty="0"/>
          </a:p>
          <a:p>
            <a:pPr marL="342900" indent="-342900">
              <a:spcAft>
                <a:spcPts val="600"/>
              </a:spcAft>
              <a:buSzPct val="100000"/>
              <a:buChar char="•"/>
            </a:pPr>
            <a:r>
              <a:rPr lang="en-US" sz="1300" dirty="0">
                <a:solidFill>
                  <a:srgbClr val="F1F5F9"/>
                </a:solidFill>
                <a:latin typeface="Calibri" pitchFamily="34" charset="0"/>
                <a:ea typeface="Calibri" pitchFamily="34" charset="-122"/>
                <a:cs typeface="Calibri" pitchFamily="34" charset="-120"/>
              </a:rPr>
              <a:t>Three types: 0/1, Fractional, Unbounded</a:t>
            </a:r>
            <a:endParaRPr lang="en-US" sz="1300" dirty="0"/>
          </a:p>
          <a:p>
            <a:pPr marL="342900" indent="-342900">
              <a:spcAft>
                <a:spcPts val="600"/>
              </a:spcAft>
              <a:buSzPct val="100000"/>
              <a:buChar char="•"/>
            </a:pPr>
            <a:r>
              <a:rPr lang="en-US" sz="1300" dirty="0">
                <a:solidFill>
                  <a:srgbClr val="F1F5F9"/>
                </a:solidFill>
                <a:latin typeface="Calibri" pitchFamily="34" charset="0"/>
                <a:ea typeface="Calibri" pitchFamily="34" charset="-122"/>
                <a:cs typeface="Calibri" pitchFamily="34" charset="-120"/>
              </a:rPr>
              <a:t>Greedy is optimal for fractional</a:t>
            </a:r>
            <a:endParaRPr lang="en-US" sz="1300" dirty="0"/>
          </a:p>
          <a:p>
            <a:pPr marL="342900" indent="-342900">
              <a:spcAft>
                <a:spcPts val="600"/>
              </a:spcAft>
              <a:buSzPct val="100000"/>
              <a:buChar char="•"/>
            </a:pPr>
            <a:r>
              <a:rPr lang="en-US" sz="1300" dirty="0">
                <a:solidFill>
                  <a:srgbClr val="F1F5F9"/>
                </a:solidFill>
                <a:latin typeface="Calibri" pitchFamily="34" charset="0"/>
                <a:ea typeface="Calibri" pitchFamily="34" charset="-122"/>
                <a:cs typeface="Calibri" pitchFamily="34" charset="-120"/>
              </a:rPr>
              <a:t>DP is a standard exact method for 0/1 and unbounded</a:t>
            </a:r>
            <a:endParaRPr lang="en-US" sz="1300" dirty="0"/>
          </a:p>
          <a:p>
            <a:pPr marL="342900" indent="-342900">
              <a:spcAft>
                <a:spcPts val="600"/>
              </a:spcAft>
              <a:buSzPct val="100000"/>
              <a:buChar char="•"/>
            </a:pPr>
            <a:r>
              <a:rPr lang="en-US" sz="1300" dirty="0">
                <a:solidFill>
                  <a:srgbClr val="F1F5F9"/>
                </a:solidFill>
                <a:latin typeface="Calibri" pitchFamily="34" charset="0"/>
                <a:ea typeface="Calibri" pitchFamily="34" charset="-122"/>
                <a:cs typeface="Calibri" pitchFamily="34" charset="-120"/>
              </a:rPr>
              <a:t>Choose the algorithm by asking: can items be divided or reused?</a:t>
            </a:r>
            <a:endParaRPr lang="en-US" sz="1300" dirty="0"/>
          </a:p>
        </p:txBody>
      </p:sp>
      <p:sp>
        <p:nvSpPr>
          <p:cNvPr id="8" name="Shape 5"/>
          <p:cNvSpPr/>
          <p:nvPr/>
        </p:nvSpPr>
        <p:spPr>
          <a:xfrm>
            <a:off x="4754880" y="3200400"/>
            <a:ext cx="4023360" cy="731520"/>
          </a:xfrm>
          <a:prstGeom prst="roundRect">
            <a:avLst>
              <a:gd name="adj" fmla="val 12500"/>
            </a:avLst>
          </a:prstGeom>
          <a:solidFill>
            <a:srgbClr val="15233B"/>
          </a:solidFill>
          <a:ln w="12700">
            <a:solidFill>
              <a:srgbClr val="4ADE80"/>
            </a:solidFill>
            <a:prstDash val="solid"/>
          </a:ln>
        </p:spPr>
      </p:sp>
      <p:sp>
        <p:nvSpPr>
          <p:cNvPr id="9" name="Text 6"/>
          <p:cNvSpPr/>
          <p:nvPr/>
        </p:nvSpPr>
        <p:spPr>
          <a:xfrm>
            <a:off x="4754880" y="3200400"/>
            <a:ext cx="4023360" cy="731520"/>
          </a:xfrm>
          <a:prstGeom prst="rect">
            <a:avLst/>
          </a:prstGeom>
          <a:noFill/>
          <a:ln/>
        </p:spPr>
        <p:txBody>
          <a:bodyPr wrap="square" lIns="0" tIns="0" rIns="0" bIns="0" rtlCol="0" anchor="ctr"/>
          <a:lstStyle/>
          <a:p>
            <a:pPr algn="ctr" indent="0" marL="0">
              <a:buNone/>
            </a:pPr>
            <a:r>
              <a:rPr lang="en-US" sz="1400" b="1" dirty="0">
                <a:solidFill>
                  <a:srgbClr val="4ADE80"/>
                </a:solidFill>
                <a:latin typeface="Calibri" pitchFamily="34" charset="0"/>
                <a:ea typeface="Calibri" pitchFamily="34" charset="-122"/>
                <a:cs typeface="Calibri" pitchFamily="34" charset="-120"/>
              </a:rPr>
              <a:t>Worked answers: Fractional = 240, 0/1 DP = 37</a:t>
            </a:r>
            <a:endParaRPr lang="en-US" sz="1400" dirty="0"/>
          </a:p>
        </p:txBody>
      </p:sp>
      <p:sp>
        <p:nvSpPr>
          <p:cNvPr id="10" name="Shape 7"/>
          <p:cNvSpPr/>
          <p:nvPr/>
        </p:nvSpPr>
        <p:spPr>
          <a:xfrm>
            <a:off x="365760" y="4069080"/>
            <a:ext cx="8412480" cy="731520"/>
          </a:xfrm>
          <a:prstGeom prst="roundRect">
            <a:avLst>
              <a:gd name="adj" fmla="val 12500"/>
            </a:avLst>
          </a:prstGeom>
          <a:solidFill>
            <a:srgbClr val="2DD4BF"/>
          </a:solidFill>
          <a:ln w="12700">
            <a:solidFill>
              <a:srgbClr val="2DD4BF"/>
            </a:solidFill>
            <a:prstDash val="solid"/>
          </a:ln>
        </p:spPr>
      </p:sp>
      <p:sp>
        <p:nvSpPr>
          <p:cNvPr id="11" name="Text 8"/>
          <p:cNvSpPr/>
          <p:nvPr/>
        </p:nvSpPr>
        <p:spPr>
          <a:xfrm>
            <a:off x="365760" y="4069080"/>
            <a:ext cx="8412480" cy="731520"/>
          </a:xfrm>
          <a:prstGeom prst="rect">
            <a:avLst/>
          </a:prstGeom>
          <a:noFill/>
          <a:ln/>
        </p:spPr>
        <p:txBody>
          <a:bodyPr wrap="square" lIns="0" tIns="0" rIns="0" bIns="0" rtlCol="0" anchor="ctr"/>
          <a:lstStyle/>
          <a:p>
            <a:pPr algn="ctr" indent="0" marL="0">
              <a:buNone/>
            </a:pPr>
            <a:r>
              <a:rPr lang="en-US" sz="2800" b="1" dirty="0">
                <a:solidFill>
                  <a:srgbClr val="0B1220"/>
                </a:solidFill>
                <a:latin typeface="Cambria" pitchFamily="34" charset="0"/>
                <a:ea typeface="Cambria" pitchFamily="34" charset="-122"/>
                <a:cs typeface="Cambria" pitchFamily="34" charset="-120"/>
              </a:rPr>
              <a:t>Thank You!   Questions?</a:t>
            </a:r>
            <a:endParaRPr lang="en-US" sz="2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Knapsack Problem</dc:title>
  <dc:subject>PptxGenJS Presentation</dc:subject>
  <dc:creator>PptxGenJS</dc:creator>
  <cp:lastModifiedBy>PptxGenJS</cp:lastModifiedBy>
  <cp:revision>1</cp:revision>
  <dcterms:created xsi:type="dcterms:W3CDTF">2026-10-19T04:51:44Z</dcterms:created>
  <dcterms:modified xsi:type="dcterms:W3CDTF">2026-10-19T04:51:44Z</dcterms:modified>
</cp:coreProperties>
</file>